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1fcbaeb3c440e" /><Relationship Type="http://schemas.openxmlformats.org/officeDocument/2006/relationships/extended-properties" Target="/docProps/app.xml" Id="Rba4684403d8a4961" /><Relationship Type="http://schemas.openxmlformats.org/officeDocument/2006/relationships/officeDocument" Target="/ppt/presentation.xml" Id="Rdf44bec03e22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69f3a1c834f5f"/>
  </p:sldMasterIdLst>
  <p:notesMasterIdLst>
    <p:notesMasterId xmlns:r="http://schemas.openxmlformats.org/officeDocument/2006/relationships" r:id="R849e1c22ab644894"/>
  </p:notesMasterIdLst>
  <p:sldIdLst>
    <p:sldId xmlns:r="http://schemas.openxmlformats.org/officeDocument/2006/relationships" id="256" r:id="R00f23a23d655444f"/>
    <p:sldId xmlns:r="http://schemas.openxmlformats.org/officeDocument/2006/relationships" id="257" r:id="R2bbba12876904600"/>
    <p:sldId xmlns:r="http://schemas.openxmlformats.org/officeDocument/2006/relationships" id="258" r:id="R553ab992cf694b42"/>
    <p:sldId xmlns:r="http://schemas.openxmlformats.org/officeDocument/2006/relationships" id="259" r:id="R3e4a904b623d4fd9"/>
    <p:sldId xmlns:r="http://schemas.openxmlformats.org/officeDocument/2006/relationships" id="260" r:id="Rc4fac64bee4a4651"/>
    <p:sldId xmlns:r="http://schemas.openxmlformats.org/officeDocument/2006/relationships" id="261" r:id="R64386db94643403e"/>
    <p:sldId xmlns:r="http://schemas.openxmlformats.org/officeDocument/2006/relationships" id="262" r:id="R92f90a5a0e814234"/>
    <p:sldId xmlns:r="http://schemas.openxmlformats.org/officeDocument/2006/relationships" id="263" r:id="Rdeaa320dbbd34900"/>
    <p:sldId xmlns:r="http://schemas.openxmlformats.org/officeDocument/2006/relationships" id="264" r:id="Rde43877f099140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6d7221a924743" /><Relationship Type="http://schemas.openxmlformats.org/officeDocument/2006/relationships/slideMaster" Target="/ppt/slideMasters/slideMaster1.xml" Id="R76d69f3a1c834f5f" /><Relationship Type="http://schemas.openxmlformats.org/officeDocument/2006/relationships/notesMaster" Target="/ppt/notesMasters/notesMaster1.xml" Id="R849e1c22ab644894" /><Relationship Type="http://schemas.openxmlformats.org/officeDocument/2006/relationships/presProps" Target="/ppt/presProps.xml" Id="Rb5051c53b75d47bf" /><Relationship Type="http://schemas.openxmlformats.org/officeDocument/2006/relationships/tableStyles" Target="/ppt/tableStyles.xml" Id="Rda97f22adb0544c2" /><Relationship Type="http://schemas.openxmlformats.org/officeDocument/2006/relationships/slide" Target="/ppt/slides/slide1.xml" Id="R00f23a23d655444f" /><Relationship Type="http://schemas.openxmlformats.org/officeDocument/2006/relationships/slide" Target="/ppt/slides/slide2.xml" Id="R2bbba12876904600" /><Relationship Type="http://schemas.openxmlformats.org/officeDocument/2006/relationships/slide" Target="/ppt/slides/slide3.xml" Id="R553ab992cf694b42" /><Relationship Type="http://schemas.openxmlformats.org/officeDocument/2006/relationships/slide" Target="/ppt/slides/slide4.xml" Id="R3e4a904b623d4fd9" /><Relationship Type="http://schemas.openxmlformats.org/officeDocument/2006/relationships/slide" Target="/ppt/slides/slide5.xml" Id="Rc4fac64bee4a4651" /><Relationship Type="http://schemas.openxmlformats.org/officeDocument/2006/relationships/slide" Target="/ppt/slides/slide6.xml" Id="R64386db94643403e" /><Relationship Type="http://schemas.openxmlformats.org/officeDocument/2006/relationships/slide" Target="/ppt/slides/slide7.xml" Id="R92f90a5a0e814234" /><Relationship Type="http://schemas.openxmlformats.org/officeDocument/2006/relationships/slide" Target="/ppt/slides/slide8.xml" Id="Rdeaa320dbbd34900" /><Relationship Type="http://schemas.openxmlformats.org/officeDocument/2006/relationships/slide" Target="/ppt/slides/slide9.xml" Id="Rde43877f0991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52a6e075da49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fc08d41064bc0" /><Relationship Type="http://schemas.openxmlformats.org/officeDocument/2006/relationships/notesMaster" Target="/ppt/notesMasters/notesMaster1.xml" Id="Rd6bc69f0cdce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3772a653644850" /><Relationship Type="http://schemas.openxmlformats.org/officeDocument/2006/relationships/notesMaster" Target="/ppt/notesMasters/notesMaster1.xml" Id="Rf54aebd6b6a5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4ae2673f844baf" /><Relationship Type="http://schemas.openxmlformats.org/officeDocument/2006/relationships/notesMaster" Target="/ppt/notesMasters/notesMaster1.xml" Id="R838bedc45fd4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78a5b3f1a43f7" /><Relationship Type="http://schemas.openxmlformats.org/officeDocument/2006/relationships/notesMaster" Target="/ppt/notesMasters/notesMaster1.xml" Id="R6f701f841c444b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95d8d3790a48bb" /><Relationship Type="http://schemas.openxmlformats.org/officeDocument/2006/relationships/notesMaster" Target="/ppt/notesMasters/notesMaster1.xml" Id="R2e99469af04646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a8de190f6546af" /><Relationship Type="http://schemas.openxmlformats.org/officeDocument/2006/relationships/notesMaster" Target="/ppt/notesMasters/notesMaster1.xml" Id="R8edac7d6709b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cfea2eac94777" /><Relationship Type="http://schemas.openxmlformats.org/officeDocument/2006/relationships/notesMaster" Target="/ppt/notesMasters/notesMaster1.xml" Id="R9b18107398864d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2ca2f54104b05" /><Relationship Type="http://schemas.openxmlformats.org/officeDocument/2006/relationships/notesMaster" Target="/ppt/notesMasters/notesMaster1.xml" Id="Rf8e2a29fe5164d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eecd4934fe4f40" /><Relationship Type="http://schemas.openxmlformats.org/officeDocument/2006/relationships/notesMaster" Target="/ppt/notesMasters/notesMaster1.xml" Id="Rda26e5c03933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adapts Project 3 from the supplied SIWES proposal to Lagos. The output is a historical screening product, not an operational warning.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learns a satellite-derived occurrence proxy from Nigeria and transfers broad patterns to Lagos. Local geocoded fire-service records are still needed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Global Fire Atlas updated record, https://zenodo.org/records/14065246 ; Open-Meteo Historical Weather API, https://open-meteo.com/en/docs/historical-weather-api ; Nigeria state polygon source, https://gist.github.com/segebee/ff4a2f75be560462c369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Lagos display uses 0.25° cells inside the state polygon. The classifier is trained at 0.5°, so the Lagos scores are spatially interpolated screening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averages across held-out geographic folds. Brier is lower-is-better, so the chart shows 1 minus Brier for visual comparability; the reported Brier score is 0.092.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display cells inside the Lagos polygon receive mean monthly model scores of approximately 0.244, 0.236, and 0.236. The percentile ranking is only relative across these cells. See outputs/maps/lagos_wildfire_risk.png.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Permutation importance was calculated using average precision on a spatial holdout. Month cosine and rainfall have the largest measured importance. The figure also shows the modelled monthly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is not operational. The most important next validation source is geocoded incident data from the Lagos State Fire and Rescue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Reproduction instructions are in README.md. Source attribution: Global Fire Atlas, Open-Meteo ERA5 reanalysis, and the cited Nigeria state polygon source. Do not use for operational decisions without local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997a33cec4b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d5c40c68d4d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a99a29f1d4f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66f5d5e2e4a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591e3910a4c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4ce52a333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7A369-D732-4330-BD3B-42E25368F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0074B7-D3AC-4D85-BB06-F7B9EF637D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E0BD67-E5AA-434E-9B16-2151AF866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1E81AB-DF45-48A8-89DA-C91E40BAD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2D4D0B-C04C-4B2D-B3A6-1302C5D1A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8DD417-698B-42EF-8DBB-AA2C3CD35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C7BF17-4BCB-464D-BB38-78BE88B0B5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024A7D-9E21-4C8E-B5D3-EE5547A483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47BF7F-5882-492B-B67C-A670E4021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C25DBC-F68D-4BAE-BDA2-F3405A65FF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ae308d6e354d7d" /><Relationship Type="http://schemas.openxmlformats.org/officeDocument/2006/relationships/slideLayout" Target="/ppt/slideLayouts/slideLayout1.xml" Id="R817fe5a5ec1145dc" /><Relationship Type="http://schemas.openxmlformats.org/officeDocument/2006/relationships/slideLayout" Target="/ppt/slideLayouts/slideLayout2.xml" Id="R600275ba84e349b5" /><Relationship Type="http://schemas.openxmlformats.org/officeDocument/2006/relationships/slideLayout" Target="/ppt/slideLayouts/slideLayout3.xml" Id="Rf51fa57ea55d4dcd" /><Relationship Type="http://schemas.openxmlformats.org/officeDocument/2006/relationships/slideLayout" Target="/ppt/slideLayouts/slideLayout4.xml" Id="Ra74be90f467b4f7f" /><Relationship Type="http://schemas.openxmlformats.org/officeDocument/2006/relationships/slideLayout" Target="/ppt/slideLayouts/slideLayout5.xml" Id="R087640d9290c423c" /><Relationship Type="http://schemas.openxmlformats.org/officeDocument/2006/relationships/slideLayout" Target="/ppt/slideLayouts/slideLayout6.xml" Id="R6d8b10246ecc4f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fe5a5ec1145dc"/>
    <p:sldLayoutId xmlns:r="http://schemas.openxmlformats.org/officeDocument/2006/relationships" id="2147483650" r:id="R600275ba84e349b5"/>
    <p:sldLayoutId xmlns:r="http://schemas.openxmlformats.org/officeDocument/2006/relationships" id="2147483651" r:id="Rf51fa57ea55d4dcd"/>
    <p:sldLayoutId xmlns:r="http://schemas.openxmlformats.org/officeDocument/2006/relationships" id="2147483652" r:id="Ra74be90f467b4f7f"/>
    <p:sldLayoutId xmlns:r="http://schemas.openxmlformats.org/officeDocument/2006/relationships" id="2147483653" r:id="R087640d9290c423c"/>
    <p:sldLayoutId xmlns:r="http://schemas.openxmlformats.org/officeDocument/2006/relationships" id="2147483654" r:id="R6d8b10246ecc4f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538d581134a9b" /><Relationship Type="http://schemas.openxmlformats.org/officeDocument/2006/relationships/notesSlide" Target="/ppt/notesSlides/notesSlide1.xml" Id="R0645395312f9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e5e9ffbd44bef" /><Relationship Type="http://schemas.openxmlformats.org/officeDocument/2006/relationships/notesSlide" Target="/ppt/notesSlides/notesSlide2.xml" Id="R538feb9cbe2f44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8648b55cf4a9a" /><Relationship Type="http://schemas.openxmlformats.org/officeDocument/2006/relationships/notesSlide" Target="/ppt/notesSlides/notesSlide3.xml" Id="R3e660a574478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010786fa14476" /><Relationship Type="http://schemas.openxmlformats.org/officeDocument/2006/relationships/notesSlide" Target="/ppt/notesSlides/notesSlide4.xml" Id="R2849af35566a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031b254d44ab8" /><Relationship Type="http://schemas.openxmlformats.org/officeDocument/2006/relationships/notesSlide" Target="/ppt/notesSlides/notesSlide5.xml" Id="R361f6502ba3b44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222a177aa4b20" /><Relationship Type="http://schemas.openxmlformats.org/officeDocument/2006/relationships/image" Target="/ppt/media/image.png" Id="R910bbad8e2494a0f" /><Relationship Type="http://schemas.openxmlformats.org/officeDocument/2006/relationships/notesSlide" Target="/ppt/notesSlides/notesSlide6.xml" Id="R3d4b22734a3e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477cdb540840a2" /><Relationship Type="http://schemas.openxmlformats.org/officeDocument/2006/relationships/image" Target="/ppt/media/image2.png" Id="Rfa21148481d3407b" /><Relationship Type="http://schemas.openxmlformats.org/officeDocument/2006/relationships/notesSlide" Target="/ppt/notesSlides/notesSlide7.xml" Id="R86f141b6c20c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dd89c403c467c" /><Relationship Type="http://schemas.openxmlformats.org/officeDocument/2006/relationships/notesSlide" Target="/ppt/notesSlides/notesSlide8.xml" Id="R772d3ab894e147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c596b47f34cf3" /><Relationship Type="http://schemas.openxmlformats.org/officeDocument/2006/relationships/notesSlide" Target="/ppt/notesSlides/notesSlide9.xml" Id="R4546a354848e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4A0C-5951-4769-8176-E702ED72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2057-984F-489B-8BFA-7F30F902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Lagos Wildfire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Risk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A90D3-14CF-4CA8-8A05-A62A6A8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7DDE0"/>
                </a:solidFill>
              </a:defRPr>
            </a:defPPr>
            <a:lvl1pPr>
              <a:defRPr sz="2100" b="0">
                <a:solidFill>
                  <a:srgbClr val="B7DDE0"/>
                </a:solidFill>
              </a:defRPr>
            </a:lvl1pPr>
            <a:lvl2pPr>
              <a:defRPr sz="2100" b="0">
                <a:solidFill>
                  <a:srgbClr val="B7DDE0"/>
                </a:solidFill>
              </a:defRPr>
            </a:lvl2pPr>
            <a:lvl3pPr>
              <a:defRPr sz="2100" b="0">
                <a:solidFill>
                  <a:srgbClr val="B7DDE0"/>
                </a:solidFill>
              </a:defRPr>
            </a:lvl3pPr>
            <a:lvl4pPr>
              <a:defRPr sz="2100" b="0">
                <a:solidFill>
                  <a:srgbClr val="B7DDE0"/>
                </a:solidFill>
              </a:defRPr>
            </a:lvl4pPr>
            <a:lvl5pPr>
              <a:defRPr sz="2100" b="0">
                <a:solidFill>
                  <a:srgbClr val="B7DDE0"/>
                </a:solidFill>
              </a:defRPr>
            </a:lvl5pPr>
            <a:lvl6pPr>
              <a:defRPr sz="2100" b="0">
                <a:solidFill>
                  <a:srgbClr val="B7DDE0"/>
                </a:solidFill>
              </a:defRPr>
            </a:lvl6pPr>
            <a:lvl7pPr>
              <a:defRPr sz="2100" b="0">
                <a:solidFill>
                  <a:srgbClr val="B7DDE0"/>
                </a:solidFill>
              </a:defRPr>
            </a:lvl7pPr>
            <a:lvl8pPr>
              <a:defRPr sz="2100" b="0">
                <a:solidFill>
                  <a:srgbClr val="B7DDE0"/>
                </a:solidFill>
              </a:defRPr>
            </a:lvl8pPr>
            <a:lvl9pPr>
              <a:defRPr sz="2100" b="0">
                <a:solidFill>
                  <a:srgbClr val="B7DDE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7DDE0"/>
                </a:solidFill>
              </a:defRPr>
            </a:pPr>
            <a:r>
              <a:rPr sz="2100" b="0">
                <a:solidFill>
                  <a:srgbClr val="B7DDE0"/>
                </a:solidFill>
              </a:rPr>
              <a:t>SIWES geospatial machine learning capstone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A75F-06A6-449B-A683-E109C8A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2EC"/>
                </a:solidFill>
              </a:defRPr>
            </a:defPPr>
            <a:lvl1pPr>
              <a:defRPr sz="1575" b="0">
                <a:solidFill>
                  <a:srgbClr val="D9E2EC"/>
                </a:solidFill>
              </a:defRPr>
            </a:lvl1pPr>
            <a:lvl2pPr>
              <a:defRPr sz="1575" b="0">
                <a:solidFill>
                  <a:srgbClr val="D9E2EC"/>
                </a:solidFill>
              </a:defRPr>
            </a:lvl2pPr>
            <a:lvl3pPr>
              <a:defRPr sz="1575" b="0">
                <a:solidFill>
                  <a:srgbClr val="D9E2EC"/>
                </a:solidFill>
              </a:defRPr>
            </a:lvl3pPr>
            <a:lvl4pPr>
              <a:defRPr sz="1575" b="0">
                <a:solidFill>
                  <a:srgbClr val="D9E2EC"/>
                </a:solidFill>
              </a:defRPr>
            </a:lvl4pPr>
            <a:lvl5pPr>
              <a:defRPr sz="1575" b="0">
                <a:solidFill>
                  <a:srgbClr val="D9E2EC"/>
                </a:solidFill>
              </a:defRPr>
            </a:lvl5pPr>
            <a:lvl6pPr>
              <a:defRPr sz="1575" b="0">
                <a:solidFill>
                  <a:srgbClr val="D9E2EC"/>
                </a:solidFill>
              </a:defRPr>
            </a:lvl6pPr>
            <a:lvl7pPr>
              <a:defRPr sz="1575" b="0">
                <a:solidFill>
                  <a:srgbClr val="D9E2EC"/>
                </a:solidFill>
              </a:defRPr>
            </a:lvl7pPr>
            <a:lvl8pPr>
              <a:defRPr sz="1575" b="0">
                <a:solidFill>
                  <a:srgbClr val="D9E2EC"/>
                </a:solidFill>
              </a:defRPr>
            </a:lvl8pPr>
            <a:lvl9pPr>
              <a:defRPr sz="157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E2EC"/>
                </a:solidFill>
              </a:defRPr>
            </a:pPr>
            <a:r>
              <a:rPr sz="1575" b="0">
                <a:solidFill>
                  <a:srgbClr val="D9E2EC"/>
                </a:solidFill>
              </a:rPr>
              <a:t>Project 3  |  Historical fire patterns and climate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A4411-20AD-4A0D-B4CF-286DEF6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2EC"/>
                </a:solidFill>
              </a:defRPr>
            </a:defPPr>
            <a:lvl1pPr>
              <a:defRPr sz="1425" b="0">
                <a:solidFill>
                  <a:srgbClr val="D9E2EC"/>
                </a:solidFill>
              </a:defRPr>
            </a:lvl1pPr>
            <a:lvl2pPr>
              <a:defRPr sz="1425" b="0">
                <a:solidFill>
                  <a:srgbClr val="D9E2EC"/>
                </a:solidFill>
              </a:defRPr>
            </a:lvl2pPr>
            <a:lvl3pPr>
              <a:defRPr sz="1425" b="0">
                <a:solidFill>
                  <a:srgbClr val="D9E2EC"/>
                </a:solidFill>
              </a:defRPr>
            </a:lvl3pPr>
            <a:lvl4pPr>
              <a:defRPr sz="1425" b="0">
                <a:solidFill>
                  <a:srgbClr val="D9E2EC"/>
                </a:solidFill>
              </a:defRPr>
            </a:lvl4pPr>
            <a:lvl5pPr>
              <a:defRPr sz="1425" b="0">
                <a:solidFill>
                  <a:srgbClr val="D9E2EC"/>
                </a:solidFill>
              </a:defRPr>
            </a:lvl5pPr>
            <a:lvl6pPr>
              <a:defRPr sz="1425" b="0">
                <a:solidFill>
                  <a:srgbClr val="D9E2EC"/>
                </a:solidFill>
              </a:defRPr>
            </a:lvl6pPr>
            <a:lvl7pPr>
              <a:defRPr sz="1425" b="0">
                <a:solidFill>
                  <a:srgbClr val="D9E2EC"/>
                </a:solidFill>
              </a:defRPr>
            </a:lvl7pPr>
            <a:lvl8pPr>
              <a:defRPr sz="1425" b="0">
                <a:solidFill>
                  <a:srgbClr val="D9E2EC"/>
                </a:solidFill>
              </a:defRPr>
            </a:lvl8pPr>
            <a:lvl9pPr>
              <a:defRPr sz="14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9E2EC"/>
                </a:solidFill>
              </a:defRPr>
            </a:pPr>
            <a:r>
              <a:rPr sz="1425" b="0">
                <a:solidFill>
                  <a:srgbClr val="D9E2EC"/>
                </a:solidFill>
              </a:rPr>
              <a:t>Nigeria  •  2003–2016 training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79B91-B184-469A-AC78-609FF5DD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3D3DF"/>
                </a:solidFill>
              </a:defRPr>
            </a:defPPr>
            <a:lvl1pPr>
              <a:defRPr sz="1350" b="0">
                <a:solidFill>
                  <a:srgbClr val="C3D3DF"/>
                </a:solidFill>
              </a:defRPr>
            </a:lvl1pPr>
            <a:lvl2pPr>
              <a:defRPr sz="1350" b="0">
                <a:solidFill>
                  <a:srgbClr val="C3D3DF"/>
                </a:solidFill>
              </a:defRPr>
            </a:lvl2pPr>
            <a:lvl3pPr>
              <a:defRPr sz="1350" b="0">
                <a:solidFill>
                  <a:srgbClr val="C3D3DF"/>
                </a:solidFill>
              </a:defRPr>
            </a:lvl3pPr>
            <a:lvl4pPr>
              <a:defRPr sz="1350" b="0">
                <a:solidFill>
                  <a:srgbClr val="C3D3DF"/>
                </a:solidFill>
              </a:defRPr>
            </a:lvl4pPr>
            <a:lvl5pPr>
              <a:defRPr sz="1350" b="0">
                <a:solidFill>
                  <a:srgbClr val="C3D3DF"/>
                </a:solidFill>
              </a:defRPr>
            </a:lvl5pPr>
            <a:lvl6pPr>
              <a:defRPr sz="1350" b="0">
                <a:solidFill>
                  <a:srgbClr val="C3D3DF"/>
                </a:solidFill>
              </a:defRPr>
            </a:lvl6pPr>
            <a:lvl7pPr>
              <a:defRPr sz="1350" b="0">
                <a:solidFill>
                  <a:srgbClr val="C3D3DF"/>
                </a:solidFill>
              </a:defRPr>
            </a:lvl7pPr>
            <a:lvl8pPr>
              <a:defRPr sz="1350" b="0">
                <a:solidFill>
                  <a:srgbClr val="C3D3DF"/>
                </a:solidFill>
              </a:defRPr>
            </a:lvl8pPr>
            <a:lvl9pPr>
              <a:defRPr sz="1350" b="0">
                <a:solidFill>
                  <a:srgbClr val="C3D3D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3DF"/>
                </a:solidFill>
              </a:defRPr>
            </a:pPr>
            <a:r>
              <a:rPr sz="1350" b="0">
                <a:solidFill>
                  <a:srgbClr val="C3D3DF"/>
                </a:solidFill>
              </a:rPr>
              <a:t>Satellite fire labels are proxies; the map is an exploratory screen.</a:t>
            </a:r>
          </a:p>
        </p:txBody>
      </p:sp>
    </p:spTree>
    <p:extLst>
      <p:ext uri="{BB962C8B-B14F-4D97-AF65-F5344CB8AC3E}">
        <p14:creationId xmlns:p14="http://schemas.microsoft.com/office/powerpoint/2010/main" val="146777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6456A-8C77-4045-8885-853D98B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Study question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586A3-4613-417F-B996-029B974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22DCF-FBDC-48BC-9BEA-4DAFBBF5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8CE8B-EE5B-4EFA-8216-F1F8B66E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E8B"/>
                </a:solidFill>
              </a:defRPr>
            </a:defPPr>
            <a:lvl1pPr>
              <a:defRPr sz="1875" b="1">
                <a:solidFill>
                  <a:srgbClr val="087E8B"/>
                </a:solidFill>
              </a:defRPr>
            </a:lvl1pPr>
            <a:lvl2pPr>
              <a:defRPr sz="1875" b="1">
                <a:solidFill>
                  <a:srgbClr val="087E8B"/>
                </a:solidFill>
              </a:defRPr>
            </a:lvl2pPr>
            <a:lvl3pPr>
              <a:defRPr sz="1875" b="1">
                <a:solidFill>
                  <a:srgbClr val="087E8B"/>
                </a:solidFill>
              </a:defRPr>
            </a:lvl3pPr>
            <a:lvl4pPr>
              <a:defRPr sz="1875" b="1">
                <a:solidFill>
                  <a:srgbClr val="087E8B"/>
                </a:solidFill>
              </a:defRPr>
            </a:lvl4pPr>
            <a:lvl5pPr>
              <a:defRPr sz="1875" b="1">
                <a:solidFill>
                  <a:srgbClr val="087E8B"/>
                </a:solidFill>
              </a:defRPr>
            </a:lvl5pPr>
            <a:lvl6pPr>
              <a:defRPr sz="1875" b="1">
                <a:solidFill>
                  <a:srgbClr val="087E8B"/>
                </a:solidFill>
              </a:defRPr>
            </a:lvl6pPr>
            <a:lvl7pPr>
              <a:defRPr sz="1875" b="1">
                <a:solidFill>
                  <a:srgbClr val="087E8B"/>
                </a:solidFill>
              </a:defRPr>
            </a:lvl7pPr>
            <a:lvl8pPr>
              <a:defRPr sz="1875" b="1">
                <a:solidFill>
                  <a:srgbClr val="087E8B"/>
                </a:solidFill>
              </a:defRPr>
            </a:lvl8pPr>
            <a:lvl9pPr>
              <a:defRPr sz="18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E8B"/>
                </a:solidFill>
              </a:defRPr>
            </a:pPr>
            <a:r>
              <a:rPr sz="1875" b="1">
                <a:solidFill>
                  <a:srgbClr val="087E8B"/>
                </a:solidFill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59ED8-2642-43DE-B720-8963481F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Where do historical fire patterns and climate suggest higher vegetation-fire potential around Lagos?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CC022-866E-409F-9CF7-EB82D69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E8B"/>
                </a:solidFill>
              </a:defRPr>
            </a:defPPr>
            <a:lvl1pPr>
              <a:defRPr sz="1875" b="1">
                <a:solidFill>
                  <a:srgbClr val="087E8B"/>
                </a:solidFill>
              </a:defRPr>
            </a:lvl1pPr>
            <a:lvl2pPr>
              <a:defRPr sz="1875" b="1">
                <a:solidFill>
                  <a:srgbClr val="087E8B"/>
                </a:solidFill>
              </a:defRPr>
            </a:lvl2pPr>
            <a:lvl3pPr>
              <a:defRPr sz="1875" b="1">
                <a:solidFill>
                  <a:srgbClr val="087E8B"/>
                </a:solidFill>
              </a:defRPr>
            </a:lvl3pPr>
            <a:lvl4pPr>
              <a:defRPr sz="1875" b="1">
                <a:solidFill>
                  <a:srgbClr val="087E8B"/>
                </a:solidFill>
              </a:defRPr>
            </a:lvl4pPr>
            <a:lvl5pPr>
              <a:defRPr sz="1875" b="1">
                <a:solidFill>
                  <a:srgbClr val="087E8B"/>
                </a:solidFill>
              </a:defRPr>
            </a:lvl5pPr>
            <a:lvl6pPr>
              <a:defRPr sz="1875" b="1">
                <a:solidFill>
                  <a:srgbClr val="087E8B"/>
                </a:solidFill>
              </a:defRPr>
            </a:lvl6pPr>
            <a:lvl7pPr>
              <a:defRPr sz="1875" b="1">
                <a:solidFill>
                  <a:srgbClr val="087E8B"/>
                </a:solidFill>
              </a:defRPr>
            </a:lvl7pPr>
            <a:lvl8pPr>
              <a:defRPr sz="1875" b="1">
                <a:solidFill>
                  <a:srgbClr val="087E8B"/>
                </a:solidFill>
              </a:defRPr>
            </a:lvl8pPr>
            <a:lvl9pPr>
              <a:defRPr sz="18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E8B"/>
                </a:solidFill>
              </a:defRPr>
            </a:pPr>
            <a:r>
              <a:rPr sz="1875" b="1">
                <a:solidFill>
                  <a:srgbClr val="087E8B"/>
                </a:solidFill>
              </a:rPr>
              <a:t>Study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725CF-1F7A-47A2-A6FF-22CB003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B53"/>
                </a:solidFill>
              </a:defRPr>
            </a:defPPr>
            <a:lvl1pPr>
              <a:defRPr sz="2025" b="0">
                <a:solidFill>
                  <a:srgbClr val="243B53"/>
                </a:solidFill>
              </a:defRPr>
            </a:lvl1pPr>
            <a:lvl2pPr>
              <a:defRPr sz="2025" b="0">
                <a:solidFill>
                  <a:srgbClr val="243B53"/>
                </a:solidFill>
              </a:defRPr>
            </a:lvl2pPr>
            <a:lvl3pPr>
              <a:defRPr sz="2025" b="0">
                <a:solidFill>
                  <a:srgbClr val="243B53"/>
                </a:solidFill>
              </a:defRPr>
            </a:lvl3pPr>
            <a:lvl4pPr>
              <a:defRPr sz="2025" b="0">
                <a:solidFill>
                  <a:srgbClr val="243B53"/>
                </a:solidFill>
              </a:defRPr>
            </a:lvl4pPr>
            <a:lvl5pPr>
              <a:defRPr sz="2025" b="0">
                <a:solidFill>
                  <a:srgbClr val="243B53"/>
                </a:solidFill>
              </a:defRPr>
            </a:lvl5pPr>
            <a:lvl6pPr>
              <a:defRPr sz="2025" b="0">
                <a:solidFill>
                  <a:srgbClr val="243B53"/>
                </a:solidFill>
              </a:defRPr>
            </a:lvl6pPr>
            <a:lvl7pPr>
              <a:defRPr sz="2025" b="0">
                <a:solidFill>
                  <a:srgbClr val="243B53"/>
                </a:solidFill>
              </a:defRPr>
            </a:lvl7pPr>
            <a:lvl8pPr>
              <a:defRPr sz="2025" b="0">
                <a:solidFill>
                  <a:srgbClr val="243B53"/>
                </a:solidFill>
              </a:defRPr>
            </a:lvl8pPr>
            <a:lvl9pPr>
              <a:defRPr sz="20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B53"/>
                </a:solidFill>
              </a:defRPr>
            </a:pPr>
            <a:r>
              <a:rPr sz="2025" b="0">
                <a:solidFill>
                  <a:srgbClr val="243B53"/>
                </a:solidFill>
              </a:rPr>
              <a:t>Train on Nigeria-wide fire history, then score Lagos cells using their location and monthly climate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C6C83-9FE9-4FCA-8474-AB4D171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DA176-CD99-48AB-A000-5C7A97FC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45E0B-C527-4A22-A07A-9DD5639F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B53"/>
                </a:solidFill>
              </a:defRPr>
            </a:defPPr>
            <a:lvl1pPr>
              <a:defRPr sz="1800" b="0">
                <a:solidFill>
                  <a:srgbClr val="243B53"/>
                </a:solidFill>
              </a:defRPr>
            </a:lvl1pPr>
            <a:lvl2pPr>
              <a:defRPr sz="1800" b="0">
                <a:solidFill>
                  <a:srgbClr val="243B53"/>
                </a:solidFill>
              </a:defRPr>
            </a:lvl2pPr>
            <a:lvl3pPr>
              <a:defRPr sz="1800" b="0">
                <a:solidFill>
                  <a:srgbClr val="243B53"/>
                </a:solidFill>
              </a:defRPr>
            </a:lvl3pPr>
            <a:lvl4pPr>
              <a:defRPr sz="1800" b="0">
                <a:solidFill>
                  <a:srgbClr val="243B53"/>
                </a:solidFill>
              </a:defRPr>
            </a:lvl4pPr>
            <a:lvl5pPr>
              <a:defRPr sz="1800" b="0">
                <a:solidFill>
                  <a:srgbClr val="243B53"/>
                </a:solidFill>
              </a:defRPr>
            </a:lvl5pPr>
            <a:lvl6pPr>
              <a:defRPr sz="1800" b="0">
                <a:solidFill>
                  <a:srgbClr val="243B53"/>
                </a:solidFill>
              </a:defRPr>
            </a:lvl6pPr>
            <a:lvl7pPr>
              <a:defRPr sz="1800" b="0">
                <a:solidFill>
                  <a:srgbClr val="243B53"/>
                </a:solidFill>
              </a:defRPr>
            </a:lvl7pPr>
            <a:lvl8pPr>
              <a:defRPr sz="1800" b="0">
                <a:solidFill>
                  <a:srgbClr val="243B53"/>
                </a:solidFill>
              </a:defRPr>
            </a:lvl8pPr>
            <a:lvl9pPr>
              <a:defRPr sz="18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</a:defRPr>
            </a:pPr>
            <a:r>
              <a:rPr sz="1800" b="0">
                <a:solidFill>
                  <a:srgbClr val="243B53"/>
                </a:solidFill>
              </a:rPr>
              <a:t>Satellite-observed monthly fire occurrence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83375-2B74-49CD-89A3-0BBD5B8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Not the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9D411-384B-4477-A145-BC193C3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B53"/>
                </a:solidFill>
              </a:defRPr>
            </a:defPPr>
            <a:lvl1pPr>
              <a:defRPr sz="1800" b="0">
                <a:solidFill>
                  <a:srgbClr val="243B53"/>
                </a:solidFill>
              </a:defRPr>
            </a:lvl1pPr>
            <a:lvl2pPr>
              <a:defRPr sz="1800" b="0">
                <a:solidFill>
                  <a:srgbClr val="243B53"/>
                </a:solidFill>
              </a:defRPr>
            </a:lvl2pPr>
            <a:lvl3pPr>
              <a:defRPr sz="1800" b="0">
                <a:solidFill>
                  <a:srgbClr val="243B53"/>
                </a:solidFill>
              </a:defRPr>
            </a:lvl3pPr>
            <a:lvl4pPr>
              <a:defRPr sz="1800" b="0">
                <a:solidFill>
                  <a:srgbClr val="243B53"/>
                </a:solidFill>
              </a:defRPr>
            </a:lvl4pPr>
            <a:lvl5pPr>
              <a:defRPr sz="1800" b="0">
                <a:solidFill>
                  <a:srgbClr val="243B53"/>
                </a:solidFill>
              </a:defRPr>
            </a:lvl5pPr>
            <a:lvl6pPr>
              <a:defRPr sz="1800" b="0">
                <a:solidFill>
                  <a:srgbClr val="243B53"/>
                </a:solidFill>
              </a:defRPr>
            </a:lvl6pPr>
            <a:lvl7pPr>
              <a:defRPr sz="1800" b="0">
                <a:solidFill>
                  <a:srgbClr val="243B53"/>
                </a:solidFill>
              </a:defRPr>
            </a:lvl7pPr>
            <a:lvl8pPr>
              <a:defRPr sz="1800" b="0">
                <a:solidFill>
                  <a:srgbClr val="243B53"/>
                </a:solidFill>
              </a:defRPr>
            </a:lvl8pPr>
            <a:lvl9pPr>
              <a:defRPr sz="18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B53"/>
                </a:solidFill>
              </a:defRPr>
            </a:pPr>
            <a:r>
              <a:rPr sz="1800" b="0">
                <a:solidFill>
                  <a:srgbClr val="243B53"/>
                </a:solidFill>
              </a:rPr>
              <a:t>Confirmed incidents, daily forecasts, or property-level risk</a:t>
            </a:r>
          </a:p>
        </p:txBody>
      </p:sp>
    </p:spTree>
    <p:extLst>
      <p:ext uri="{BB962C8B-B14F-4D97-AF65-F5344CB8AC3E}">
        <p14:creationId xmlns:p14="http://schemas.microsoft.com/office/powerpoint/2010/main" val="755421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97D66-62FB-42F1-ABE5-66AADBFE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Data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DBB78-E170-437E-8B4D-17651376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AF0BA-B852-4F31-B1A0-B2CC4D02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F5B14-9F0E-471B-962D-F929CFAA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B"/>
                </a:solidFill>
              </a:defRPr>
            </a:defPPr>
            <a:lvl1pPr>
              <a:defRPr sz="1950" b="1">
                <a:solidFill>
                  <a:srgbClr val="087E8B"/>
                </a:solidFill>
              </a:defRPr>
            </a:lvl1pPr>
            <a:lvl2pPr>
              <a:defRPr sz="1950" b="1">
                <a:solidFill>
                  <a:srgbClr val="087E8B"/>
                </a:solidFill>
              </a:defRPr>
            </a:lvl2pPr>
            <a:lvl3pPr>
              <a:defRPr sz="1950" b="1">
                <a:solidFill>
                  <a:srgbClr val="087E8B"/>
                </a:solidFill>
              </a:defRPr>
            </a:lvl3pPr>
            <a:lvl4pPr>
              <a:defRPr sz="1950" b="1">
                <a:solidFill>
                  <a:srgbClr val="087E8B"/>
                </a:solidFill>
              </a:defRPr>
            </a:lvl4pPr>
            <a:lvl5pPr>
              <a:defRPr sz="1950" b="1">
                <a:solidFill>
                  <a:srgbClr val="087E8B"/>
                </a:solidFill>
              </a:defRPr>
            </a:lvl5pPr>
            <a:lvl6pPr>
              <a:defRPr sz="1950" b="1">
                <a:solidFill>
                  <a:srgbClr val="087E8B"/>
                </a:solidFill>
              </a:defRPr>
            </a:lvl6pPr>
            <a:lvl7pPr>
              <a:defRPr sz="1950" b="1">
                <a:solidFill>
                  <a:srgbClr val="087E8B"/>
                </a:solidFill>
              </a:defRPr>
            </a:lvl7pPr>
            <a:lvl8pPr>
              <a:defRPr sz="1950" b="1">
                <a:solidFill>
                  <a:srgbClr val="087E8B"/>
                </a:solidFill>
              </a:defRPr>
            </a:lvl8pPr>
            <a:lvl9pPr>
              <a:defRPr sz="19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8B"/>
                </a:solidFill>
              </a:defRPr>
            </a:pPr>
            <a:r>
              <a:rPr sz="1950" b="1">
                <a:solidFill>
                  <a:srgbClr val="087E8B"/>
                </a:solidFill>
              </a:rPr>
              <a:t>Fire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36D89-8A89-4B66-AB06-3685361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Global Fire Atlas monthly fire-number rasters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2003–2016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0.25° source cells aggregated to 0.5° model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61706-8214-4A9E-BCE4-24E9FAFD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8B"/>
                </a:solidFill>
              </a:defRPr>
            </a:defPPr>
            <a:lvl1pPr>
              <a:defRPr sz="1950" b="1">
                <a:solidFill>
                  <a:srgbClr val="087E8B"/>
                </a:solidFill>
              </a:defRPr>
            </a:lvl1pPr>
            <a:lvl2pPr>
              <a:defRPr sz="1950" b="1">
                <a:solidFill>
                  <a:srgbClr val="087E8B"/>
                </a:solidFill>
              </a:defRPr>
            </a:lvl2pPr>
            <a:lvl3pPr>
              <a:defRPr sz="1950" b="1">
                <a:solidFill>
                  <a:srgbClr val="087E8B"/>
                </a:solidFill>
              </a:defRPr>
            </a:lvl3pPr>
            <a:lvl4pPr>
              <a:defRPr sz="1950" b="1">
                <a:solidFill>
                  <a:srgbClr val="087E8B"/>
                </a:solidFill>
              </a:defRPr>
            </a:lvl4pPr>
            <a:lvl5pPr>
              <a:defRPr sz="1950" b="1">
                <a:solidFill>
                  <a:srgbClr val="087E8B"/>
                </a:solidFill>
              </a:defRPr>
            </a:lvl5pPr>
            <a:lvl6pPr>
              <a:defRPr sz="1950" b="1">
                <a:solidFill>
                  <a:srgbClr val="087E8B"/>
                </a:solidFill>
              </a:defRPr>
            </a:lvl6pPr>
            <a:lvl7pPr>
              <a:defRPr sz="1950" b="1">
                <a:solidFill>
                  <a:srgbClr val="087E8B"/>
                </a:solidFill>
              </a:defRPr>
            </a:lvl7pPr>
            <a:lvl8pPr>
              <a:defRPr sz="1950" b="1">
                <a:solidFill>
                  <a:srgbClr val="087E8B"/>
                </a:solidFill>
              </a:defRPr>
            </a:lvl8pPr>
            <a:lvl9pPr>
              <a:defRPr sz="19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8B"/>
                </a:solidFill>
              </a:defRPr>
            </a:pPr>
            <a:r>
              <a:rPr sz="1950" b="1">
                <a:solidFill>
                  <a:srgbClr val="087E8B"/>
                </a:solidFill>
              </a:rPr>
              <a:t>Weather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242AD-CC01-4BC4-8928-E27D73BB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ERA5 reanalysis via Open-Meteo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Daily temperature, rainfall, and wind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Monthly summaries from four regional anchors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739E0-317A-45E0-9288-7100518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FA637-4FA5-4AEC-BFF4-45818D10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E8B"/>
                </a:solidFill>
              </a:defRPr>
            </a:defPPr>
            <a:lvl1pPr>
              <a:defRPr sz="1500" b="1">
                <a:solidFill>
                  <a:srgbClr val="087E8B"/>
                </a:solidFill>
              </a:defRPr>
            </a:lvl1pPr>
            <a:lvl2pPr>
              <a:defRPr sz="1500" b="1">
                <a:solidFill>
                  <a:srgbClr val="087E8B"/>
                </a:solidFill>
              </a:defRPr>
            </a:lvl2pPr>
            <a:lvl3pPr>
              <a:defRPr sz="1500" b="1">
                <a:solidFill>
                  <a:srgbClr val="087E8B"/>
                </a:solidFill>
              </a:defRPr>
            </a:lvl3pPr>
            <a:lvl4pPr>
              <a:defRPr sz="1500" b="1">
                <a:solidFill>
                  <a:srgbClr val="087E8B"/>
                </a:solidFill>
              </a:defRPr>
            </a:lvl4pPr>
            <a:lvl5pPr>
              <a:defRPr sz="1500" b="1">
                <a:solidFill>
                  <a:srgbClr val="087E8B"/>
                </a:solidFill>
              </a:defRPr>
            </a:lvl5pPr>
            <a:lvl6pPr>
              <a:defRPr sz="1500" b="1">
                <a:solidFill>
                  <a:srgbClr val="087E8B"/>
                </a:solidFill>
              </a:defRPr>
            </a:lvl6pPr>
            <a:lvl7pPr>
              <a:defRPr sz="1500" b="1">
                <a:solidFill>
                  <a:srgbClr val="087E8B"/>
                </a:solidFill>
              </a:defRPr>
            </a:lvl7pPr>
            <a:lvl8pPr>
              <a:defRPr sz="1500" b="1">
                <a:solidFill>
                  <a:srgbClr val="087E8B"/>
                </a:solidFill>
              </a:defRPr>
            </a:lvl8pPr>
            <a:lvl9pPr>
              <a:defRPr sz="150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E8B"/>
                </a:solidFill>
              </a:defRPr>
            </a:pPr>
            <a:r>
              <a:rPr sz="1500" b="1">
                <a:solidFill>
                  <a:srgbClr val="087E8B"/>
                </a:solidFill>
              </a:rPr>
              <a:t>Training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D8F88-C7B0-4B22-A5EE-AB7832F3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50,568 grid-month records  ·  301 Nigeria land cells  ·  29.1% fire-positive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7CEBB-EF31-41F9-B361-EF25C72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Lagos boundary: open Nigeria state polygon data</a:t>
            </a:r>
          </a:p>
        </p:txBody>
      </p:sp>
    </p:spTree>
    <p:extLst>
      <p:ext uri="{BB962C8B-B14F-4D97-AF65-F5344CB8AC3E}">
        <p14:creationId xmlns:p14="http://schemas.microsoft.com/office/powerpoint/2010/main" val="1209965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24C50-ECFE-404D-8B1B-D8731FD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Model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1462D-EDB0-4A8D-B43E-48D7F78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31431-F469-4F9A-85AC-D0EF980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DF9DD-45EF-4454-A742-22ED83D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8BDD0-ABC4-4EA5-BAB9-4B82A54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46C02-5440-4B14-BAE0-198B2023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Align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1FC15-A148-4889-824E-4592231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Monthly fire counts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and climate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1727F-515C-42CE-BEDA-2AC3370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097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63B4A-14B3-4B02-8526-503C718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BCD33-0ABB-4D7E-91C5-2F0559E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BE0F5-64EE-487C-A7C0-2EDD3F5D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Engineer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7A5AB-003C-4872-9C1D-D2ABAB30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Season, lagged rain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and dryness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12DEA-9342-491C-A423-66BBE30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97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B6EC4-CC51-418F-B146-E8B20F3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357D-067E-4E5D-AD99-FD105F9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7EA90-D783-4379-ABA2-D79D8FB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12AB4-C3CA-403C-85FC-00BD9A6C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Class-weighted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Random Forest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CC767-2AFD-4D39-9C71-69105AB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097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C02DD-4218-49D3-AC29-06AAE497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4A907-152D-469C-815A-926D6EB0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8E38C-4AB2-4334-9F99-FB8AE2DD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D6DE8-B8B0-4027-8F9B-C5BE3FE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2° spatial blocks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5 held-out folds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AF0FB-FE70-4F4C-B62F-400EED5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097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A42AC-848A-4A2C-AD4F-824BE8C6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52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3389-B9E0-4501-AACB-6D711ABE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EB0DC-467D-45DB-9D9B-B0C4223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Score Lagos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B2004-4ECF-4F3A-A7CB-29630DC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Quarter-degree display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from half-degree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B8D3BE-F0C4-41F1-9459-6B594580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Validation separates entire geographic blocks so nearby cells cannot appear in both train and test.</a:t>
            </a:r>
          </a:p>
        </p:txBody>
      </p:sp>
    </p:spTree>
    <p:extLst>
      <p:ext uri="{BB962C8B-B14F-4D97-AF65-F5344CB8AC3E}">
        <p14:creationId xmlns:p14="http://schemas.microsoft.com/office/powerpoint/2010/main" val="1491882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9DE49-DAD3-41FD-9FEA-C05AA21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Spatial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AB41-0616-4192-B527-F58519B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41F1A-B3D5-48EF-9C41-3906D6D0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6BB0B-6042-440D-919B-0B9DE3D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</a:defRPr>
            </a:defPPr>
            <a:lvl1pPr>
              <a:defRPr sz="1575" b="0">
                <a:solidFill>
                  <a:srgbClr val="52616B"/>
                </a:solidFill>
              </a:defRPr>
            </a:lvl1pPr>
            <a:lvl2pPr>
              <a:defRPr sz="1575" b="0">
                <a:solidFill>
                  <a:srgbClr val="52616B"/>
                </a:solidFill>
              </a:defRPr>
            </a:lvl2pPr>
            <a:lvl3pPr>
              <a:defRPr sz="1575" b="0">
                <a:solidFill>
                  <a:srgbClr val="52616B"/>
                </a:solidFill>
              </a:defRPr>
            </a:lvl3pPr>
            <a:lvl4pPr>
              <a:defRPr sz="1575" b="0">
                <a:solidFill>
                  <a:srgbClr val="52616B"/>
                </a:solidFill>
              </a:defRPr>
            </a:lvl4pPr>
            <a:lvl5pPr>
              <a:defRPr sz="1575" b="0">
                <a:solidFill>
                  <a:srgbClr val="52616B"/>
                </a:solidFill>
              </a:defRPr>
            </a:lvl5pPr>
            <a:lvl6pPr>
              <a:defRPr sz="1575" b="0">
                <a:solidFill>
                  <a:srgbClr val="52616B"/>
                </a:solidFill>
              </a:defRPr>
            </a:lvl6pPr>
            <a:lvl7pPr>
              <a:defRPr sz="1575" b="0">
                <a:solidFill>
                  <a:srgbClr val="52616B"/>
                </a:solidFill>
              </a:defRPr>
            </a:lvl7pPr>
            <a:lvl8pPr>
              <a:defRPr sz="1575" b="0">
                <a:solidFill>
                  <a:srgbClr val="52616B"/>
                </a:solidFill>
              </a:defRPr>
            </a:lvl8pPr>
            <a:lvl9pPr>
              <a:defRPr sz="15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</a:defRPr>
            </a:pPr>
            <a:r>
              <a:rPr sz="1575" b="0">
                <a:solidFill>
                  <a:srgbClr val="52616B"/>
                </a:solidFill>
              </a:rPr>
              <a:t>Five spatial folds · 2° blocks · 50,568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839E-EE4F-405D-97B0-E0288647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4FD70-7364-49A8-A36A-35294B0C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27D44-BFDB-4694-98CD-53032C58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11E0E-DB9A-4F35-A6F8-3715E91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04B1-C7C3-45D9-92EB-4C932FBC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EEA51-37D6-4C53-93A8-45F75B6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3F063-4960-452B-8FC8-0800B73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43F3A-358F-4E34-8569-C38CE4F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D01D1-5678-420E-BD99-327B3CA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0BEFB-78F3-4EDA-A76C-79DB1036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DBC35-2640-47BD-88AA-8D0B8ED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9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F1AE7-0FFA-43D9-81F6-219F27F3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4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66D7E-B39F-4D3C-B9F9-287E918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ROC 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9D499-4557-4C95-AB47-478B41F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507634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41F7F-8C28-48CA-9089-67B54BBF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449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93.5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07DC6-F751-41F9-9503-5B4F4DA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Average precision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E7124-EC78-4190-91C2-E50F2694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33750"/>
            <a:ext cx="465286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1BFFD-1C08-4045-9E57-A397831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967" y="34575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85.7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430F9-013D-4E76-A80A-01EED518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1 − Brier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F8298-40F7-4001-B143-EBD3469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67200"/>
            <a:ext cx="492975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B54F4-A465-4AF5-9E80-800B62F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859" y="43910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90.8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B1ACA-7A2A-4F2A-8917-74C2568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Score (%)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61D1F-8AE7-477A-8F60-B816E00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4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ROC AUC  0.935 ± 0.029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604C7-D522-42B3-8655-01486777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B53"/>
                </a:solidFill>
              </a:defRPr>
            </a:defPPr>
            <a:lvl1pPr>
              <a:defRPr sz="1650" b="1">
                <a:solidFill>
                  <a:srgbClr val="243B53"/>
                </a:solidFill>
              </a:defRPr>
            </a:lvl1pPr>
            <a:lvl2pPr>
              <a:defRPr sz="1650" b="1">
                <a:solidFill>
                  <a:srgbClr val="243B53"/>
                </a:solidFill>
              </a:defRPr>
            </a:lvl2pPr>
            <a:lvl3pPr>
              <a:defRPr sz="1650" b="1">
                <a:solidFill>
                  <a:srgbClr val="243B53"/>
                </a:solidFill>
              </a:defRPr>
            </a:lvl3pPr>
            <a:lvl4pPr>
              <a:defRPr sz="1650" b="1">
                <a:solidFill>
                  <a:srgbClr val="243B53"/>
                </a:solidFill>
              </a:defRPr>
            </a:lvl4pPr>
            <a:lvl5pPr>
              <a:defRPr sz="1650" b="1">
                <a:solidFill>
                  <a:srgbClr val="243B53"/>
                </a:solidFill>
              </a:defRPr>
            </a:lvl5pPr>
            <a:lvl6pPr>
              <a:defRPr sz="1650" b="1">
                <a:solidFill>
                  <a:srgbClr val="243B53"/>
                </a:solidFill>
              </a:defRPr>
            </a:lvl6pPr>
            <a:lvl7pPr>
              <a:defRPr sz="1650" b="1">
                <a:solidFill>
                  <a:srgbClr val="243B53"/>
                </a:solidFill>
              </a:defRPr>
            </a:lvl7pPr>
            <a:lvl8pPr>
              <a:defRPr sz="1650" b="1">
                <a:solidFill>
                  <a:srgbClr val="243B53"/>
                </a:solidFill>
              </a:defRPr>
            </a:lvl8pPr>
            <a:lvl9pPr>
              <a:defRPr sz="16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B53"/>
                </a:solidFill>
              </a:defRPr>
            </a:pPr>
            <a:r>
              <a:rPr sz="1650" b="1">
                <a:solidFill>
                  <a:srgbClr val="243B53"/>
                </a:solidFill>
              </a:rPr>
              <a:t>Average precision  0.857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1DA27-E4B9-4B89-A31F-BB56F6C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3B53"/>
                </a:solidFill>
              </a:defRPr>
            </a:defPPr>
            <a:lvl1pPr>
              <a:defRPr sz="1650" b="1">
                <a:solidFill>
                  <a:srgbClr val="243B53"/>
                </a:solidFill>
              </a:defRPr>
            </a:lvl1pPr>
            <a:lvl2pPr>
              <a:defRPr sz="1650" b="1">
                <a:solidFill>
                  <a:srgbClr val="243B53"/>
                </a:solidFill>
              </a:defRPr>
            </a:lvl2pPr>
            <a:lvl3pPr>
              <a:defRPr sz="1650" b="1">
                <a:solidFill>
                  <a:srgbClr val="243B53"/>
                </a:solidFill>
              </a:defRPr>
            </a:lvl3pPr>
            <a:lvl4pPr>
              <a:defRPr sz="1650" b="1">
                <a:solidFill>
                  <a:srgbClr val="243B53"/>
                </a:solidFill>
              </a:defRPr>
            </a:lvl4pPr>
            <a:lvl5pPr>
              <a:defRPr sz="1650" b="1">
                <a:solidFill>
                  <a:srgbClr val="243B53"/>
                </a:solidFill>
              </a:defRPr>
            </a:lvl5pPr>
            <a:lvl6pPr>
              <a:defRPr sz="1650" b="1">
                <a:solidFill>
                  <a:srgbClr val="243B53"/>
                </a:solidFill>
              </a:defRPr>
            </a:lvl6pPr>
            <a:lvl7pPr>
              <a:defRPr sz="1650" b="1">
                <a:solidFill>
                  <a:srgbClr val="243B53"/>
                </a:solidFill>
              </a:defRPr>
            </a:lvl7pPr>
            <a:lvl8pPr>
              <a:defRPr sz="1650" b="1">
                <a:solidFill>
                  <a:srgbClr val="243B53"/>
                </a:solidFill>
              </a:defRPr>
            </a:lvl8pPr>
            <a:lvl9pPr>
              <a:defRPr sz="16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B53"/>
                </a:solidFill>
              </a:defRPr>
            </a:pPr>
            <a:r>
              <a:rPr sz="1650" b="1">
                <a:solidFill>
                  <a:srgbClr val="243B53"/>
                </a:solidFill>
              </a:rPr>
              <a:t>Brier score  0.092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EE4B9-9476-4148-A0AA-9E8AAFF0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671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At 0.50 threshold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Precision 0.765  ·  Recall 0.821</a:t>
            </a:r>
          </a:p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F1 0.792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1CB76-0F58-4DB4-A5E2-C5E86E8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Average precision should be read against 29.1% fire prevalence.</a:t>
            </a:r>
          </a:p>
        </p:txBody>
      </p:sp>
    </p:spTree>
    <p:extLst>
      <p:ext uri="{BB962C8B-B14F-4D97-AF65-F5344CB8AC3E}">
        <p14:creationId xmlns:p14="http://schemas.microsoft.com/office/powerpoint/2010/main" val="2050673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9DC83-0931-477D-9743-3CA9B8C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Lagos screening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698E5-D9C7-4B73-952D-87FF4E3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C23E9-2251-4808-9988-5B94F74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3A325-8957-43D2-9C68-E46836FF7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bbad8e2494a0f"/>
          <a:stretch xmlns:a="http://schemas.openxmlformats.org/drawingml/2006/main"/>
        </p:blipFill>
        <p:spPr>
          <a:xfrm xmlns:a="http://schemas.openxmlformats.org/drawingml/2006/main">
            <a:off x="1491375" y="1219200"/>
            <a:ext cx="5989801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2170-1602-45DC-B2BC-449A286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Displayed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C7804-0600-442F-836D-E7536D1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95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02A43"/>
                </a:solidFill>
              </a:defRPr>
            </a:defPPr>
            <a:lvl1pPr>
              <a:defRPr sz="4200" b="1">
                <a:solidFill>
                  <a:srgbClr val="102A43"/>
                </a:solidFill>
              </a:defRPr>
            </a:lvl1pPr>
            <a:lvl2pPr>
              <a:defRPr sz="4200" b="1">
                <a:solidFill>
                  <a:srgbClr val="102A43"/>
                </a:solidFill>
              </a:defRPr>
            </a:lvl2pPr>
            <a:lvl3pPr>
              <a:defRPr sz="4200" b="1">
                <a:solidFill>
                  <a:srgbClr val="102A43"/>
                </a:solidFill>
              </a:defRPr>
            </a:lvl3pPr>
            <a:lvl4pPr>
              <a:defRPr sz="4200" b="1">
                <a:solidFill>
                  <a:srgbClr val="102A43"/>
                </a:solidFill>
              </a:defRPr>
            </a:lvl4pPr>
            <a:lvl5pPr>
              <a:defRPr sz="4200" b="1">
                <a:solidFill>
                  <a:srgbClr val="102A43"/>
                </a:solidFill>
              </a:defRPr>
            </a:lvl5pPr>
            <a:lvl6pPr>
              <a:defRPr sz="4200" b="1">
                <a:solidFill>
                  <a:srgbClr val="102A43"/>
                </a:solidFill>
              </a:defRPr>
            </a:lvl6pPr>
            <a:lvl7pPr>
              <a:defRPr sz="4200" b="1">
                <a:solidFill>
                  <a:srgbClr val="102A43"/>
                </a:solidFill>
              </a:defRPr>
            </a:lvl7pPr>
            <a:lvl8pPr>
              <a:defRPr sz="4200" b="1">
                <a:solidFill>
                  <a:srgbClr val="102A43"/>
                </a:solidFill>
              </a:defRPr>
            </a:lvl8pPr>
            <a:lvl9pPr>
              <a:defRPr sz="4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B75CE-9D20-4768-8FAD-31F0283C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43B53"/>
                </a:solidFill>
              </a:defRPr>
            </a:defPPr>
            <a:lvl1pPr>
              <a:defRPr sz="1500" b="0">
                <a:solidFill>
                  <a:srgbClr val="243B53"/>
                </a:solidFill>
              </a:defRPr>
            </a:lvl1pPr>
            <a:lvl2pPr>
              <a:defRPr sz="1500" b="0">
                <a:solidFill>
                  <a:srgbClr val="243B53"/>
                </a:solidFill>
              </a:defRPr>
            </a:lvl2pPr>
            <a:lvl3pPr>
              <a:defRPr sz="1500" b="0">
                <a:solidFill>
                  <a:srgbClr val="243B53"/>
                </a:solidFill>
              </a:defRPr>
            </a:lvl3pPr>
            <a:lvl4pPr>
              <a:defRPr sz="1500" b="0">
                <a:solidFill>
                  <a:srgbClr val="243B53"/>
                </a:solidFill>
              </a:defRPr>
            </a:lvl4pPr>
            <a:lvl5pPr>
              <a:defRPr sz="1500" b="0">
                <a:solidFill>
                  <a:srgbClr val="243B53"/>
                </a:solidFill>
              </a:defRPr>
            </a:lvl5pPr>
            <a:lvl6pPr>
              <a:defRPr sz="1500" b="0">
                <a:solidFill>
                  <a:srgbClr val="243B53"/>
                </a:solidFill>
              </a:defRPr>
            </a:lvl6pPr>
            <a:lvl7pPr>
              <a:defRPr sz="1500" b="0">
                <a:solidFill>
                  <a:srgbClr val="243B53"/>
                </a:solidFill>
              </a:defRPr>
            </a:lvl7pPr>
            <a:lvl8pPr>
              <a:defRPr sz="1500" b="0">
                <a:solidFill>
                  <a:srgbClr val="243B53"/>
                </a:solidFill>
              </a:defRPr>
            </a:lvl8pPr>
            <a:lvl9pPr>
              <a:defRPr sz="15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0.25° display grid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0.5° training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15966-E323-4949-BD7C-27D2C9DE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Mean model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E1F9D-5D9E-4353-9293-1D0D22B3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0.244  ·  0.236  ·  0.236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07C7B-6762-49AA-A1E7-A490418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Percentiles are relative within Lagos, not calibrated incident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72068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67496-8342-4732-BED7-C7EB821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What drives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7BFFA-11D3-428E-8EBF-9D1F4DA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0F734-C113-473D-8779-6892BECF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88C54-04E2-4C28-A9F4-84EB553D1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1148481d3407b"/>
          <a:stretch xmlns:a="http://schemas.openxmlformats.org/drawingml/2006/main"/>
        </p:blipFill>
        <p:spPr>
          <a:xfrm xmlns:a="http://schemas.openxmlformats.org/drawingml/2006/main">
            <a:off x="457200" y="2004348"/>
            <a:ext cx="7524750" cy="288740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523E1-0AD8-466E-8DB5-0E33E18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Leading predictors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A012B-8099-4A5C-9A51-BF480A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1  Month seasonality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2  Monthly rainfall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3  Wind speed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4  Temperature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205D7-930D-40DD-BD05-E0EB9F1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ED0A5-D1C8-4066-B9B8-059C0CB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6B"/>
                </a:solidFill>
              </a:defRPr>
            </a:defPPr>
            <a:lvl1pPr>
              <a:defRPr sz="1425" b="0">
                <a:solidFill>
                  <a:srgbClr val="52616B"/>
                </a:solidFill>
              </a:defRPr>
            </a:lvl1pPr>
            <a:lvl2pPr>
              <a:defRPr sz="1425" b="0">
                <a:solidFill>
                  <a:srgbClr val="52616B"/>
                </a:solidFill>
              </a:defRPr>
            </a:lvl2pPr>
            <a:lvl3pPr>
              <a:defRPr sz="1425" b="0">
                <a:solidFill>
                  <a:srgbClr val="52616B"/>
                </a:solidFill>
              </a:defRPr>
            </a:lvl3pPr>
            <a:lvl4pPr>
              <a:defRPr sz="1425" b="0">
                <a:solidFill>
                  <a:srgbClr val="52616B"/>
                </a:solidFill>
              </a:defRPr>
            </a:lvl4pPr>
            <a:lvl5pPr>
              <a:defRPr sz="1425" b="0">
                <a:solidFill>
                  <a:srgbClr val="52616B"/>
                </a:solidFill>
              </a:defRPr>
            </a:lvl5pPr>
            <a:lvl6pPr>
              <a:defRPr sz="1425" b="0">
                <a:solidFill>
                  <a:srgbClr val="52616B"/>
                </a:solidFill>
              </a:defRPr>
            </a:lvl6pPr>
            <a:lvl7pPr>
              <a:defRPr sz="1425" b="0">
                <a:solidFill>
                  <a:srgbClr val="52616B"/>
                </a:solidFill>
              </a:defRPr>
            </a:lvl7pPr>
            <a:lvl8pPr>
              <a:defRPr sz="1425" b="0">
                <a:solidFill>
                  <a:srgbClr val="52616B"/>
                </a:solidFill>
              </a:defRPr>
            </a:lvl8pPr>
            <a:lvl9pPr>
              <a:defRPr sz="14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Importance uses permutation on a spatially held-out block.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315DC-6D81-4FC9-9073-6050641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Association supports interpretation; it does not establish cause.</a:t>
            </a:r>
          </a:p>
        </p:txBody>
      </p:sp>
    </p:spTree>
    <p:extLst>
      <p:ext uri="{BB962C8B-B14F-4D97-AF65-F5344CB8AC3E}">
        <p14:creationId xmlns:p14="http://schemas.microsoft.com/office/powerpoint/2010/main" val="570914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B7005-13CC-4183-B511-F5C85C40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Interpretation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EC220-BD08-4083-8720-11982CF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48419-FBB1-493D-AFFA-DAFC096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D07EF-C509-4C29-9F6B-A5D55C7F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FF4C0-2953-4615-B6C6-0144344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Historical 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01760-BFC9-44A5-9679-C26C7A0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Fire Atlas model labels cover 2003–2016.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62735-7C00-4326-8759-E2CC1644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5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DC094-CDE4-4294-B702-E3AF5E52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925CC-AC17-4993-81C6-F2D8A40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Spatial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13E44-68AA-4A94-A9D3-027BAEB8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0.5° training cells; Lagos display is interpolated to 0.25°.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F9D42-522E-4ABA-AB65-9883FC3D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99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DF1F-4345-422D-9BED-48AADDC3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7A0C0-64F5-4609-A8A6-582CA4A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Weather sampling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DA2E8-1E01-484A-BA90-5A0EEA8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Four regional climate anchors represent broad gradients.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51BA5-25E2-4DCA-BC3A-554BFBF6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35F16-8731-48E2-92C5-A7D1BEA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0F3FF-7785-4939-8C18-0AEEEA7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38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Fire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79D26-8424-4F4C-A693-9B82B3B7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38675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3B53"/>
                </a:solidFill>
              </a:defRPr>
            </a:pPr>
            <a:r>
              <a:rPr sz="1650" b="0">
                <a:solidFill>
                  <a:srgbClr val="243B53"/>
                </a:solidFill>
              </a:rPr>
              <a:t>Satellite detections can miss small burns or flag other heat sources.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A8AFA-F685-4F4F-8274-691CB8A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E8B"/>
                </a:solidFill>
              </a:defRPr>
            </a:defPPr>
            <a:lvl1pPr>
              <a:defRPr sz="1500" b="1">
                <a:solidFill>
                  <a:srgbClr val="087E8B"/>
                </a:solidFill>
              </a:defRPr>
            </a:lvl1pPr>
            <a:lvl2pPr>
              <a:defRPr sz="1500" b="1">
                <a:solidFill>
                  <a:srgbClr val="087E8B"/>
                </a:solidFill>
              </a:defRPr>
            </a:lvl2pPr>
            <a:lvl3pPr>
              <a:defRPr sz="1500" b="1">
                <a:solidFill>
                  <a:srgbClr val="087E8B"/>
                </a:solidFill>
              </a:defRPr>
            </a:lvl3pPr>
            <a:lvl4pPr>
              <a:defRPr sz="1500" b="1">
                <a:solidFill>
                  <a:srgbClr val="087E8B"/>
                </a:solidFill>
              </a:defRPr>
            </a:lvl4pPr>
            <a:lvl5pPr>
              <a:defRPr sz="1500" b="1">
                <a:solidFill>
                  <a:srgbClr val="087E8B"/>
                </a:solidFill>
              </a:defRPr>
            </a:lvl5pPr>
            <a:lvl6pPr>
              <a:defRPr sz="1500" b="1">
                <a:solidFill>
                  <a:srgbClr val="087E8B"/>
                </a:solidFill>
              </a:defRPr>
            </a:lvl6pPr>
            <a:lvl7pPr>
              <a:defRPr sz="1500" b="1">
                <a:solidFill>
                  <a:srgbClr val="087E8B"/>
                </a:solidFill>
              </a:defRPr>
            </a:lvl7pPr>
            <a:lvl8pPr>
              <a:defRPr sz="1500" b="1">
                <a:solidFill>
                  <a:srgbClr val="087E8B"/>
                </a:solidFill>
              </a:defRPr>
            </a:lvl8pPr>
            <a:lvl9pPr>
              <a:defRPr sz="150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E8B"/>
                </a:solidFill>
              </a:defRPr>
            </a:pPr>
            <a:r>
              <a:rPr sz="1500" b="1">
                <a:solidFill>
                  <a:srgbClr val="087E8B"/>
                </a:solidFill>
              </a:rPr>
              <a:t>Use as a regional screening exercise until checked against local incident records.</a:t>
            </a:r>
          </a:p>
        </p:txBody>
      </p:sp>
    </p:spTree>
    <p:extLst>
      <p:ext uri="{BB962C8B-B14F-4D97-AF65-F5344CB8AC3E}">
        <p14:creationId xmlns:p14="http://schemas.microsoft.com/office/powerpoint/2010/main" val="14485521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09F1D-B0F5-4DF2-ACC5-FCAC87CA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Reproduce and extend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91F2F-EF4E-43AB-BD2D-BD37D850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98A64-6081-44D8-82DE-F43912F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C6636-C596-48AE-9A33-D8319CE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E5E46-BD8D-4798-B63C-4787CFB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python run.py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03F99-78EF-47C0-82D6-B8CE8BD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51128-8AC4-4E0C-A151-B4D7916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maps · figures · metrics · model · logs ·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B6DE-DA96-4805-B7BA-47CA4B8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FF221-0343-494E-BD43-60C9457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8B"/>
                </a:solidFill>
              </a:defRPr>
            </a:defPPr>
            <a:lvl1pPr>
              <a:defRPr sz="1800" b="1">
                <a:solidFill>
                  <a:srgbClr val="087E8B"/>
                </a:solidFill>
              </a:defRPr>
            </a:lvl1pPr>
            <a:lvl2pPr>
              <a:defRPr sz="1800" b="1">
                <a:solidFill>
                  <a:srgbClr val="087E8B"/>
                </a:solidFill>
              </a:defRPr>
            </a:lvl2pPr>
            <a:lvl3pPr>
              <a:defRPr sz="1800" b="1">
                <a:solidFill>
                  <a:srgbClr val="087E8B"/>
                </a:solidFill>
              </a:defRPr>
            </a:lvl3pPr>
            <a:lvl4pPr>
              <a:defRPr sz="1800" b="1">
                <a:solidFill>
                  <a:srgbClr val="087E8B"/>
                </a:solidFill>
              </a:defRPr>
            </a:lvl4pPr>
            <a:lvl5pPr>
              <a:defRPr sz="1800" b="1">
                <a:solidFill>
                  <a:srgbClr val="087E8B"/>
                </a:solidFill>
              </a:defRPr>
            </a:lvl5pPr>
            <a:lvl6pPr>
              <a:defRPr sz="1800" b="1">
                <a:solidFill>
                  <a:srgbClr val="087E8B"/>
                </a:solidFill>
              </a:defRPr>
            </a:lvl6pPr>
            <a:lvl7pPr>
              <a:defRPr sz="1800" b="1">
                <a:solidFill>
                  <a:srgbClr val="087E8B"/>
                </a:solidFill>
              </a:defRPr>
            </a:lvl7pPr>
            <a:lvl8pPr>
              <a:defRPr sz="1800" b="1">
                <a:solidFill>
                  <a:srgbClr val="087E8B"/>
                </a:solidFill>
              </a:defRPr>
            </a:lvl8pPr>
            <a:lvl9pPr>
              <a:defRPr sz="1800" b="1">
                <a:solidFill>
                  <a:srgbClr val="087E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8B"/>
                </a:solidFill>
              </a:defRPr>
            </a:pPr>
            <a:r>
              <a:rPr sz="1800" b="1">
                <a:solidFill>
                  <a:srgbClr val="087E8B"/>
                </a:solidFill>
              </a:rPr>
              <a:t>Next validation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21A9E-D419-44BA-A3BD-F481BCA6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B53"/>
                </a:solidFill>
              </a:defRPr>
            </a:defPPr>
            <a:lvl1pPr>
              <a:defRPr sz="2100" b="0">
                <a:solidFill>
                  <a:srgbClr val="243B53"/>
                </a:solidFill>
              </a:defRPr>
            </a:lvl1pPr>
            <a:lvl2pPr>
              <a:defRPr sz="2100" b="0">
                <a:solidFill>
                  <a:srgbClr val="243B53"/>
                </a:solidFill>
              </a:defRPr>
            </a:lvl2pPr>
            <a:lvl3pPr>
              <a:defRPr sz="2100" b="0">
                <a:solidFill>
                  <a:srgbClr val="243B53"/>
                </a:solidFill>
              </a:defRPr>
            </a:lvl3pPr>
            <a:lvl4pPr>
              <a:defRPr sz="2100" b="0">
                <a:solidFill>
                  <a:srgbClr val="243B53"/>
                </a:solidFill>
              </a:defRPr>
            </a:lvl4pPr>
            <a:lvl5pPr>
              <a:defRPr sz="2100" b="0">
                <a:solidFill>
                  <a:srgbClr val="243B53"/>
                </a:solidFill>
              </a:defRPr>
            </a:lvl5pPr>
            <a:lvl6pPr>
              <a:defRPr sz="2100" b="0">
                <a:solidFill>
                  <a:srgbClr val="243B53"/>
                </a:solidFill>
              </a:defRPr>
            </a:lvl6pPr>
            <a:lvl7pPr>
              <a:defRPr sz="2100" b="0">
                <a:solidFill>
                  <a:srgbClr val="243B53"/>
                </a:solidFill>
              </a:defRPr>
            </a:lvl7pPr>
            <a:lvl8pPr>
              <a:defRPr sz="2100" b="0">
                <a:solidFill>
                  <a:srgbClr val="243B53"/>
                </a:solidFill>
              </a:defRPr>
            </a:lvl8pPr>
            <a:lvl9pPr>
              <a:defRPr sz="21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B53"/>
                </a:solidFill>
              </a:defRPr>
            </a:pPr>
            <a:r>
              <a:rPr sz="2100" b="0">
                <a:solidFill>
                  <a:srgbClr val="243B53"/>
                </a:solidFill>
              </a:rPr>
              <a:t>Join local fire-service incidents, add recent satellite data, then repeat spatial and time-based evaluation.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67417-921A-477D-9DEC-E5CDBA2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16B"/>
                </a:solidFill>
              </a:defRPr>
            </a:defPPr>
            <a:lvl1pPr>
              <a:defRPr sz="1425" b="0">
                <a:solidFill>
                  <a:srgbClr val="52616B"/>
                </a:solidFill>
              </a:defRPr>
            </a:lvl1pPr>
            <a:lvl2pPr>
              <a:defRPr sz="1425" b="0">
                <a:solidFill>
                  <a:srgbClr val="52616B"/>
                </a:solidFill>
              </a:defRPr>
            </a:lvl2pPr>
            <a:lvl3pPr>
              <a:defRPr sz="1425" b="0">
                <a:solidFill>
                  <a:srgbClr val="52616B"/>
                </a:solidFill>
              </a:defRPr>
            </a:lvl3pPr>
            <a:lvl4pPr>
              <a:defRPr sz="1425" b="0">
                <a:solidFill>
                  <a:srgbClr val="52616B"/>
                </a:solidFill>
              </a:defRPr>
            </a:lvl4pPr>
            <a:lvl5pPr>
              <a:defRPr sz="1425" b="0">
                <a:solidFill>
                  <a:srgbClr val="52616B"/>
                </a:solidFill>
              </a:defRPr>
            </a:lvl5pPr>
            <a:lvl6pPr>
              <a:defRPr sz="1425" b="0">
                <a:solidFill>
                  <a:srgbClr val="52616B"/>
                </a:solidFill>
              </a:defRPr>
            </a:lvl6pPr>
            <a:lvl7pPr>
              <a:defRPr sz="1425" b="0">
                <a:solidFill>
                  <a:srgbClr val="52616B"/>
                </a:solidFill>
              </a:defRPr>
            </a:lvl7pPr>
            <a:lvl8pPr>
              <a:defRPr sz="1425" b="0">
                <a:solidFill>
                  <a:srgbClr val="52616B"/>
                </a:solidFill>
              </a:defRPr>
            </a:lvl8pPr>
            <a:lvl9pPr>
              <a:defRPr sz="1425" b="0">
                <a:solidFill>
                  <a:srgbClr val="526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Source archive and weather cache stay local; generated outputs are saved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945869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2026-10-22T17:28:10.9790000Z</dcterms:created>
  <dcterms:modified xsi:type="dcterms:W3CDTF">2026-10-22T17:28:10.9790000Z</dcterms:modified>
</coreProperties>
</file>