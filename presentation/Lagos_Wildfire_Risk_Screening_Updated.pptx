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full model compares Random Forest and HistGradientBoosting; five-fold spatial validation selected HistGradientBoosting. The map summarizes three native 0.25-degree Lagos cell scores for the 2003–2016 historical period.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model learns a monthly satellite-observed fire-occurrence target across Nigeria and summarizes scores for Lagos. The saved evaluation is geographic holdout validation against Global Fire Atlas labels.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Sources: Global Fire Atlas, https://zenodo.org/records/14065246 ; Open-Meteo Historical Weather API / ERA5, https://open-meteo.com/en/docs/historical-weather-api ; MODIS MOD13Q1 NDVI/EVI, https://developers.google.com/earth-engine/datasets/catalog/MODIS_061_MOD13Q1 ; MODIS MOD11A2 LST, https://developers.google.com/earth-engine/datasets/catalog/MODIS_061_MOD11A2 ; Nigeria state polygons, https://gist.github.com/segebee/ff4a2f75be560462c369 . MODIS monthly means were quality-masked and reduced to cell-month summaries in Earth Engine.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HistGradientBoosting is a histogram-based gradient-boosted decision tree classifier from scikit-learn. Model candidates use balanced sample weights. GroupKFold holds out 2-degree geographic blocks. The same 0.25-degree Global Fire Atlas grid is used for training and Lagos prediction.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Five-fold GroupKFold results on 191,976 complete rows: ROC AUC 0.944 (fold SD 0.013), average precision 0.809, Brier 0.092. At threshold 0.50, precision is 0.613, recall 0.873, F1 0.721. The chart displays 1 minus Brier (0.908) so all bars share a higher-is-better direction.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three Lagos grid-cell centers have mean model scores 0.2398, 0.2331, and 0.1530. The map uses relative percentiles across only those displayed cells. Scores are historical model outputs, not calibrated incident probabilities.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seasonal profile and permutation importance come from the current full model. The four leading features are month_cos, EVI, latitude, and longitude. Importance is not a causal effect. SHAP was unavailable in this runtime, so permutation importance is the labelled method.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Two evaluation tracks are presented separately. Nigeria-wide five-fold spatial cross-validation tests the Global Fire Atlas target in spatially held-out blocks. The independent temporal/sensor holdout applies the frozen 2003–2016 model to three Lagos cells for 2017–2024 and compares with NASA VIIRS VNP14A1 detections. This is satellite-proxy evaluation, distinct from local fire-service records.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later-period Lagos VIIRS holdout is complete: 284 complete cell-months, ROC AUC 0.856, average precision 0.894, Brier score 0.396. The local service-record comparison is the next evaluation step. Reproduction instructions: README.md and scripts/validate_lagos_viirs.py. Source: NASA VIIRS VNP14A1, https://developers.google.com/earth-engine/datasets/catalog/NASA_VIIRS_002_VNP14A1 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367A369-D732-4330-BD3B-42E25368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00074B7-D3AC-4D85-BB06-F7B9EF637D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DE0BD67-E5AA-434E-9B16-2151AF866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91E81AB-DF45-48A8-89DA-C91E40BAD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02D4D0B-C04C-4B2D-B3A6-1302C5D1A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A8DD417-698B-42EF-8DBB-AA2C3CD35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DC7BF17-4BCB-464D-BB38-78BE88B0B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E024A7D-9E21-4C8E-B5D3-EE5547A4839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747BF7F-5882-492B-B67C-A670E4021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4C25DBC-F68D-4BAE-BDA2-F3405A65F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FF4A0C-5951-4769-8176-E702ED7299B9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85725" cy="4095750"/>
          </a:xfrm>
          <a:prstGeom prst="rect">
            <a:avLst/>
          </a:prstGeom>
          <a:solidFill>
            <a:srgbClr val="F2A900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502057-984F-489B-8BFA-7F30F902BE2F}"/>
              </a:ext>
            </a:extLst>
          </p:cNvPr>
          <p:cNvSpPr>
            <a:spLocks noGrp="1"/>
          </p:cNvSpPr>
          <p:nvPr/>
        </p:nvSpPr>
        <p:spPr>
          <a:xfrm>
            <a:off x="1066800" y="1428750"/>
            <a:ext cx="7239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4350" b="1">
                <a:solidFill>
                  <a:srgbClr val="FFFFFF"/>
                </a:solidFill>
              </a:defRPr>
            </a:defPPr>
            <a:lvl1pPr>
              <a:defRPr sz="4350" b="1">
                <a:solidFill>
                  <a:srgbClr val="FFFFFF"/>
                </a:solidFill>
              </a:defRPr>
            </a:lvl1pPr>
            <a:lvl2pPr>
              <a:defRPr sz="4350" b="1">
                <a:solidFill>
                  <a:srgbClr val="FFFFFF"/>
                </a:solidFill>
              </a:defRPr>
            </a:lvl2pPr>
            <a:lvl3pPr>
              <a:defRPr sz="4350" b="1">
                <a:solidFill>
                  <a:srgbClr val="FFFFFF"/>
                </a:solidFill>
              </a:defRPr>
            </a:lvl3pPr>
            <a:lvl4pPr>
              <a:defRPr sz="4350" b="1">
                <a:solidFill>
                  <a:srgbClr val="FFFFFF"/>
                </a:solidFill>
              </a:defRPr>
            </a:lvl4pPr>
            <a:lvl5pPr>
              <a:defRPr sz="4350" b="1">
                <a:solidFill>
                  <a:srgbClr val="FFFFFF"/>
                </a:solidFill>
              </a:defRPr>
            </a:lvl5pPr>
            <a:lvl6pPr>
              <a:defRPr sz="4350" b="1">
                <a:solidFill>
                  <a:srgbClr val="FFFFFF"/>
                </a:solidFill>
              </a:defRPr>
            </a:lvl6pPr>
            <a:lvl7pPr>
              <a:defRPr sz="4350" b="1">
                <a:solidFill>
                  <a:srgbClr val="FFFFFF"/>
                </a:solidFill>
              </a:defRPr>
            </a:lvl7pPr>
            <a:lvl8pPr>
              <a:defRPr sz="4350" b="1">
                <a:solidFill>
                  <a:srgbClr val="FFFFFF"/>
                </a:solidFill>
              </a:defRPr>
            </a:lvl8pPr>
            <a:lvl9pPr>
              <a:defRPr sz="4350" b="1">
                <a:solidFill>
                  <a:srgbClr val="FFFFFF"/>
                </a:solidFill>
              </a:defRPr>
            </a:lvl9pPr>
          </a:lstStyle>
          <a:p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Lagos Wildfire</a:t>
            </a:r>
          </a:p>
          <a:p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Risk Screening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7A90D3-14CF-4CA8-8A05-A62A6A8F25E2}"/>
              </a:ext>
            </a:extLst>
          </p:cNvPr>
          <p:cNvSpPr>
            <a:spLocks noGrp="1"/>
          </p:cNvSpPr>
          <p:nvPr/>
        </p:nvSpPr>
        <p:spPr>
          <a:xfrm>
            <a:off x="1104900" y="3381375"/>
            <a:ext cx="704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0">
                <a:solidFill>
                  <a:srgbClr val="B7DDE0"/>
                </a:solidFill>
              </a:defRPr>
            </a:defPPr>
            <a:lvl1pPr>
              <a:defRPr sz="2100" b="0">
                <a:solidFill>
                  <a:srgbClr val="B7DDE0"/>
                </a:solidFill>
              </a:defRPr>
            </a:lvl1pPr>
            <a:lvl2pPr>
              <a:defRPr sz="2100" b="0">
                <a:solidFill>
                  <a:srgbClr val="B7DDE0"/>
                </a:solidFill>
              </a:defRPr>
            </a:lvl2pPr>
            <a:lvl3pPr>
              <a:defRPr sz="2100" b="0">
                <a:solidFill>
                  <a:srgbClr val="B7DDE0"/>
                </a:solidFill>
              </a:defRPr>
            </a:lvl3pPr>
            <a:lvl4pPr>
              <a:defRPr sz="2100" b="0">
                <a:solidFill>
                  <a:srgbClr val="B7DDE0"/>
                </a:solidFill>
              </a:defRPr>
            </a:lvl4pPr>
            <a:lvl5pPr>
              <a:defRPr sz="2100" b="0">
                <a:solidFill>
                  <a:srgbClr val="B7DDE0"/>
                </a:solidFill>
              </a:defRPr>
            </a:lvl5pPr>
            <a:lvl6pPr>
              <a:defRPr sz="2100" b="0">
                <a:solidFill>
                  <a:srgbClr val="B7DDE0"/>
                </a:solidFill>
              </a:defRPr>
            </a:lvl6pPr>
            <a:lvl7pPr>
              <a:defRPr sz="2100" b="0">
                <a:solidFill>
                  <a:srgbClr val="B7DDE0"/>
                </a:solidFill>
              </a:defRPr>
            </a:lvl7pPr>
            <a:lvl8pPr>
              <a:defRPr sz="2100" b="0">
                <a:solidFill>
                  <a:srgbClr val="B7DDE0"/>
                </a:solidFill>
              </a:defRPr>
            </a:lvl8pPr>
            <a:lvl9pPr>
              <a:defRPr sz="2100" b="0">
                <a:solidFill>
                  <a:srgbClr val="B7DDE0"/>
                </a:solidFill>
              </a:defRPr>
            </a:lvl9pPr>
          </a:lstStyle>
          <a:p>
            <a:pPr>
              <a:defRPr sz="2100" b="0">
                <a:solidFill>
                  <a:srgbClr val="B7DDE0"/>
                </a:solidFill>
              </a:defRPr>
            </a:pPr>
            <a:r>
              <a:rPr sz="2100" b="0">
                <a:solidFill>
                  <a:srgbClr val="B7DDE0"/>
                </a:solidFill>
              </a:rPr>
              <a:t>SIWES geospatial machine learning capstone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8FA75F-06A6-449B-A683-E109C8A943AF}"/>
              </a:ext>
            </a:extLst>
          </p:cNvPr>
          <p:cNvSpPr>
            <a:spLocks noGrp="1"/>
          </p:cNvSpPr>
          <p:nvPr/>
        </p:nvSpPr>
        <p:spPr>
          <a:xfrm>
            <a:off x="1104900" y="4038600"/>
            <a:ext cx="685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D9E2EC"/>
                </a:solidFill>
              </a:defRPr>
            </a:defPPr>
            <a:lvl1pPr>
              <a:defRPr sz="1575" b="0">
                <a:solidFill>
                  <a:srgbClr val="D9E2EC"/>
                </a:solidFill>
              </a:defRPr>
            </a:lvl1pPr>
            <a:lvl2pPr>
              <a:defRPr sz="1575" b="0">
                <a:solidFill>
                  <a:srgbClr val="D9E2EC"/>
                </a:solidFill>
              </a:defRPr>
            </a:lvl2pPr>
            <a:lvl3pPr>
              <a:defRPr sz="1575" b="0">
                <a:solidFill>
                  <a:srgbClr val="D9E2EC"/>
                </a:solidFill>
              </a:defRPr>
            </a:lvl3pPr>
            <a:lvl4pPr>
              <a:defRPr sz="1575" b="0">
                <a:solidFill>
                  <a:srgbClr val="D9E2EC"/>
                </a:solidFill>
              </a:defRPr>
            </a:lvl4pPr>
            <a:lvl5pPr>
              <a:defRPr sz="1575" b="0">
                <a:solidFill>
                  <a:srgbClr val="D9E2EC"/>
                </a:solidFill>
              </a:defRPr>
            </a:lvl5pPr>
            <a:lvl6pPr>
              <a:defRPr sz="1575" b="0">
                <a:solidFill>
                  <a:srgbClr val="D9E2EC"/>
                </a:solidFill>
              </a:defRPr>
            </a:lvl6pPr>
            <a:lvl7pPr>
              <a:defRPr sz="1575" b="0">
                <a:solidFill>
                  <a:srgbClr val="D9E2EC"/>
                </a:solidFill>
              </a:defRPr>
            </a:lvl7pPr>
            <a:lvl8pPr>
              <a:defRPr sz="1575" b="0">
                <a:solidFill>
                  <a:srgbClr val="D9E2EC"/>
                </a:solidFill>
              </a:defRPr>
            </a:lvl8pPr>
            <a:lvl9pPr>
              <a:defRPr sz="1575" b="0">
                <a:solidFill>
                  <a:srgbClr val="D9E2EC"/>
                </a:solidFill>
              </a:defRPr>
            </a:lvl9pPr>
          </a:lstStyle>
          <a:p>
            <a:pPr>
              <a:defRPr sz="1575" b="0">
                <a:solidFill>
                  <a:srgbClr val="D9E2EC"/>
                </a:solidFill>
              </a:defRPr>
            </a:pPr>
            <a:r>
              <a:rPr sz="1575" b="0">
                <a:solidFill>
                  <a:srgbClr val="D9E2EC"/>
                </a:solidFill>
              </a:rPr>
              <a:t>Project 3  |  Historical fire patterns and climate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EA4411-20AD-4A0D-B4CF-286DEF6EE607}"/>
              </a:ext>
            </a:extLst>
          </p:cNvPr>
          <p:cNvSpPr>
            <a:spLocks noGrp="1"/>
          </p:cNvSpPr>
          <p:nvPr/>
        </p:nvSpPr>
        <p:spPr>
          <a:xfrm>
            <a:off x="1104900" y="4572000"/>
            <a:ext cx="6858000" cy="3116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spAutoFit/>
          </a:bodyPr>
          <a:lstStyle>
            <a:defPPr>
              <a:defRPr sz="1425" b="0">
                <a:solidFill>
                  <a:srgbClr val="D9E2EC"/>
                </a:solidFill>
              </a:defRPr>
            </a:defPPr>
            <a:lvl1pPr>
              <a:defRPr sz="1425" b="0">
                <a:solidFill>
                  <a:srgbClr val="D9E2EC"/>
                </a:solidFill>
              </a:defRPr>
            </a:lvl1pPr>
            <a:lvl2pPr>
              <a:defRPr sz="1425" b="0">
                <a:solidFill>
                  <a:srgbClr val="D9E2EC"/>
                </a:solidFill>
              </a:defRPr>
            </a:lvl2pPr>
            <a:lvl3pPr>
              <a:defRPr sz="1425" b="0">
                <a:solidFill>
                  <a:srgbClr val="D9E2EC"/>
                </a:solidFill>
              </a:defRPr>
            </a:lvl3pPr>
            <a:lvl4pPr>
              <a:defRPr sz="1425" b="0">
                <a:solidFill>
                  <a:srgbClr val="D9E2EC"/>
                </a:solidFill>
              </a:defRPr>
            </a:lvl4pPr>
            <a:lvl5pPr>
              <a:defRPr sz="1425" b="0">
                <a:solidFill>
                  <a:srgbClr val="D9E2EC"/>
                </a:solidFill>
              </a:defRPr>
            </a:lvl5pPr>
            <a:lvl6pPr>
              <a:defRPr sz="1425" b="0">
                <a:solidFill>
                  <a:srgbClr val="D9E2EC"/>
                </a:solidFill>
              </a:defRPr>
            </a:lvl6pPr>
            <a:lvl7pPr>
              <a:defRPr sz="1425" b="0">
                <a:solidFill>
                  <a:srgbClr val="D9E2EC"/>
                </a:solidFill>
              </a:defRPr>
            </a:lvl7pPr>
            <a:lvl8pPr>
              <a:defRPr sz="1425" b="0">
                <a:solidFill>
                  <a:srgbClr val="D9E2EC"/>
                </a:solidFill>
              </a:defRPr>
            </a:lvl8pPr>
            <a:lvl9pPr>
              <a:defRPr sz="1425" b="0">
                <a:solidFill>
                  <a:srgbClr val="D9E2EC"/>
                </a:solidFill>
              </a:defRPr>
            </a:lvl9pPr>
          </a:lstStyle>
          <a:p>
            <a:pPr>
              <a:defRPr sz="1425" b="0">
                <a:solidFill>
                  <a:srgbClr val="D9E2EC"/>
                </a:solidFill>
              </a:defRPr>
            </a:pPr>
            <a:r>
              <a:rPr lang="it-IT" sz="1425" b="0">
                <a:solidFill>
                  <a:srgbClr val="D9E2EC"/>
                </a:solidFill>
              </a:rPr>
              <a:t>Nigeria  •  MODIS + ERA5 + satellite fires  •  2003–2016</a:t>
            </a:r>
            <a:endParaRPr sz="1425" b="0">
              <a:solidFill>
                <a:srgbClr val="D9E2EC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979B91-B184-469A-AC78-609FF5DDCB10}"/>
              </a:ext>
            </a:extLst>
          </p:cNvPr>
          <p:cNvSpPr>
            <a:spLocks noGrp="1"/>
          </p:cNvSpPr>
          <p:nvPr/>
        </p:nvSpPr>
        <p:spPr>
          <a:xfrm>
            <a:off x="1104900" y="5791200"/>
            <a:ext cx="8953500" cy="3000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spAutoFit/>
          </a:bodyPr>
          <a:lstStyle>
            <a:defPPr>
              <a:defRPr sz="1350" b="0">
                <a:solidFill>
                  <a:srgbClr val="C3D3DF"/>
                </a:solidFill>
              </a:defRPr>
            </a:defPPr>
            <a:lvl1pPr>
              <a:defRPr sz="1350" b="0">
                <a:solidFill>
                  <a:srgbClr val="C3D3DF"/>
                </a:solidFill>
              </a:defRPr>
            </a:lvl1pPr>
            <a:lvl2pPr>
              <a:defRPr sz="1350" b="0">
                <a:solidFill>
                  <a:srgbClr val="C3D3DF"/>
                </a:solidFill>
              </a:defRPr>
            </a:lvl2pPr>
            <a:lvl3pPr>
              <a:defRPr sz="1350" b="0">
                <a:solidFill>
                  <a:srgbClr val="C3D3DF"/>
                </a:solidFill>
              </a:defRPr>
            </a:lvl3pPr>
            <a:lvl4pPr>
              <a:defRPr sz="1350" b="0">
                <a:solidFill>
                  <a:srgbClr val="C3D3DF"/>
                </a:solidFill>
              </a:defRPr>
            </a:lvl4pPr>
            <a:lvl5pPr>
              <a:defRPr sz="1350" b="0">
                <a:solidFill>
                  <a:srgbClr val="C3D3DF"/>
                </a:solidFill>
              </a:defRPr>
            </a:lvl5pPr>
            <a:lvl6pPr>
              <a:defRPr sz="1350" b="0">
                <a:solidFill>
                  <a:srgbClr val="C3D3DF"/>
                </a:solidFill>
              </a:defRPr>
            </a:lvl6pPr>
            <a:lvl7pPr>
              <a:defRPr sz="1350" b="0">
                <a:solidFill>
                  <a:srgbClr val="C3D3DF"/>
                </a:solidFill>
              </a:defRPr>
            </a:lvl7pPr>
            <a:lvl8pPr>
              <a:defRPr sz="1350" b="0">
                <a:solidFill>
                  <a:srgbClr val="C3D3DF"/>
                </a:solidFill>
              </a:defRPr>
            </a:lvl8pPr>
            <a:lvl9pPr>
              <a:defRPr sz="1350" b="0">
                <a:solidFill>
                  <a:srgbClr val="C3D3DF"/>
                </a:solidFill>
              </a:defRPr>
            </a:lvl9pPr>
          </a:lstStyle>
          <a:p>
            <a:pPr>
              <a:defRPr sz="1350" b="0">
                <a:solidFill>
                  <a:srgbClr val="C3D3DF"/>
                </a:solidFill>
              </a:defRPr>
            </a:pPr>
            <a:r>
              <a:rPr lang="en-US" sz="1350" b="0">
                <a:solidFill>
                  <a:srgbClr val="C3D3DF"/>
                </a:solidFill>
              </a:rPr>
              <a:t>HistGradientBoosting trained across Nigeria; Lagos map uses three native 0.25° cells.</a:t>
            </a:r>
            <a:endParaRPr sz="1350" b="0">
              <a:solidFill>
                <a:srgbClr val="C3D3D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777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976456A-8C77-4045-8885-853D98BDCAA5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925" b="1">
                <a:solidFill>
                  <a:srgbClr val="102A43"/>
                </a:solidFill>
              </a:defRPr>
            </a:defPPr>
            <a:lvl1pPr>
              <a:defRPr sz="2925" b="1">
                <a:solidFill>
                  <a:srgbClr val="102A43"/>
                </a:solidFill>
              </a:defRPr>
            </a:lvl1pPr>
            <a:lvl2pPr>
              <a:defRPr sz="2925" b="1">
                <a:solidFill>
                  <a:srgbClr val="102A43"/>
                </a:solidFill>
              </a:defRPr>
            </a:lvl2pPr>
            <a:lvl3pPr>
              <a:defRPr sz="2925" b="1">
                <a:solidFill>
                  <a:srgbClr val="102A43"/>
                </a:solidFill>
              </a:defRPr>
            </a:lvl3pPr>
            <a:lvl4pPr>
              <a:defRPr sz="2925" b="1">
                <a:solidFill>
                  <a:srgbClr val="102A43"/>
                </a:solidFill>
              </a:defRPr>
            </a:lvl4pPr>
            <a:lvl5pPr>
              <a:defRPr sz="2925" b="1">
                <a:solidFill>
                  <a:srgbClr val="102A43"/>
                </a:solidFill>
              </a:defRPr>
            </a:lvl5pPr>
            <a:lvl6pPr>
              <a:defRPr sz="2925" b="1">
                <a:solidFill>
                  <a:srgbClr val="102A43"/>
                </a:solidFill>
              </a:defRPr>
            </a:lvl6pPr>
            <a:lvl7pPr>
              <a:defRPr sz="2925" b="1">
                <a:solidFill>
                  <a:srgbClr val="102A43"/>
                </a:solidFill>
              </a:defRPr>
            </a:lvl7pPr>
            <a:lvl8pPr>
              <a:defRPr sz="2925" b="1">
                <a:solidFill>
                  <a:srgbClr val="102A43"/>
                </a:solidFill>
              </a:defRPr>
            </a:lvl8pPr>
            <a:lvl9pPr>
              <a:defRPr sz="2925" b="1">
                <a:solidFill>
                  <a:srgbClr val="102A43"/>
                </a:solidFill>
              </a:defRPr>
            </a:lvl9pPr>
          </a:lstStyle>
          <a:p>
            <a:pPr>
              <a:defRPr sz="2925" b="1">
                <a:solidFill>
                  <a:srgbClr val="102A43"/>
                </a:solidFill>
              </a:defRPr>
            </a:pPr>
            <a:r>
              <a:rPr sz="2925" b="1">
                <a:solidFill>
                  <a:srgbClr val="102A43"/>
                </a:solidFill>
              </a:rPr>
              <a:t>Study question and scope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4586A3-4613-417F-B996-029B9743FB7D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723900" cy="47625"/>
          </a:xfrm>
          <a:prstGeom prst="rect">
            <a:avLst/>
          </a:prstGeom>
          <a:solidFill>
            <a:srgbClr val="087E8B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22DCF-FBDC-48BC-9BEA-4DAFBBF59C18}"/>
              </a:ext>
            </a:extLst>
          </p:cNvPr>
          <p:cNvSpPr>
            <a:spLocks noGrp="1"/>
          </p:cNvSpPr>
          <p:nvPr/>
        </p:nvSpPr>
        <p:spPr>
          <a:xfrm>
            <a:off x="11239500" y="632460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52616B"/>
                </a:solidFill>
              </a:defRPr>
            </a:defPPr>
            <a:lvl1pPr>
              <a:defRPr sz="1200" b="1">
                <a:solidFill>
                  <a:srgbClr val="52616B"/>
                </a:solidFill>
              </a:defRPr>
            </a:lvl1pPr>
            <a:lvl2pPr>
              <a:defRPr sz="1200" b="1">
                <a:solidFill>
                  <a:srgbClr val="52616B"/>
                </a:solidFill>
              </a:defRPr>
            </a:lvl2pPr>
            <a:lvl3pPr>
              <a:defRPr sz="1200" b="1">
                <a:solidFill>
                  <a:srgbClr val="52616B"/>
                </a:solidFill>
              </a:defRPr>
            </a:lvl3pPr>
            <a:lvl4pPr>
              <a:defRPr sz="1200" b="1">
                <a:solidFill>
                  <a:srgbClr val="52616B"/>
                </a:solidFill>
              </a:defRPr>
            </a:lvl4pPr>
            <a:lvl5pPr>
              <a:defRPr sz="1200" b="1">
                <a:solidFill>
                  <a:srgbClr val="52616B"/>
                </a:solidFill>
              </a:defRPr>
            </a:lvl5pPr>
            <a:lvl6pPr>
              <a:defRPr sz="1200" b="1">
                <a:solidFill>
                  <a:srgbClr val="52616B"/>
                </a:solidFill>
              </a:defRPr>
            </a:lvl6pPr>
            <a:lvl7pPr>
              <a:defRPr sz="1200" b="1">
                <a:solidFill>
                  <a:srgbClr val="52616B"/>
                </a:solidFill>
              </a:defRPr>
            </a:lvl7pPr>
            <a:lvl8pPr>
              <a:defRPr sz="1200" b="1">
                <a:solidFill>
                  <a:srgbClr val="52616B"/>
                </a:solidFill>
              </a:defRPr>
            </a:lvl8pPr>
            <a:lvl9pPr>
              <a:defRPr sz="1200" b="1">
                <a:solidFill>
                  <a:srgbClr val="52616B"/>
                </a:solidFill>
              </a:defRPr>
            </a:lvl9pPr>
          </a:lstStyle>
          <a:p>
            <a:pPr>
              <a:defRPr sz="1200" b="1">
                <a:solidFill>
                  <a:srgbClr val="52616B"/>
                </a:solidFill>
              </a:defRPr>
            </a:pPr>
            <a:r>
              <a:rPr sz="1200" b="1">
                <a:solidFill>
                  <a:srgbClr val="52616B"/>
                </a:solidFill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D8CE8B-EE5B-4EFA-8216-F1F8B66E9C84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87E8B"/>
                </a:solidFill>
              </a:defRPr>
            </a:defPPr>
            <a:lvl1pPr>
              <a:defRPr sz="1875" b="1">
                <a:solidFill>
                  <a:srgbClr val="087E8B"/>
                </a:solidFill>
              </a:defRPr>
            </a:lvl1pPr>
            <a:lvl2pPr>
              <a:defRPr sz="1875" b="1">
                <a:solidFill>
                  <a:srgbClr val="087E8B"/>
                </a:solidFill>
              </a:defRPr>
            </a:lvl2pPr>
            <a:lvl3pPr>
              <a:defRPr sz="1875" b="1">
                <a:solidFill>
                  <a:srgbClr val="087E8B"/>
                </a:solidFill>
              </a:defRPr>
            </a:lvl3pPr>
            <a:lvl4pPr>
              <a:defRPr sz="1875" b="1">
                <a:solidFill>
                  <a:srgbClr val="087E8B"/>
                </a:solidFill>
              </a:defRPr>
            </a:lvl4pPr>
            <a:lvl5pPr>
              <a:defRPr sz="1875" b="1">
                <a:solidFill>
                  <a:srgbClr val="087E8B"/>
                </a:solidFill>
              </a:defRPr>
            </a:lvl5pPr>
            <a:lvl6pPr>
              <a:defRPr sz="1875" b="1">
                <a:solidFill>
                  <a:srgbClr val="087E8B"/>
                </a:solidFill>
              </a:defRPr>
            </a:lvl6pPr>
            <a:lvl7pPr>
              <a:defRPr sz="1875" b="1">
                <a:solidFill>
                  <a:srgbClr val="087E8B"/>
                </a:solidFill>
              </a:defRPr>
            </a:lvl7pPr>
            <a:lvl8pPr>
              <a:defRPr sz="1875" b="1">
                <a:solidFill>
                  <a:srgbClr val="087E8B"/>
                </a:solidFill>
              </a:defRPr>
            </a:lvl8pPr>
            <a:lvl9pPr>
              <a:defRPr sz="1875" b="1">
                <a:solidFill>
                  <a:srgbClr val="087E8B"/>
                </a:solidFill>
              </a:defRPr>
            </a:lvl9pPr>
          </a:lstStyle>
          <a:p>
            <a:pPr>
              <a:defRPr sz="1875" b="1">
                <a:solidFill>
                  <a:srgbClr val="087E8B"/>
                </a:solidFill>
              </a:defRPr>
            </a:pPr>
            <a:r>
              <a:rPr sz="1875" b="1">
                <a:solidFill>
                  <a:srgbClr val="087E8B"/>
                </a:solidFill>
              </a:rPr>
              <a:t>Question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A59ED8-2642-43DE-B720-8963481FDABD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4762500" cy="18235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spAutoFit/>
          </a:bodyPr>
          <a:lstStyle>
            <a:defPPr>
              <a:defRPr sz="2250" b="1">
                <a:solidFill>
                  <a:srgbClr val="102A43"/>
                </a:solidFill>
              </a:defRPr>
            </a:defPPr>
            <a:lvl1pPr>
              <a:defRPr sz="2250" b="1">
                <a:solidFill>
                  <a:srgbClr val="102A43"/>
                </a:solidFill>
              </a:defRPr>
            </a:lvl1pPr>
            <a:lvl2pPr>
              <a:defRPr sz="2250" b="1">
                <a:solidFill>
                  <a:srgbClr val="102A43"/>
                </a:solidFill>
              </a:defRPr>
            </a:lvl2pPr>
            <a:lvl3pPr>
              <a:defRPr sz="2250" b="1">
                <a:solidFill>
                  <a:srgbClr val="102A43"/>
                </a:solidFill>
              </a:defRPr>
            </a:lvl3pPr>
            <a:lvl4pPr>
              <a:defRPr sz="2250" b="1">
                <a:solidFill>
                  <a:srgbClr val="102A43"/>
                </a:solidFill>
              </a:defRPr>
            </a:lvl4pPr>
            <a:lvl5pPr>
              <a:defRPr sz="2250" b="1">
                <a:solidFill>
                  <a:srgbClr val="102A43"/>
                </a:solidFill>
              </a:defRPr>
            </a:lvl5pPr>
            <a:lvl6pPr>
              <a:defRPr sz="2250" b="1">
                <a:solidFill>
                  <a:srgbClr val="102A43"/>
                </a:solidFill>
              </a:defRPr>
            </a:lvl6pPr>
            <a:lvl7pPr>
              <a:defRPr sz="2250" b="1">
                <a:solidFill>
                  <a:srgbClr val="102A43"/>
                </a:solidFill>
              </a:defRPr>
            </a:lvl7pPr>
            <a:lvl8pPr>
              <a:defRPr sz="2250" b="1">
                <a:solidFill>
                  <a:srgbClr val="102A43"/>
                </a:solidFill>
              </a:defRPr>
            </a:lvl8pPr>
            <a:lvl9pPr>
              <a:defRPr sz="2250" b="1">
                <a:solidFill>
                  <a:srgbClr val="102A43"/>
                </a:solidFill>
              </a:defRPr>
            </a:lvl9pPr>
          </a:lstStyle>
          <a:p>
            <a:pPr>
              <a:defRPr sz="2250" b="1">
                <a:solidFill>
                  <a:srgbClr val="102A43"/>
                </a:solidFill>
              </a:defRPr>
            </a:pPr>
            <a:r>
              <a:rPr lang="en-US" sz="2250" b="1">
                <a:solidFill>
                  <a:srgbClr val="102A43"/>
                </a:solidFill>
              </a:rPr>
              <a:t>Where do historical satellite fire observations and environmental conditions indicate stronger monthly fire-occurrence patterns around Lagos?</a:t>
            </a:r>
            <a:endParaRPr sz="2250" b="1">
              <a:solidFill>
                <a:srgbClr val="102A43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2CC022-866E-409F-9CF7-EB82D69FF5DF}"/>
              </a:ext>
            </a:extLst>
          </p:cNvPr>
          <p:cNvSpPr>
            <a:spLocks noGrp="1"/>
          </p:cNvSpPr>
          <p:nvPr/>
        </p:nvSpPr>
        <p:spPr>
          <a:xfrm>
            <a:off x="6324600" y="1524000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87E8B"/>
                </a:solidFill>
              </a:defRPr>
            </a:defPPr>
            <a:lvl1pPr>
              <a:defRPr sz="1875" b="1">
                <a:solidFill>
                  <a:srgbClr val="087E8B"/>
                </a:solidFill>
              </a:defRPr>
            </a:lvl1pPr>
            <a:lvl2pPr>
              <a:defRPr sz="1875" b="1">
                <a:solidFill>
                  <a:srgbClr val="087E8B"/>
                </a:solidFill>
              </a:defRPr>
            </a:lvl2pPr>
            <a:lvl3pPr>
              <a:defRPr sz="1875" b="1">
                <a:solidFill>
                  <a:srgbClr val="087E8B"/>
                </a:solidFill>
              </a:defRPr>
            </a:lvl3pPr>
            <a:lvl4pPr>
              <a:defRPr sz="1875" b="1">
                <a:solidFill>
                  <a:srgbClr val="087E8B"/>
                </a:solidFill>
              </a:defRPr>
            </a:lvl4pPr>
            <a:lvl5pPr>
              <a:defRPr sz="1875" b="1">
                <a:solidFill>
                  <a:srgbClr val="087E8B"/>
                </a:solidFill>
              </a:defRPr>
            </a:lvl5pPr>
            <a:lvl6pPr>
              <a:defRPr sz="1875" b="1">
                <a:solidFill>
                  <a:srgbClr val="087E8B"/>
                </a:solidFill>
              </a:defRPr>
            </a:lvl6pPr>
            <a:lvl7pPr>
              <a:defRPr sz="1875" b="1">
                <a:solidFill>
                  <a:srgbClr val="087E8B"/>
                </a:solidFill>
              </a:defRPr>
            </a:lvl7pPr>
            <a:lvl8pPr>
              <a:defRPr sz="1875" b="1">
                <a:solidFill>
                  <a:srgbClr val="087E8B"/>
                </a:solidFill>
              </a:defRPr>
            </a:lvl8pPr>
            <a:lvl9pPr>
              <a:defRPr sz="1875" b="1">
                <a:solidFill>
                  <a:srgbClr val="087E8B"/>
                </a:solidFill>
              </a:defRPr>
            </a:lvl9pPr>
          </a:lstStyle>
          <a:p>
            <a:pPr>
              <a:defRPr sz="1875" b="1">
                <a:solidFill>
                  <a:srgbClr val="087E8B"/>
                </a:solidFill>
              </a:defRPr>
            </a:pPr>
            <a:r>
              <a:rPr sz="1875" b="1">
                <a:solidFill>
                  <a:srgbClr val="087E8B"/>
                </a:solidFill>
              </a:rPr>
              <a:t>Study design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D725CF-1F7A-47A2-A6FF-22CB0035C892}"/>
              </a:ext>
            </a:extLst>
          </p:cNvPr>
          <p:cNvSpPr>
            <a:spLocks noGrp="1"/>
          </p:cNvSpPr>
          <p:nvPr/>
        </p:nvSpPr>
        <p:spPr>
          <a:xfrm>
            <a:off x="6324600" y="1952625"/>
            <a:ext cx="4762500" cy="10272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spAutoFit/>
          </a:bodyPr>
          <a:lstStyle>
            <a:defPPr>
              <a:defRPr sz="2025" b="0">
                <a:solidFill>
                  <a:srgbClr val="243B53"/>
                </a:solidFill>
              </a:defRPr>
            </a:defPPr>
            <a:lvl1pPr>
              <a:defRPr sz="2025" b="0">
                <a:solidFill>
                  <a:srgbClr val="243B53"/>
                </a:solidFill>
              </a:defRPr>
            </a:lvl1pPr>
            <a:lvl2pPr>
              <a:defRPr sz="2025" b="0">
                <a:solidFill>
                  <a:srgbClr val="243B53"/>
                </a:solidFill>
              </a:defRPr>
            </a:lvl2pPr>
            <a:lvl3pPr>
              <a:defRPr sz="2025" b="0">
                <a:solidFill>
                  <a:srgbClr val="243B53"/>
                </a:solidFill>
              </a:defRPr>
            </a:lvl3pPr>
            <a:lvl4pPr>
              <a:defRPr sz="2025" b="0">
                <a:solidFill>
                  <a:srgbClr val="243B53"/>
                </a:solidFill>
              </a:defRPr>
            </a:lvl4pPr>
            <a:lvl5pPr>
              <a:defRPr sz="2025" b="0">
                <a:solidFill>
                  <a:srgbClr val="243B53"/>
                </a:solidFill>
              </a:defRPr>
            </a:lvl5pPr>
            <a:lvl6pPr>
              <a:defRPr sz="2025" b="0">
                <a:solidFill>
                  <a:srgbClr val="243B53"/>
                </a:solidFill>
              </a:defRPr>
            </a:lvl6pPr>
            <a:lvl7pPr>
              <a:defRPr sz="2025" b="0">
                <a:solidFill>
                  <a:srgbClr val="243B53"/>
                </a:solidFill>
              </a:defRPr>
            </a:lvl7pPr>
            <a:lvl8pPr>
              <a:defRPr sz="2025" b="0">
                <a:solidFill>
                  <a:srgbClr val="243B53"/>
                </a:solidFill>
              </a:defRPr>
            </a:lvl8pPr>
            <a:lvl9pPr>
              <a:defRPr sz="2025" b="0">
                <a:solidFill>
                  <a:srgbClr val="243B53"/>
                </a:solidFill>
              </a:defRPr>
            </a:lvl9pPr>
          </a:lstStyle>
          <a:p>
            <a:pPr>
              <a:defRPr sz="2025" b="0">
                <a:solidFill>
                  <a:srgbClr val="243B53"/>
                </a:solidFill>
              </a:defRPr>
            </a:pPr>
            <a:r>
              <a:rPr lang="en-US" sz="2025" b="0">
                <a:solidFill>
                  <a:srgbClr val="243B53"/>
                </a:solidFill>
              </a:rPr>
              <a:t>Train and spatially validate across Nigeria, then summarize model scores for the Lagos cells.</a:t>
            </a:r>
            <a:endParaRPr sz="2025" b="0">
              <a:solidFill>
                <a:srgbClr val="243B53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FC6C83-9FE9-4FCA-8474-AB4D171F62A7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10382250" cy="19050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6DA176-CD99-48AB-A000-5C7A97FCF2E8}"/>
              </a:ext>
            </a:extLst>
          </p:cNvPr>
          <p:cNvSpPr>
            <a:spLocks noGrp="1"/>
          </p:cNvSpPr>
          <p:nvPr/>
        </p:nvSpPr>
        <p:spPr>
          <a:xfrm>
            <a:off x="685800" y="39624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1">
                <a:solidFill>
                  <a:srgbClr val="087E8B"/>
                </a:solidFill>
              </a:defRPr>
            </a:defPPr>
            <a:lvl1pPr>
              <a:defRPr sz="1575" b="1">
                <a:solidFill>
                  <a:srgbClr val="087E8B"/>
                </a:solidFill>
              </a:defRPr>
            </a:lvl1pPr>
            <a:lvl2pPr>
              <a:defRPr sz="1575" b="1">
                <a:solidFill>
                  <a:srgbClr val="087E8B"/>
                </a:solidFill>
              </a:defRPr>
            </a:lvl2pPr>
            <a:lvl3pPr>
              <a:defRPr sz="1575" b="1">
                <a:solidFill>
                  <a:srgbClr val="087E8B"/>
                </a:solidFill>
              </a:defRPr>
            </a:lvl3pPr>
            <a:lvl4pPr>
              <a:defRPr sz="1575" b="1">
                <a:solidFill>
                  <a:srgbClr val="087E8B"/>
                </a:solidFill>
              </a:defRPr>
            </a:lvl4pPr>
            <a:lvl5pPr>
              <a:defRPr sz="1575" b="1">
                <a:solidFill>
                  <a:srgbClr val="087E8B"/>
                </a:solidFill>
              </a:defRPr>
            </a:lvl5pPr>
            <a:lvl6pPr>
              <a:defRPr sz="1575" b="1">
                <a:solidFill>
                  <a:srgbClr val="087E8B"/>
                </a:solidFill>
              </a:defRPr>
            </a:lvl6pPr>
            <a:lvl7pPr>
              <a:defRPr sz="1575" b="1">
                <a:solidFill>
                  <a:srgbClr val="087E8B"/>
                </a:solidFill>
              </a:defRPr>
            </a:lvl7pPr>
            <a:lvl8pPr>
              <a:defRPr sz="1575" b="1">
                <a:solidFill>
                  <a:srgbClr val="087E8B"/>
                </a:solidFill>
              </a:defRPr>
            </a:lvl8pPr>
            <a:lvl9pPr>
              <a:defRPr sz="1575" b="1">
                <a:solidFill>
                  <a:srgbClr val="087E8B"/>
                </a:solidFill>
              </a:defRPr>
            </a:lvl9pPr>
          </a:lstStyle>
          <a:p>
            <a:pPr>
              <a:defRPr sz="1575" b="1">
                <a:solidFill>
                  <a:srgbClr val="087E8B"/>
                </a:solidFill>
              </a:defRPr>
            </a:pPr>
            <a:r>
              <a:rPr sz="1575" b="1">
                <a:solidFill>
                  <a:srgbClr val="087E8B"/>
                </a:solidFill>
              </a:rPr>
              <a:t>Target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345E0B-C527-4A22-A07A-9DD5639FCBE4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447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43B53"/>
                </a:solidFill>
              </a:defRPr>
            </a:defPPr>
            <a:lvl1pPr>
              <a:defRPr sz="1800" b="0">
                <a:solidFill>
                  <a:srgbClr val="243B53"/>
                </a:solidFill>
              </a:defRPr>
            </a:lvl1pPr>
            <a:lvl2pPr>
              <a:defRPr sz="1800" b="0">
                <a:solidFill>
                  <a:srgbClr val="243B53"/>
                </a:solidFill>
              </a:defRPr>
            </a:lvl2pPr>
            <a:lvl3pPr>
              <a:defRPr sz="1800" b="0">
                <a:solidFill>
                  <a:srgbClr val="243B53"/>
                </a:solidFill>
              </a:defRPr>
            </a:lvl3pPr>
            <a:lvl4pPr>
              <a:defRPr sz="1800" b="0">
                <a:solidFill>
                  <a:srgbClr val="243B53"/>
                </a:solidFill>
              </a:defRPr>
            </a:lvl4pPr>
            <a:lvl5pPr>
              <a:defRPr sz="1800" b="0">
                <a:solidFill>
                  <a:srgbClr val="243B53"/>
                </a:solidFill>
              </a:defRPr>
            </a:lvl5pPr>
            <a:lvl6pPr>
              <a:defRPr sz="1800" b="0">
                <a:solidFill>
                  <a:srgbClr val="243B53"/>
                </a:solidFill>
              </a:defRPr>
            </a:lvl6pPr>
            <a:lvl7pPr>
              <a:defRPr sz="1800" b="0">
                <a:solidFill>
                  <a:srgbClr val="243B53"/>
                </a:solidFill>
              </a:defRPr>
            </a:lvl7pPr>
            <a:lvl8pPr>
              <a:defRPr sz="1800" b="0">
                <a:solidFill>
                  <a:srgbClr val="243B53"/>
                </a:solidFill>
              </a:defRPr>
            </a:lvl8pPr>
            <a:lvl9pPr>
              <a:defRPr sz="1800" b="0">
                <a:solidFill>
                  <a:srgbClr val="243B53"/>
                </a:solidFill>
              </a:defRPr>
            </a:lvl9pPr>
          </a:lstStyle>
          <a:p>
            <a:pPr>
              <a:defRPr sz="1800" b="0">
                <a:solidFill>
                  <a:srgbClr val="243B53"/>
                </a:solidFill>
              </a:defRPr>
            </a:pPr>
            <a:r>
              <a:rPr sz="1800" b="0">
                <a:solidFill>
                  <a:srgbClr val="243B53"/>
                </a:solidFill>
              </a:rPr>
              <a:t>Satellite-observed monthly fire occurrence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D83375-2B74-49CD-89A3-0BBD5B8BD75F}"/>
              </a:ext>
            </a:extLst>
          </p:cNvPr>
          <p:cNvSpPr>
            <a:spLocks noGrp="1"/>
          </p:cNvSpPr>
          <p:nvPr/>
        </p:nvSpPr>
        <p:spPr>
          <a:xfrm>
            <a:off x="6324600" y="39624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1">
                <a:solidFill>
                  <a:srgbClr val="087E8B"/>
                </a:solidFill>
              </a:defRPr>
            </a:defPPr>
            <a:lvl1pPr>
              <a:defRPr sz="1575" b="1">
                <a:solidFill>
                  <a:srgbClr val="087E8B"/>
                </a:solidFill>
              </a:defRPr>
            </a:lvl1pPr>
            <a:lvl2pPr>
              <a:defRPr sz="1575" b="1">
                <a:solidFill>
                  <a:srgbClr val="087E8B"/>
                </a:solidFill>
              </a:defRPr>
            </a:lvl2pPr>
            <a:lvl3pPr>
              <a:defRPr sz="1575" b="1">
                <a:solidFill>
                  <a:srgbClr val="087E8B"/>
                </a:solidFill>
              </a:defRPr>
            </a:lvl3pPr>
            <a:lvl4pPr>
              <a:defRPr sz="1575" b="1">
                <a:solidFill>
                  <a:srgbClr val="087E8B"/>
                </a:solidFill>
              </a:defRPr>
            </a:lvl4pPr>
            <a:lvl5pPr>
              <a:defRPr sz="1575" b="1">
                <a:solidFill>
                  <a:srgbClr val="087E8B"/>
                </a:solidFill>
              </a:defRPr>
            </a:lvl5pPr>
            <a:lvl6pPr>
              <a:defRPr sz="1575" b="1">
                <a:solidFill>
                  <a:srgbClr val="087E8B"/>
                </a:solidFill>
              </a:defRPr>
            </a:lvl6pPr>
            <a:lvl7pPr>
              <a:defRPr sz="1575" b="1">
                <a:solidFill>
                  <a:srgbClr val="087E8B"/>
                </a:solidFill>
              </a:defRPr>
            </a:lvl7pPr>
            <a:lvl8pPr>
              <a:defRPr sz="1575" b="1">
                <a:solidFill>
                  <a:srgbClr val="087E8B"/>
                </a:solidFill>
              </a:defRPr>
            </a:lvl8pPr>
            <a:lvl9pPr>
              <a:defRPr sz="1575" b="1">
                <a:solidFill>
                  <a:srgbClr val="087E8B"/>
                </a:solidFill>
              </a:defRPr>
            </a:lvl9pPr>
          </a:lstStyle>
          <a:p>
            <a:pPr>
              <a:defRPr sz="1575" b="1">
                <a:solidFill>
                  <a:srgbClr val="087E8B"/>
                </a:solidFill>
              </a:defRPr>
            </a:pPr>
            <a:r>
              <a:rPr sz="1575" b="1">
                <a:solidFill>
                  <a:srgbClr val="087E8B"/>
                </a:solidFill>
              </a:rPr>
              <a:t>Not the target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99D411-384B-4477-A145-BC193C3AFAB1}"/>
              </a:ext>
            </a:extLst>
          </p:cNvPr>
          <p:cNvSpPr>
            <a:spLocks noGrp="1"/>
          </p:cNvSpPr>
          <p:nvPr/>
        </p:nvSpPr>
        <p:spPr>
          <a:xfrm>
            <a:off x="6324600" y="4324350"/>
            <a:ext cx="4667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43B53"/>
                </a:solidFill>
              </a:defRPr>
            </a:defPPr>
            <a:lvl1pPr>
              <a:defRPr sz="1800" b="0">
                <a:solidFill>
                  <a:srgbClr val="243B53"/>
                </a:solidFill>
              </a:defRPr>
            </a:lvl1pPr>
            <a:lvl2pPr>
              <a:defRPr sz="1800" b="0">
                <a:solidFill>
                  <a:srgbClr val="243B53"/>
                </a:solidFill>
              </a:defRPr>
            </a:lvl2pPr>
            <a:lvl3pPr>
              <a:defRPr sz="1800" b="0">
                <a:solidFill>
                  <a:srgbClr val="243B53"/>
                </a:solidFill>
              </a:defRPr>
            </a:lvl3pPr>
            <a:lvl4pPr>
              <a:defRPr sz="1800" b="0">
                <a:solidFill>
                  <a:srgbClr val="243B53"/>
                </a:solidFill>
              </a:defRPr>
            </a:lvl4pPr>
            <a:lvl5pPr>
              <a:defRPr sz="1800" b="0">
                <a:solidFill>
                  <a:srgbClr val="243B53"/>
                </a:solidFill>
              </a:defRPr>
            </a:lvl5pPr>
            <a:lvl6pPr>
              <a:defRPr sz="1800" b="0">
                <a:solidFill>
                  <a:srgbClr val="243B53"/>
                </a:solidFill>
              </a:defRPr>
            </a:lvl6pPr>
            <a:lvl7pPr>
              <a:defRPr sz="1800" b="0">
                <a:solidFill>
                  <a:srgbClr val="243B53"/>
                </a:solidFill>
              </a:defRPr>
            </a:lvl7pPr>
            <a:lvl8pPr>
              <a:defRPr sz="1800" b="0">
                <a:solidFill>
                  <a:srgbClr val="243B53"/>
                </a:solidFill>
              </a:defRPr>
            </a:lvl8pPr>
            <a:lvl9pPr>
              <a:defRPr sz="1800" b="0">
                <a:solidFill>
                  <a:srgbClr val="243B53"/>
                </a:solidFill>
              </a:defRPr>
            </a:lvl9pPr>
          </a:lstStyle>
          <a:p>
            <a:pPr>
              <a:defRPr sz="1800" b="0">
                <a:solidFill>
                  <a:srgbClr val="243B53"/>
                </a:solidFill>
              </a:defRPr>
            </a:pPr>
            <a:r>
              <a:rPr sz="1800" b="0">
                <a:solidFill>
                  <a:srgbClr val="243B53"/>
                </a:solidFill>
              </a:rPr>
              <a:t>Confirmed incidents, daily forecasts, or property-level risk</a:t>
            </a:r>
          </a:p>
        </p:txBody>
      </p:sp>
    </p:spTree>
    <p:extLst>
      <p:ext uri="{BB962C8B-B14F-4D97-AF65-F5344CB8AC3E}">
        <p14:creationId xmlns:p14="http://schemas.microsoft.com/office/powerpoint/2010/main" val="755421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B997D66-62FB-42F1-ABE5-66AADBFEBDE1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925" b="1">
                <a:solidFill>
                  <a:srgbClr val="102A43"/>
                </a:solidFill>
              </a:defRPr>
            </a:defPPr>
            <a:lvl1pPr>
              <a:defRPr sz="2925" b="1">
                <a:solidFill>
                  <a:srgbClr val="102A43"/>
                </a:solidFill>
              </a:defRPr>
            </a:lvl1pPr>
            <a:lvl2pPr>
              <a:defRPr sz="2925" b="1">
                <a:solidFill>
                  <a:srgbClr val="102A43"/>
                </a:solidFill>
              </a:defRPr>
            </a:lvl2pPr>
            <a:lvl3pPr>
              <a:defRPr sz="2925" b="1">
                <a:solidFill>
                  <a:srgbClr val="102A43"/>
                </a:solidFill>
              </a:defRPr>
            </a:lvl3pPr>
            <a:lvl4pPr>
              <a:defRPr sz="2925" b="1">
                <a:solidFill>
                  <a:srgbClr val="102A43"/>
                </a:solidFill>
              </a:defRPr>
            </a:lvl4pPr>
            <a:lvl5pPr>
              <a:defRPr sz="2925" b="1">
                <a:solidFill>
                  <a:srgbClr val="102A43"/>
                </a:solidFill>
              </a:defRPr>
            </a:lvl5pPr>
            <a:lvl6pPr>
              <a:defRPr sz="2925" b="1">
                <a:solidFill>
                  <a:srgbClr val="102A43"/>
                </a:solidFill>
              </a:defRPr>
            </a:lvl6pPr>
            <a:lvl7pPr>
              <a:defRPr sz="2925" b="1">
                <a:solidFill>
                  <a:srgbClr val="102A43"/>
                </a:solidFill>
              </a:defRPr>
            </a:lvl7pPr>
            <a:lvl8pPr>
              <a:defRPr sz="2925" b="1">
                <a:solidFill>
                  <a:srgbClr val="102A43"/>
                </a:solidFill>
              </a:defRPr>
            </a:lvl8pPr>
            <a:lvl9pPr>
              <a:defRPr sz="2925" b="1">
                <a:solidFill>
                  <a:srgbClr val="102A43"/>
                </a:solidFill>
              </a:defRPr>
            </a:lvl9pPr>
          </a:lstStyle>
          <a:p>
            <a:pPr>
              <a:defRPr sz="2925" b="1">
                <a:solidFill>
                  <a:srgbClr val="102A43"/>
                </a:solidFill>
              </a:defRPr>
            </a:pPr>
            <a:r>
              <a:rPr sz="2925" b="1">
                <a:solidFill>
                  <a:srgbClr val="102A43"/>
                </a:solidFill>
              </a:rPr>
              <a:t>Data inputs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EDBB78-E170-437E-8B4D-176513762097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723900" cy="47625"/>
          </a:xfrm>
          <a:prstGeom prst="rect">
            <a:avLst/>
          </a:prstGeom>
          <a:solidFill>
            <a:srgbClr val="087E8B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5AF0BA-B852-4F31-B1A0-B2CC4D02CA8E}"/>
              </a:ext>
            </a:extLst>
          </p:cNvPr>
          <p:cNvSpPr>
            <a:spLocks noGrp="1"/>
          </p:cNvSpPr>
          <p:nvPr/>
        </p:nvSpPr>
        <p:spPr>
          <a:xfrm>
            <a:off x="11239500" y="632460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52616B"/>
                </a:solidFill>
              </a:defRPr>
            </a:defPPr>
            <a:lvl1pPr>
              <a:defRPr sz="1200" b="1">
                <a:solidFill>
                  <a:srgbClr val="52616B"/>
                </a:solidFill>
              </a:defRPr>
            </a:lvl1pPr>
            <a:lvl2pPr>
              <a:defRPr sz="1200" b="1">
                <a:solidFill>
                  <a:srgbClr val="52616B"/>
                </a:solidFill>
              </a:defRPr>
            </a:lvl2pPr>
            <a:lvl3pPr>
              <a:defRPr sz="1200" b="1">
                <a:solidFill>
                  <a:srgbClr val="52616B"/>
                </a:solidFill>
              </a:defRPr>
            </a:lvl3pPr>
            <a:lvl4pPr>
              <a:defRPr sz="1200" b="1">
                <a:solidFill>
                  <a:srgbClr val="52616B"/>
                </a:solidFill>
              </a:defRPr>
            </a:lvl4pPr>
            <a:lvl5pPr>
              <a:defRPr sz="1200" b="1">
                <a:solidFill>
                  <a:srgbClr val="52616B"/>
                </a:solidFill>
              </a:defRPr>
            </a:lvl5pPr>
            <a:lvl6pPr>
              <a:defRPr sz="1200" b="1">
                <a:solidFill>
                  <a:srgbClr val="52616B"/>
                </a:solidFill>
              </a:defRPr>
            </a:lvl6pPr>
            <a:lvl7pPr>
              <a:defRPr sz="1200" b="1">
                <a:solidFill>
                  <a:srgbClr val="52616B"/>
                </a:solidFill>
              </a:defRPr>
            </a:lvl7pPr>
            <a:lvl8pPr>
              <a:defRPr sz="1200" b="1">
                <a:solidFill>
                  <a:srgbClr val="52616B"/>
                </a:solidFill>
              </a:defRPr>
            </a:lvl8pPr>
            <a:lvl9pPr>
              <a:defRPr sz="1200" b="1">
                <a:solidFill>
                  <a:srgbClr val="52616B"/>
                </a:solidFill>
              </a:defRPr>
            </a:lvl9pPr>
          </a:lstStyle>
          <a:p>
            <a:pPr>
              <a:defRPr sz="1200" b="1">
                <a:solidFill>
                  <a:srgbClr val="52616B"/>
                </a:solidFill>
              </a:defRPr>
            </a:pPr>
            <a:r>
              <a:rPr sz="1200" b="1">
                <a:solidFill>
                  <a:srgbClr val="52616B"/>
                </a:solidFill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EF5B14-9F0E-471B-962D-F929CFAA0F80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381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087E8B"/>
                </a:solidFill>
              </a:defRPr>
            </a:defPPr>
            <a:lvl1pPr>
              <a:defRPr sz="1950" b="1">
                <a:solidFill>
                  <a:srgbClr val="087E8B"/>
                </a:solidFill>
              </a:defRPr>
            </a:lvl1pPr>
            <a:lvl2pPr>
              <a:defRPr sz="1950" b="1">
                <a:solidFill>
                  <a:srgbClr val="087E8B"/>
                </a:solidFill>
              </a:defRPr>
            </a:lvl2pPr>
            <a:lvl3pPr>
              <a:defRPr sz="1950" b="1">
                <a:solidFill>
                  <a:srgbClr val="087E8B"/>
                </a:solidFill>
              </a:defRPr>
            </a:lvl3pPr>
            <a:lvl4pPr>
              <a:defRPr sz="1950" b="1">
                <a:solidFill>
                  <a:srgbClr val="087E8B"/>
                </a:solidFill>
              </a:defRPr>
            </a:lvl4pPr>
            <a:lvl5pPr>
              <a:defRPr sz="1950" b="1">
                <a:solidFill>
                  <a:srgbClr val="087E8B"/>
                </a:solidFill>
              </a:defRPr>
            </a:lvl5pPr>
            <a:lvl6pPr>
              <a:defRPr sz="1950" b="1">
                <a:solidFill>
                  <a:srgbClr val="087E8B"/>
                </a:solidFill>
              </a:defRPr>
            </a:lvl6pPr>
            <a:lvl7pPr>
              <a:defRPr sz="1950" b="1">
                <a:solidFill>
                  <a:srgbClr val="087E8B"/>
                </a:solidFill>
              </a:defRPr>
            </a:lvl7pPr>
            <a:lvl8pPr>
              <a:defRPr sz="1950" b="1">
                <a:solidFill>
                  <a:srgbClr val="087E8B"/>
                </a:solidFill>
              </a:defRPr>
            </a:lvl8pPr>
            <a:lvl9pPr>
              <a:defRPr sz="1950" b="1">
                <a:solidFill>
                  <a:srgbClr val="087E8B"/>
                </a:solidFill>
              </a:defRPr>
            </a:lvl9pPr>
          </a:lstStyle>
          <a:p>
            <a:pPr>
              <a:defRPr sz="1950" b="1">
                <a:solidFill>
                  <a:srgbClr val="087E8B"/>
                </a:solidFill>
              </a:defRPr>
            </a:pPr>
            <a:r>
              <a:rPr sz="1950" b="1">
                <a:solidFill>
                  <a:srgbClr val="087E8B"/>
                </a:solidFill>
              </a:rPr>
              <a:t>Fire history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136D89-8A89-4B66-AB06-368536164BF9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4762500" cy="9579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spAutoFit/>
          </a:bodyPr>
          <a:lstStyle>
            <a:defPPr>
              <a:defRPr sz="1875" b="0">
                <a:solidFill>
                  <a:srgbClr val="243B53"/>
                </a:solidFill>
              </a:defRPr>
            </a:defPPr>
            <a:lvl1pPr>
              <a:defRPr sz="1875" b="0">
                <a:solidFill>
                  <a:srgbClr val="243B53"/>
                </a:solidFill>
              </a:defRPr>
            </a:lvl1pPr>
            <a:lvl2pPr>
              <a:defRPr sz="1875" b="0">
                <a:solidFill>
                  <a:srgbClr val="243B53"/>
                </a:solidFill>
              </a:defRPr>
            </a:lvl2pPr>
            <a:lvl3pPr>
              <a:defRPr sz="1875" b="0">
                <a:solidFill>
                  <a:srgbClr val="243B53"/>
                </a:solidFill>
              </a:defRPr>
            </a:lvl3pPr>
            <a:lvl4pPr>
              <a:defRPr sz="1875" b="0">
                <a:solidFill>
                  <a:srgbClr val="243B53"/>
                </a:solidFill>
              </a:defRPr>
            </a:lvl4pPr>
            <a:lvl5pPr>
              <a:defRPr sz="1875" b="0">
                <a:solidFill>
                  <a:srgbClr val="243B53"/>
                </a:solidFill>
              </a:defRPr>
            </a:lvl5pPr>
            <a:lvl6pPr>
              <a:defRPr sz="1875" b="0">
                <a:solidFill>
                  <a:srgbClr val="243B53"/>
                </a:solidFill>
              </a:defRPr>
            </a:lvl6pPr>
            <a:lvl7pPr>
              <a:defRPr sz="1875" b="0">
                <a:solidFill>
                  <a:srgbClr val="243B53"/>
                </a:solidFill>
              </a:defRPr>
            </a:lvl7pPr>
            <a:lvl8pPr>
              <a:defRPr sz="1875" b="0">
                <a:solidFill>
                  <a:srgbClr val="243B53"/>
                </a:solidFill>
              </a:defRPr>
            </a:lvl8pPr>
            <a:lvl9pPr>
              <a:defRPr sz="1875" b="0">
                <a:solidFill>
                  <a:srgbClr val="243B53"/>
                </a:solidFill>
              </a:defRPr>
            </a:lvl9pPr>
          </a:lstStyle>
          <a:p>
            <a:pPr>
              <a:defRPr sz="1875" b="0">
                <a:solidFill>
                  <a:srgbClr val="243B53"/>
                </a:solidFill>
              </a:defRPr>
            </a:pPr>
            <a:r>
              <a:rPr lang="en-US" sz="1875" b="0">
                <a:solidFill>
                  <a:srgbClr val="243B53"/>
                </a:solidFill>
              </a:rPr>
              <a:t>Global Fire Atlas monthly fire-number rasters</a:t>
            </a:r>
          </a:p>
          <a:p>
            <a:pPr>
              <a:defRPr sz="1875" b="0">
                <a:solidFill>
                  <a:srgbClr val="243B53"/>
                </a:solidFill>
              </a:defRPr>
            </a:pPr>
            <a:r>
              <a:rPr lang="en-US" sz="1875" b="0">
                <a:solidFill>
                  <a:srgbClr val="243B53"/>
                </a:solidFill>
              </a:rPr>
              <a:t>2003–2016 · 0.25° native model grid</a:t>
            </a:r>
            <a:endParaRPr sz="1875" b="0">
              <a:solidFill>
                <a:srgbClr val="243B53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B61706-8214-4A9E-BCE4-24E9FAFDC8B3}"/>
              </a:ext>
            </a:extLst>
          </p:cNvPr>
          <p:cNvSpPr>
            <a:spLocks noGrp="1"/>
          </p:cNvSpPr>
          <p:nvPr/>
        </p:nvSpPr>
        <p:spPr>
          <a:xfrm>
            <a:off x="6324600" y="1504950"/>
            <a:ext cx="381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087E8B"/>
                </a:solidFill>
              </a:defRPr>
            </a:defPPr>
            <a:lvl1pPr>
              <a:defRPr sz="1950" b="1">
                <a:solidFill>
                  <a:srgbClr val="087E8B"/>
                </a:solidFill>
              </a:defRPr>
            </a:lvl1pPr>
            <a:lvl2pPr>
              <a:defRPr sz="1950" b="1">
                <a:solidFill>
                  <a:srgbClr val="087E8B"/>
                </a:solidFill>
              </a:defRPr>
            </a:lvl2pPr>
            <a:lvl3pPr>
              <a:defRPr sz="1950" b="1">
                <a:solidFill>
                  <a:srgbClr val="087E8B"/>
                </a:solidFill>
              </a:defRPr>
            </a:lvl3pPr>
            <a:lvl4pPr>
              <a:defRPr sz="1950" b="1">
                <a:solidFill>
                  <a:srgbClr val="087E8B"/>
                </a:solidFill>
              </a:defRPr>
            </a:lvl4pPr>
            <a:lvl5pPr>
              <a:defRPr sz="1950" b="1">
                <a:solidFill>
                  <a:srgbClr val="087E8B"/>
                </a:solidFill>
              </a:defRPr>
            </a:lvl5pPr>
            <a:lvl6pPr>
              <a:defRPr sz="1950" b="1">
                <a:solidFill>
                  <a:srgbClr val="087E8B"/>
                </a:solidFill>
              </a:defRPr>
            </a:lvl6pPr>
            <a:lvl7pPr>
              <a:defRPr sz="1950" b="1">
                <a:solidFill>
                  <a:srgbClr val="087E8B"/>
                </a:solidFill>
              </a:defRPr>
            </a:lvl7pPr>
            <a:lvl8pPr>
              <a:defRPr sz="1950" b="1">
                <a:solidFill>
                  <a:srgbClr val="087E8B"/>
                </a:solidFill>
              </a:defRPr>
            </a:lvl8pPr>
            <a:lvl9pPr>
              <a:defRPr sz="1950" b="1">
                <a:solidFill>
                  <a:srgbClr val="087E8B"/>
                </a:solidFill>
              </a:defRPr>
            </a:lvl9pPr>
          </a:lstStyle>
          <a:p>
            <a:pPr>
              <a:defRPr sz="1950" b="1">
                <a:solidFill>
                  <a:srgbClr val="087E8B"/>
                </a:solidFill>
              </a:defRPr>
            </a:pPr>
            <a:r>
              <a:rPr sz="1950" b="1">
                <a:solidFill>
                  <a:srgbClr val="087E8B"/>
                </a:solidFill>
              </a:rPr>
              <a:t>Weather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1242AD-CC01-4BC4-8928-E27D73BB8643}"/>
              </a:ext>
            </a:extLst>
          </p:cNvPr>
          <p:cNvSpPr>
            <a:spLocks noGrp="1"/>
          </p:cNvSpPr>
          <p:nvPr/>
        </p:nvSpPr>
        <p:spPr>
          <a:xfrm>
            <a:off x="6324600" y="1962150"/>
            <a:ext cx="4762500" cy="12464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spAutoFit/>
          </a:bodyPr>
          <a:lstStyle>
            <a:defPPr>
              <a:defRPr sz="1875" b="0">
                <a:solidFill>
                  <a:srgbClr val="243B53"/>
                </a:solidFill>
              </a:defRPr>
            </a:defPPr>
            <a:lvl1pPr>
              <a:defRPr sz="1875" b="0">
                <a:solidFill>
                  <a:srgbClr val="243B53"/>
                </a:solidFill>
              </a:defRPr>
            </a:lvl1pPr>
            <a:lvl2pPr>
              <a:defRPr sz="1875" b="0">
                <a:solidFill>
                  <a:srgbClr val="243B53"/>
                </a:solidFill>
              </a:defRPr>
            </a:lvl2pPr>
            <a:lvl3pPr>
              <a:defRPr sz="1875" b="0">
                <a:solidFill>
                  <a:srgbClr val="243B53"/>
                </a:solidFill>
              </a:defRPr>
            </a:lvl3pPr>
            <a:lvl4pPr>
              <a:defRPr sz="1875" b="0">
                <a:solidFill>
                  <a:srgbClr val="243B53"/>
                </a:solidFill>
              </a:defRPr>
            </a:lvl4pPr>
            <a:lvl5pPr>
              <a:defRPr sz="1875" b="0">
                <a:solidFill>
                  <a:srgbClr val="243B53"/>
                </a:solidFill>
              </a:defRPr>
            </a:lvl5pPr>
            <a:lvl6pPr>
              <a:defRPr sz="1875" b="0">
                <a:solidFill>
                  <a:srgbClr val="243B53"/>
                </a:solidFill>
              </a:defRPr>
            </a:lvl6pPr>
            <a:lvl7pPr>
              <a:defRPr sz="1875" b="0">
                <a:solidFill>
                  <a:srgbClr val="243B53"/>
                </a:solidFill>
              </a:defRPr>
            </a:lvl7pPr>
            <a:lvl8pPr>
              <a:defRPr sz="1875" b="0">
                <a:solidFill>
                  <a:srgbClr val="243B53"/>
                </a:solidFill>
              </a:defRPr>
            </a:lvl8pPr>
            <a:lvl9pPr>
              <a:defRPr sz="1875" b="0">
                <a:solidFill>
                  <a:srgbClr val="243B53"/>
                </a:solidFill>
              </a:defRPr>
            </a:lvl9pPr>
          </a:lstStyle>
          <a:p>
            <a:pPr>
              <a:defRPr sz="1875" b="0">
                <a:solidFill>
                  <a:srgbClr val="243B53"/>
                </a:solidFill>
              </a:defRPr>
            </a:pPr>
            <a:r>
              <a:rPr lang="en-US" sz="1875" b="0">
                <a:solidFill>
                  <a:srgbClr val="243B53"/>
                </a:solidFill>
              </a:rPr>
              <a:t>ERA5 reanalysis via Open-Meteo</a:t>
            </a:r>
          </a:p>
          <a:p>
            <a:pPr>
              <a:defRPr sz="1875" b="0">
                <a:solidFill>
                  <a:srgbClr val="243B53"/>
                </a:solidFill>
              </a:defRPr>
            </a:pPr>
            <a:r>
              <a:rPr lang="en-US" sz="1875" b="0">
                <a:solidFill>
                  <a:srgbClr val="243B53"/>
                </a:solidFill>
              </a:rPr>
              <a:t>Temperature, rainfall, wind, humidity</a:t>
            </a:r>
          </a:p>
          <a:p>
            <a:pPr>
              <a:defRPr sz="1875" b="0">
                <a:solidFill>
                  <a:srgbClr val="243B53"/>
                </a:solidFill>
              </a:defRPr>
            </a:pPr>
            <a:r>
              <a:rPr lang="en-US" sz="1875" b="0">
                <a:solidFill>
                  <a:srgbClr val="243B53"/>
                </a:solidFill>
              </a:rPr>
              <a:t>Monthly summaries from four regional anchors</a:t>
            </a:r>
            <a:endParaRPr sz="1875" b="0">
              <a:solidFill>
                <a:srgbClr val="243B53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F739E0-317A-45E0-9288-7100518916C9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10382250" cy="19050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1FA637-4FA5-4AEC-BFF4-45818D109555}"/>
              </a:ext>
            </a:extLst>
          </p:cNvPr>
          <p:cNvSpPr>
            <a:spLocks noGrp="1"/>
          </p:cNvSpPr>
          <p:nvPr/>
        </p:nvSpPr>
        <p:spPr>
          <a:xfrm>
            <a:off x="685800" y="404812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087E8B"/>
                </a:solidFill>
              </a:defRPr>
            </a:defPPr>
            <a:lvl1pPr>
              <a:defRPr sz="1500" b="1">
                <a:solidFill>
                  <a:srgbClr val="087E8B"/>
                </a:solidFill>
              </a:defRPr>
            </a:lvl1pPr>
            <a:lvl2pPr>
              <a:defRPr sz="1500" b="1">
                <a:solidFill>
                  <a:srgbClr val="087E8B"/>
                </a:solidFill>
              </a:defRPr>
            </a:lvl2pPr>
            <a:lvl3pPr>
              <a:defRPr sz="1500" b="1">
                <a:solidFill>
                  <a:srgbClr val="087E8B"/>
                </a:solidFill>
              </a:defRPr>
            </a:lvl3pPr>
            <a:lvl4pPr>
              <a:defRPr sz="1500" b="1">
                <a:solidFill>
                  <a:srgbClr val="087E8B"/>
                </a:solidFill>
              </a:defRPr>
            </a:lvl4pPr>
            <a:lvl5pPr>
              <a:defRPr sz="1500" b="1">
                <a:solidFill>
                  <a:srgbClr val="087E8B"/>
                </a:solidFill>
              </a:defRPr>
            </a:lvl5pPr>
            <a:lvl6pPr>
              <a:defRPr sz="1500" b="1">
                <a:solidFill>
                  <a:srgbClr val="087E8B"/>
                </a:solidFill>
              </a:defRPr>
            </a:lvl6pPr>
            <a:lvl7pPr>
              <a:defRPr sz="1500" b="1">
                <a:solidFill>
                  <a:srgbClr val="087E8B"/>
                </a:solidFill>
              </a:defRPr>
            </a:lvl7pPr>
            <a:lvl8pPr>
              <a:defRPr sz="1500" b="1">
                <a:solidFill>
                  <a:srgbClr val="087E8B"/>
                </a:solidFill>
              </a:defRPr>
            </a:lvl8pPr>
            <a:lvl9pPr>
              <a:defRPr sz="1500" b="1">
                <a:solidFill>
                  <a:srgbClr val="087E8B"/>
                </a:solidFill>
              </a:defRPr>
            </a:lvl9pPr>
          </a:lstStyle>
          <a:p>
            <a:pPr>
              <a:defRPr sz="1500" b="1">
                <a:solidFill>
                  <a:srgbClr val="087E8B"/>
                </a:solidFill>
              </a:defRPr>
            </a:pPr>
            <a:r>
              <a:rPr sz="1500" b="1">
                <a:solidFill>
                  <a:srgbClr val="087E8B"/>
                </a:solidFill>
              </a:rPr>
              <a:t>Training sample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9D8F88-C7B0-4B22-A5EE-AB7832F3522D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1009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spAutoFit/>
          </a:bodyPr>
          <a:lstStyle>
            <a:defPPr>
              <a:defRPr sz="1875" b="1">
                <a:solidFill>
                  <a:srgbClr val="102A43"/>
                </a:solidFill>
              </a:defRPr>
            </a:defPPr>
            <a:lvl1pPr>
              <a:defRPr sz="1875" b="1">
                <a:solidFill>
                  <a:srgbClr val="102A43"/>
                </a:solidFill>
              </a:defRPr>
            </a:lvl1pPr>
            <a:lvl2pPr>
              <a:defRPr sz="1875" b="1">
                <a:solidFill>
                  <a:srgbClr val="102A43"/>
                </a:solidFill>
              </a:defRPr>
            </a:lvl2pPr>
            <a:lvl3pPr>
              <a:defRPr sz="1875" b="1">
                <a:solidFill>
                  <a:srgbClr val="102A43"/>
                </a:solidFill>
              </a:defRPr>
            </a:lvl3pPr>
            <a:lvl4pPr>
              <a:defRPr sz="1875" b="1">
                <a:solidFill>
                  <a:srgbClr val="102A43"/>
                </a:solidFill>
              </a:defRPr>
            </a:lvl4pPr>
            <a:lvl5pPr>
              <a:defRPr sz="1875" b="1">
                <a:solidFill>
                  <a:srgbClr val="102A43"/>
                </a:solidFill>
              </a:defRPr>
            </a:lvl5pPr>
            <a:lvl6pPr>
              <a:defRPr sz="1875" b="1">
                <a:solidFill>
                  <a:srgbClr val="102A43"/>
                </a:solidFill>
              </a:defRPr>
            </a:lvl6pPr>
            <a:lvl7pPr>
              <a:defRPr sz="1875" b="1">
                <a:solidFill>
                  <a:srgbClr val="102A43"/>
                </a:solidFill>
              </a:defRPr>
            </a:lvl7pPr>
            <a:lvl8pPr>
              <a:defRPr sz="1875" b="1">
                <a:solidFill>
                  <a:srgbClr val="102A43"/>
                </a:solidFill>
              </a:defRPr>
            </a:lvl8pPr>
            <a:lvl9pPr>
              <a:defRPr sz="1875" b="1">
                <a:solidFill>
                  <a:srgbClr val="102A43"/>
                </a:solidFill>
              </a:defRPr>
            </a:lvl9pPr>
          </a:lstStyle>
          <a:p>
            <a:pPr>
              <a:defRPr sz="1875" b="1">
                <a:solidFill>
                  <a:srgbClr val="102A43"/>
                </a:solidFill>
              </a:defRPr>
            </a:pPr>
            <a:r>
              <a:rPr lang="en-US" sz="1875" b="1">
                <a:solidFill>
                  <a:srgbClr val="102A43"/>
                </a:solidFill>
              </a:rPr>
              <a:t>191,976 complete grid-month records  ·  1,188 Nigeria land cells  ·  19.4% fire-positive</a:t>
            </a:r>
            <a:endParaRPr sz="1875" b="1">
              <a:solidFill>
                <a:srgbClr val="102A43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67CEBB-EF31-41F9-B361-EF25C72F2433}"/>
              </a:ext>
            </a:extLst>
          </p:cNvPr>
          <p:cNvSpPr>
            <a:spLocks noGrp="1"/>
          </p:cNvSpPr>
          <p:nvPr/>
        </p:nvSpPr>
        <p:spPr>
          <a:xfrm>
            <a:off x="685800" y="5267325"/>
            <a:ext cx="9525000" cy="3000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spAutoFit/>
          </a:bodyPr>
          <a:lstStyle>
            <a:defPPr>
              <a:defRPr sz="1350" b="0">
                <a:solidFill>
                  <a:srgbClr val="52616B"/>
                </a:solidFill>
              </a:defRPr>
            </a:defPPr>
            <a:lvl1pPr>
              <a:defRPr sz="1350" b="0">
                <a:solidFill>
                  <a:srgbClr val="52616B"/>
                </a:solidFill>
              </a:defRPr>
            </a:lvl1pPr>
            <a:lvl2pPr>
              <a:defRPr sz="1350" b="0">
                <a:solidFill>
                  <a:srgbClr val="52616B"/>
                </a:solidFill>
              </a:defRPr>
            </a:lvl2pPr>
            <a:lvl3pPr>
              <a:defRPr sz="1350" b="0">
                <a:solidFill>
                  <a:srgbClr val="52616B"/>
                </a:solidFill>
              </a:defRPr>
            </a:lvl3pPr>
            <a:lvl4pPr>
              <a:defRPr sz="1350" b="0">
                <a:solidFill>
                  <a:srgbClr val="52616B"/>
                </a:solidFill>
              </a:defRPr>
            </a:lvl4pPr>
            <a:lvl5pPr>
              <a:defRPr sz="1350" b="0">
                <a:solidFill>
                  <a:srgbClr val="52616B"/>
                </a:solidFill>
              </a:defRPr>
            </a:lvl5pPr>
            <a:lvl6pPr>
              <a:defRPr sz="1350" b="0">
                <a:solidFill>
                  <a:srgbClr val="52616B"/>
                </a:solidFill>
              </a:defRPr>
            </a:lvl6pPr>
            <a:lvl7pPr>
              <a:defRPr sz="1350" b="0">
                <a:solidFill>
                  <a:srgbClr val="52616B"/>
                </a:solidFill>
              </a:defRPr>
            </a:lvl7pPr>
            <a:lvl8pPr>
              <a:defRPr sz="1350" b="0">
                <a:solidFill>
                  <a:srgbClr val="52616B"/>
                </a:solidFill>
              </a:defRPr>
            </a:lvl8pPr>
            <a:lvl9pPr>
              <a:defRPr sz="1350" b="0">
                <a:solidFill>
                  <a:srgbClr val="52616B"/>
                </a:solidFill>
              </a:defRPr>
            </a:lvl9pPr>
          </a:lstStyle>
          <a:p>
            <a:pPr>
              <a:defRPr sz="1350" b="0">
                <a:solidFill>
                  <a:srgbClr val="52616B"/>
                </a:solidFill>
              </a:defRPr>
            </a:pPr>
            <a:r>
              <a:rPr lang="en-US" sz="1350" b="0">
                <a:solidFill>
                  <a:srgbClr val="52616B"/>
                </a:solidFill>
              </a:rPr>
              <a:t>MODIS MOD13Q1 NDVI/EVI + MOD11A2 day/night LST; Lagos boundary from open Nigeria state polygons</a:t>
            </a:r>
            <a:endParaRPr sz="1350" b="0">
              <a:solidFill>
                <a:srgbClr val="5261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9965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45D24C50-ECFE-404D-8B1B-D8731FD7C4ED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925" b="1">
                <a:solidFill>
                  <a:srgbClr val="102A43"/>
                </a:solidFill>
              </a:defRPr>
            </a:defPPr>
            <a:lvl1pPr>
              <a:defRPr sz="2925" b="1">
                <a:solidFill>
                  <a:srgbClr val="102A43"/>
                </a:solidFill>
              </a:defRPr>
            </a:lvl1pPr>
            <a:lvl2pPr>
              <a:defRPr sz="2925" b="1">
                <a:solidFill>
                  <a:srgbClr val="102A43"/>
                </a:solidFill>
              </a:defRPr>
            </a:lvl2pPr>
            <a:lvl3pPr>
              <a:defRPr sz="2925" b="1">
                <a:solidFill>
                  <a:srgbClr val="102A43"/>
                </a:solidFill>
              </a:defRPr>
            </a:lvl3pPr>
            <a:lvl4pPr>
              <a:defRPr sz="2925" b="1">
                <a:solidFill>
                  <a:srgbClr val="102A43"/>
                </a:solidFill>
              </a:defRPr>
            </a:lvl4pPr>
            <a:lvl5pPr>
              <a:defRPr sz="2925" b="1">
                <a:solidFill>
                  <a:srgbClr val="102A43"/>
                </a:solidFill>
              </a:defRPr>
            </a:lvl5pPr>
            <a:lvl6pPr>
              <a:defRPr sz="2925" b="1">
                <a:solidFill>
                  <a:srgbClr val="102A43"/>
                </a:solidFill>
              </a:defRPr>
            </a:lvl6pPr>
            <a:lvl7pPr>
              <a:defRPr sz="2925" b="1">
                <a:solidFill>
                  <a:srgbClr val="102A43"/>
                </a:solidFill>
              </a:defRPr>
            </a:lvl7pPr>
            <a:lvl8pPr>
              <a:defRPr sz="2925" b="1">
                <a:solidFill>
                  <a:srgbClr val="102A43"/>
                </a:solidFill>
              </a:defRPr>
            </a:lvl8pPr>
            <a:lvl9pPr>
              <a:defRPr sz="2925" b="1">
                <a:solidFill>
                  <a:srgbClr val="102A43"/>
                </a:solidFill>
              </a:defRPr>
            </a:lvl9pPr>
          </a:lstStyle>
          <a:p>
            <a:pPr>
              <a:defRPr sz="2925" b="1">
                <a:solidFill>
                  <a:srgbClr val="102A43"/>
                </a:solidFill>
              </a:defRPr>
            </a:pPr>
            <a:r>
              <a:rPr sz="2925" b="1">
                <a:solidFill>
                  <a:srgbClr val="102A43"/>
                </a:solidFill>
              </a:rPr>
              <a:t>Model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D1462D-EDB0-4A8D-B43E-48D7F7880064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723900" cy="47625"/>
          </a:xfrm>
          <a:prstGeom prst="rect">
            <a:avLst/>
          </a:prstGeom>
          <a:solidFill>
            <a:srgbClr val="087E8B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131431-F469-4F9A-85AC-D0EF9806E6B2}"/>
              </a:ext>
            </a:extLst>
          </p:cNvPr>
          <p:cNvSpPr>
            <a:spLocks noGrp="1"/>
          </p:cNvSpPr>
          <p:nvPr/>
        </p:nvSpPr>
        <p:spPr>
          <a:xfrm>
            <a:off x="11239500" y="632460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52616B"/>
                </a:solidFill>
              </a:defRPr>
            </a:defPPr>
            <a:lvl1pPr>
              <a:defRPr sz="1200" b="1">
                <a:solidFill>
                  <a:srgbClr val="52616B"/>
                </a:solidFill>
              </a:defRPr>
            </a:lvl1pPr>
            <a:lvl2pPr>
              <a:defRPr sz="1200" b="1">
                <a:solidFill>
                  <a:srgbClr val="52616B"/>
                </a:solidFill>
              </a:defRPr>
            </a:lvl2pPr>
            <a:lvl3pPr>
              <a:defRPr sz="1200" b="1">
                <a:solidFill>
                  <a:srgbClr val="52616B"/>
                </a:solidFill>
              </a:defRPr>
            </a:lvl3pPr>
            <a:lvl4pPr>
              <a:defRPr sz="1200" b="1">
                <a:solidFill>
                  <a:srgbClr val="52616B"/>
                </a:solidFill>
              </a:defRPr>
            </a:lvl4pPr>
            <a:lvl5pPr>
              <a:defRPr sz="1200" b="1">
                <a:solidFill>
                  <a:srgbClr val="52616B"/>
                </a:solidFill>
              </a:defRPr>
            </a:lvl5pPr>
            <a:lvl6pPr>
              <a:defRPr sz="1200" b="1">
                <a:solidFill>
                  <a:srgbClr val="52616B"/>
                </a:solidFill>
              </a:defRPr>
            </a:lvl6pPr>
            <a:lvl7pPr>
              <a:defRPr sz="1200" b="1">
                <a:solidFill>
                  <a:srgbClr val="52616B"/>
                </a:solidFill>
              </a:defRPr>
            </a:lvl7pPr>
            <a:lvl8pPr>
              <a:defRPr sz="1200" b="1">
                <a:solidFill>
                  <a:srgbClr val="52616B"/>
                </a:solidFill>
              </a:defRPr>
            </a:lvl8pPr>
            <a:lvl9pPr>
              <a:defRPr sz="1200" b="1">
                <a:solidFill>
                  <a:srgbClr val="52616B"/>
                </a:solidFill>
              </a:defRPr>
            </a:lvl9pPr>
          </a:lstStyle>
          <a:p>
            <a:pPr>
              <a:defRPr sz="1200" b="1">
                <a:solidFill>
                  <a:srgbClr val="52616B"/>
                </a:solidFill>
              </a:defRPr>
            </a:pPr>
            <a:r>
              <a:rPr sz="1200" b="1">
                <a:solidFill>
                  <a:srgbClr val="52616B"/>
                </a:solidFill>
              </a:rPr>
              <a:t>04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E6DF9DD-45EF-4454-A742-22ED83DA5C76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571500" cy="571500"/>
          </a:xfrm>
          <a:prstGeom prst="ellipse">
            <a:avLst/>
          </a:prstGeom>
          <a:solidFill>
            <a:srgbClr val="087E8B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E8BDD0-ABC4-4EA5-BAB9-4B82A5466B97}"/>
              </a:ext>
            </a:extLst>
          </p:cNvPr>
          <p:cNvSpPr>
            <a:spLocks noGrp="1"/>
          </p:cNvSpPr>
          <p:nvPr/>
        </p:nvSpPr>
        <p:spPr>
          <a:xfrm>
            <a:off x="733425" y="18954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446C02-5440-4B14-BAE0-198B202327A2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102A43"/>
                </a:solidFill>
              </a:defRPr>
            </a:defPPr>
            <a:lvl1pPr>
              <a:defRPr sz="1800" b="1">
                <a:solidFill>
                  <a:srgbClr val="102A43"/>
                </a:solidFill>
              </a:defRPr>
            </a:lvl1pPr>
            <a:lvl2pPr>
              <a:defRPr sz="1800" b="1">
                <a:solidFill>
                  <a:srgbClr val="102A43"/>
                </a:solidFill>
              </a:defRPr>
            </a:lvl2pPr>
            <a:lvl3pPr>
              <a:defRPr sz="1800" b="1">
                <a:solidFill>
                  <a:srgbClr val="102A43"/>
                </a:solidFill>
              </a:defRPr>
            </a:lvl3pPr>
            <a:lvl4pPr>
              <a:defRPr sz="1800" b="1">
                <a:solidFill>
                  <a:srgbClr val="102A43"/>
                </a:solidFill>
              </a:defRPr>
            </a:lvl4pPr>
            <a:lvl5pPr>
              <a:defRPr sz="1800" b="1">
                <a:solidFill>
                  <a:srgbClr val="102A43"/>
                </a:solidFill>
              </a:defRPr>
            </a:lvl5pPr>
            <a:lvl6pPr>
              <a:defRPr sz="1800" b="1">
                <a:solidFill>
                  <a:srgbClr val="102A43"/>
                </a:solidFill>
              </a:defRPr>
            </a:lvl6pPr>
            <a:lvl7pPr>
              <a:defRPr sz="1800" b="1">
                <a:solidFill>
                  <a:srgbClr val="102A43"/>
                </a:solidFill>
              </a:defRPr>
            </a:lvl7pPr>
            <a:lvl8pPr>
              <a:defRPr sz="1800" b="1">
                <a:solidFill>
                  <a:srgbClr val="102A43"/>
                </a:solidFill>
              </a:defRPr>
            </a:lvl8pPr>
            <a:lvl9pPr>
              <a:defRPr sz="1800" b="1">
                <a:solidFill>
                  <a:srgbClr val="102A43"/>
                </a:solidFill>
              </a:defRPr>
            </a:lvl9pPr>
          </a:lstStyle>
          <a:p>
            <a:pPr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Align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E1FC15-A148-4889-824E-45922315538D}"/>
              </a:ext>
            </a:extLst>
          </p:cNvPr>
          <p:cNvSpPr>
            <a:spLocks noGrp="1"/>
          </p:cNvSpPr>
          <p:nvPr/>
        </p:nvSpPr>
        <p:spPr>
          <a:xfrm>
            <a:off x="685800" y="3086100"/>
            <a:ext cx="1809750" cy="5539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spAutoFit/>
          </a:bodyPr>
          <a:lstStyle>
            <a:defPPr>
              <a:defRPr sz="1500" b="0">
                <a:solidFill>
                  <a:srgbClr val="52616B"/>
                </a:solidFill>
              </a:defRPr>
            </a:defPPr>
            <a:lvl1pPr>
              <a:defRPr sz="1500" b="0">
                <a:solidFill>
                  <a:srgbClr val="52616B"/>
                </a:solidFill>
              </a:defRPr>
            </a:lvl1pPr>
            <a:lvl2pPr>
              <a:defRPr sz="1500" b="0">
                <a:solidFill>
                  <a:srgbClr val="52616B"/>
                </a:solidFill>
              </a:defRPr>
            </a:lvl2pPr>
            <a:lvl3pPr>
              <a:defRPr sz="1500" b="0">
                <a:solidFill>
                  <a:srgbClr val="52616B"/>
                </a:solidFill>
              </a:defRPr>
            </a:lvl3pPr>
            <a:lvl4pPr>
              <a:defRPr sz="1500" b="0">
                <a:solidFill>
                  <a:srgbClr val="52616B"/>
                </a:solidFill>
              </a:defRPr>
            </a:lvl4pPr>
            <a:lvl5pPr>
              <a:defRPr sz="1500" b="0">
                <a:solidFill>
                  <a:srgbClr val="52616B"/>
                </a:solidFill>
              </a:defRPr>
            </a:lvl5pPr>
            <a:lvl6pPr>
              <a:defRPr sz="1500" b="0">
                <a:solidFill>
                  <a:srgbClr val="52616B"/>
                </a:solidFill>
              </a:defRPr>
            </a:lvl6pPr>
            <a:lvl7pPr>
              <a:defRPr sz="1500" b="0">
                <a:solidFill>
                  <a:srgbClr val="52616B"/>
                </a:solidFill>
              </a:defRPr>
            </a:lvl7pPr>
            <a:lvl8pPr>
              <a:defRPr sz="1500" b="0">
                <a:solidFill>
                  <a:srgbClr val="52616B"/>
                </a:solidFill>
              </a:defRPr>
            </a:lvl8pPr>
            <a:lvl9pPr>
              <a:defRPr sz="1500" b="0">
                <a:solidFill>
                  <a:srgbClr val="52616B"/>
                </a:solidFill>
              </a:defRPr>
            </a:lvl9pPr>
          </a:lstStyle>
          <a:p>
            <a:pPr>
              <a:defRPr sz="1500" b="0">
                <a:solidFill>
                  <a:srgbClr val="52616B"/>
                </a:solidFill>
              </a:defRPr>
            </a:pPr>
            <a:r>
              <a:rPr lang="en-US" sz="1500" b="0">
                <a:solidFill>
                  <a:srgbClr val="52616B"/>
                </a:solidFill>
              </a:rPr>
              <a:t>0.25° fire, climate</a:t>
            </a:r>
          </a:p>
          <a:p>
            <a:pPr>
              <a:defRPr sz="1500" b="0">
                <a:solidFill>
                  <a:srgbClr val="52616B"/>
                </a:solidFill>
              </a:defRPr>
            </a:pPr>
            <a:r>
              <a:rPr lang="en-US" sz="1500" b="0">
                <a:solidFill>
                  <a:srgbClr val="52616B"/>
                </a:solidFill>
              </a:rPr>
              <a:t>and MODIS inputs</a:t>
            </a:r>
            <a:endParaRPr sz="1500" b="0">
              <a:solidFill>
                <a:srgbClr val="52616B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21727F-515C-42CE-BEDA-2AC3370CD01D}"/>
              </a:ext>
            </a:extLst>
          </p:cNvPr>
          <p:cNvSpPr>
            <a:spLocks noGrp="1"/>
          </p:cNvSpPr>
          <p:nvPr/>
        </p:nvSpPr>
        <p:spPr>
          <a:xfrm>
            <a:off x="1400175" y="2009775"/>
            <a:ext cx="1381125" cy="19050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1C63B4A-14B3-4B02-8526-503C7187D3AC}"/>
              </a:ext>
            </a:extLst>
          </p:cNvPr>
          <p:cNvSpPr>
            <a:spLocks noGrp="1"/>
          </p:cNvSpPr>
          <p:nvPr/>
        </p:nvSpPr>
        <p:spPr>
          <a:xfrm>
            <a:off x="2914650" y="1752600"/>
            <a:ext cx="571500" cy="571500"/>
          </a:xfrm>
          <a:prstGeom prst="ellipse">
            <a:avLst/>
          </a:prstGeom>
          <a:solidFill>
            <a:srgbClr val="087E8B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7BCD33-0ABB-4D7E-91C5-2F0559EFA24F}"/>
              </a:ext>
            </a:extLst>
          </p:cNvPr>
          <p:cNvSpPr>
            <a:spLocks noGrp="1"/>
          </p:cNvSpPr>
          <p:nvPr/>
        </p:nvSpPr>
        <p:spPr>
          <a:xfrm>
            <a:off x="2962275" y="18954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7BE0F5-64EE-487C-A7C0-2EDD3F5D9C4B}"/>
              </a:ext>
            </a:extLst>
          </p:cNvPr>
          <p:cNvSpPr>
            <a:spLocks noGrp="1"/>
          </p:cNvSpPr>
          <p:nvPr/>
        </p:nvSpPr>
        <p:spPr>
          <a:xfrm>
            <a:off x="2914650" y="26479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102A43"/>
                </a:solidFill>
              </a:defRPr>
            </a:defPPr>
            <a:lvl1pPr>
              <a:defRPr sz="1800" b="1">
                <a:solidFill>
                  <a:srgbClr val="102A43"/>
                </a:solidFill>
              </a:defRPr>
            </a:lvl1pPr>
            <a:lvl2pPr>
              <a:defRPr sz="1800" b="1">
                <a:solidFill>
                  <a:srgbClr val="102A43"/>
                </a:solidFill>
              </a:defRPr>
            </a:lvl2pPr>
            <a:lvl3pPr>
              <a:defRPr sz="1800" b="1">
                <a:solidFill>
                  <a:srgbClr val="102A43"/>
                </a:solidFill>
              </a:defRPr>
            </a:lvl3pPr>
            <a:lvl4pPr>
              <a:defRPr sz="1800" b="1">
                <a:solidFill>
                  <a:srgbClr val="102A43"/>
                </a:solidFill>
              </a:defRPr>
            </a:lvl4pPr>
            <a:lvl5pPr>
              <a:defRPr sz="1800" b="1">
                <a:solidFill>
                  <a:srgbClr val="102A43"/>
                </a:solidFill>
              </a:defRPr>
            </a:lvl5pPr>
            <a:lvl6pPr>
              <a:defRPr sz="1800" b="1">
                <a:solidFill>
                  <a:srgbClr val="102A43"/>
                </a:solidFill>
              </a:defRPr>
            </a:lvl6pPr>
            <a:lvl7pPr>
              <a:defRPr sz="1800" b="1">
                <a:solidFill>
                  <a:srgbClr val="102A43"/>
                </a:solidFill>
              </a:defRPr>
            </a:lvl7pPr>
            <a:lvl8pPr>
              <a:defRPr sz="1800" b="1">
                <a:solidFill>
                  <a:srgbClr val="102A43"/>
                </a:solidFill>
              </a:defRPr>
            </a:lvl8pPr>
            <a:lvl9pPr>
              <a:defRPr sz="1800" b="1">
                <a:solidFill>
                  <a:srgbClr val="102A43"/>
                </a:solidFill>
              </a:defRPr>
            </a:lvl9pPr>
          </a:lstStyle>
          <a:p>
            <a:pPr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Engineer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E7A5AB-003C-4872-9C1D-D2ABAB308490}"/>
              </a:ext>
            </a:extLst>
          </p:cNvPr>
          <p:cNvSpPr>
            <a:spLocks noGrp="1"/>
          </p:cNvSpPr>
          <p:nvPr/>
        </p:nvSpPr>
        <p:spPr>
          <a:xfrm>
            <a:off x="2914650" y="3086100"/>
            <a:ext cx="1809750" cy="7848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spAutoFit/>
          </a:bodyPr>
          <a:lstStyle>
            <a:defPPr>
              <a:defRPr sz="1500" b="0">
                <a:solidFill>
                  <a:srgbClr val="52616B"/>
                </a:solidFill>
              </a:defRPr>
            </a:defPPr>
            <a:lvl1pPr>
              <a:defRPr sz="1500" b="0">
                <a:solidFill>
                  <a:srgbClr val="52616B"/>
                </a:solidFill>
              </a:defRPr>
            </a:lvl1pPr>
            <a:lvl2pPr>
              <a:defRPr sz="1500" b="0">
                <a:solidFill>
                  <a:srgbClr val="52616B"/>
                </a:solidFill>
              </a:defRPr>
            </a:lvl2pPr>
            <a:lvl3pPr>
              <a:defRPr sz="1500" b="0">
                <a:solidFill>
                  <a:srgbClr val="52616B"/>
                </a:solidFill>
              </a:defRPr>
            </a:lvl3pPr>
            <a:lvl4pPr>
              <a:defRPr sz="1500" b="0">
                <a:solidFill>
                  <a:srgbClr val="52616B"/>
                </a:solidFill>
              </a:defRPr>
            </a:lvl4pPr>
            <a:lvl5pPr>
              <a:defRPr sz="1500" b="0">
                <a:solidFill>
                  <a:srgbClr val="52616B"/>
                </a:solidFill>
              </a:defRPr>
            </a:lvl5pPr>
            <a:lvl6pPr>
              <a:defRPr sz="1500" b="0">
                <a:solidFill>
                  <a:srgbClr val="52616B"/>
                </a:solidFill>
              </a:defRPr>
            </a:lvl6pPr>
            <a:lvl7pPr>
              <a:defRPr sz="1500" b="0">
                <a:solidFill>
                  <a:srgbClr val="52616B"/>
                </a:solidFill>
              </a:defRPr>
            </a:lvl7pPr>
            <a:lvl8pPr>
              <a:defRPr sz="1500" b="0">
                <a:solidFill>
                  <a:srgbClr val="52616B"/>
                </a:solidFill>
              </a:defRPr>
            </a:lvl8pPr>
            <a:lvl9pPr>
              <a:defRPr sz="1500" b="0">
                <a:solidFill>
                  <a:srgbClr val="52616B"/>
                </a:solidFill>
              </a:defRPr>
            </a:lvl9pPr>
          </a:lstStyle>
          <a:p>
            <a:pPr>
              <a:defRPr sz="1500" b="0">
                <a:solidFill>
                  <a:srgbClr val="52616B"/>
                </a:solidFill>
              </a:defRPr>
            </a:pPr>
            <a:r>
              <a:rPr lang="en-US" sz="1500" b="0">
                <a:solidFill>
                  <a:srgbClr val="52616B"/>
                </a:solidFill>
              </a:rPr>
              <a:t>Season, rainfall lags,</a:t>
            </a:r>
          </a:p>
          <a:p>
            <a:pPr>
              <a:defRPr sz="1500" b="0">
                <a:solidFill>
                  <a:srgbClr val="52616B"/>
                </a:solidFill>
              </a:defRPr>
            </a:pPr>
            <a:r>
              <a:rPr lang="en-US" sz="1500" b="0">
                <a:solidFill>
                  <a:srgbClr val="52616B"/>
                </a:solidFill>
              </a:rPr>
              <a:t>vegetation and LST</a:t>
            </a:r>
            <a:endParaRPr sz="1500" b="0">
              <a:solidFill>
                <a:srgbClr val="52616B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E12DEA-9342-491C-A423-66BBE30694A0}"/>
              </a:ext>
            </a:extLst>
          </p:cNvPr>
          <p:cNvSpPr>
            <a:spLocks noGrp="1"/>
          </p:cNvSpPr>
          <p:nvPr/>
        </p:nvSpPr>
        <p:spPr>
          <a:xfrm>
            <a:off x="3629025" y="2009775"/>
            <a:ext cx="1381125" cy="19050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B2B6EC4-CC51-418F-B146-E8B20F35EBA7}"/>
              </a:ext>
            </a:extLst>
          </p:cNvPr>
          <p:cNvSpPr>
            <a:spLocks noGrp="1"/>
          </p:cNvSpPr>
          <p:nvPr/>
        </p:nvSpPr>
        <p:spPr>
          <a:xfrm>
            <a:off x="5143500" y="1752600"/>
            <a:ext cx="571500" cy="571500"/>
          </a:xfrm>
          <a:prstGeom prst="ellipse">
            <a:avLst/>
          </a:prstGeom>
          <a:solidFill>
            <a:srgbClr val="087E8B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8E357D-067E-4E5D-AD99-FD105F9DD43B}"/>
              </a:ext>
            </a:extLst>
          </p:cNvPr>
          <p:cNvSpPr>
            <a:spLocks noGrp="1"/>
          </p:cNvSpPr>
          <p:nvPr/>
        </p:nvSpPr>
        <p:spPr>
          <a:xfrm>
            <a:off x="5191125" y="18954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C7EA90-D783-4379-ABA2-D79D8FB1D26F}"/>
              </a:ext>
            </a:extLst>
          </p:cNvPr>
          <p:cNvSpPr>
            <a:spLocks noGrp="1"/>
          </p:cNvSpPr>
          <p:nvPr/>
        </p:nvSpPr>
        <p:spPr>
          <a:xfrm>
            <a:off x="5143500" y="26479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102A43"/>
                </a:solidFill>
              </a:defRPr>
            </a:defPPr>
            <a:lvl1pPr>
              <a:defRPr sz="1800" b="1">
                <a:solidFill>
                  <a:srgbClr val="102A43"/>
                </a:solidFill>
              </a:defRPr>
            </a:lvl1pPr>
            <a:lvl2pPr>
              <a:defRPr sz="1800" b="1">
                <a:solidFill>
                  <a:srgbClr val="102A43"/>
                </a:solidFill>
              </a:defRPr>
            </a:lvl2pPr>
            <a:lvl3pPr>
              <a:defRPr sz="1800" b="1">
                <a:solidFill>
                  <a:srgbClr val="102A43"/>
                </a:solidFill>
              </a:defRPr>
            </a:lvl3pPr>
            <a:lvl4pPr>
              <a:defRPr sz="1800" b="1">
                <a:solidFill>
                  <a:srgbClr val="102A43"/>
                </a:solidFill>
              </a:defRPr>
            </a:lvl4pPr>
            <a:lvl5pPr>
              <a:defRPr sz="1800" b="1">
                <a:solidFill>
                  <a:srgbClr val="102A43"/>
                </a:solidFill>
              </a:defRPr>
            </a:lvl5pPr>
            <a:lvl6pPr>
              <a:defRPr sz="1800" b="1">
                <a:solidFill>
                  <a:srgbClr val="102A43"/>
                </a:solidFill>
              </a:defRPr>
            </a:lvl6pPr>
            <a:lvl7pPr>
              <a:defRPr sz="1800" b="1">
                <a:solidFill>
                  <a:srgbClr val="102A43"/>
                </a:solidFill>
              </a:defRPr>
            </a:lvl7pPr>
            <a:lvl8pPr>
              <a:defRPr sz="1800" b="1">
                <a:solidFill>
                  <a:srgbClr val="102A43"/>
                </a:solidFill>
              </a:defRPr>
            </a:lvl8pPr>
            <a:lvl9pPr>
              <a:defRPr sz="1800" b="1">
                <a:solidFill>
                  <a:srgbClr val="102A43"/>
                </a:solidFill>
              </a:defRPr>
            </a:lvl9pPr>
          </a:lstStyle>
          <a:p>
            <a:pPr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Fit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812AB4-C3CA-403C-85FC-00BD9A6C36A0}"/>
              </a:ext>
            </a:extLst>
          </p:cNvPr>
          <p:cNvSpPr>
            <a:spLocks noGrp="1"/>
          </p:cNvSpPr>
          <p:nvPr/>
        </p:nvSpPr>
        <p:spPr>
          <a:xfrm>
            <a:off x="5143500" y="3086100"/>
            <a:ext cx="1809750" cy="5539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spAutoFit/>
          </a:bodyPr>
          <a:lstStyle>
            <a:defPPr>
              <a:defRPr sz="1500" b="0">
                <a:solidFill>
                  <a:srgbClr val="52616B"/>
                </a:solidFill>
              </a:defRPr>
            </a:defPPr>
            <a:lvl1pPr>
              <a:defRPr sz="1500" b="0">
                <a:solidFill>
                  <a:srgbClr val="52616B"/>
                </a:solidFill>
              </a:defRPr>
            </a:lvl1pPr>
            <a:lvl2pPr>
              <a:defRPr sz="1500" b="0">
                <a:solidFill>
                  <a:srgbClr val="52616B"/>
                </a:solidFill>
              </a:defRPr>
            </a:lvl2pPr>
            <a:lvl3pPr>
              <a:defRPr sz="1500" b="0">
                <a:solidFill>
                  <a:srgbClr val="52616B"/>
                </a:solidFill>
              </a:defRPr>
            </a:lvl3pPr>
            <a:lvl4pPr>
              <a:defRPr sz="1500" b="0">
                <a:solidFill>
                  <a:srgbClr val="52616B"/>
                </a:solidFill>
              </a:defRPr>
            </a:lvl4pPr>
            <a:lvl5pPr>
              <a:defRPr sz="1500" b="0">
                <a:solidFill>
                  <a:srgbClr val="52616B"/>
                </a:solidFill>
              </a:defRPr>
            </a:lvl5pPr>
            <a:lvl6pPr>
              <a:defRPr sz="1500" b="0">
                <a:solidFill>
                  <a:srgbClr val="52616B"/>
                </a:solidFill>
              </a:defRPr>
            </a:lvl6pPr>
            <a:lvl7pPr>
              <a:defRPr sz="1500" b="0">
                <a:solidFill>
                  <a:srgbClr val="52616B"/>
                </a:solidFill>
              </a:defRPr>
            </a:lvl7pPr>
            <a:lvl8pPr>
              <a:defRPr sz="1500" b="0">
                <a:solidFill>
                  <a:srgbClr val="52616B"/>
                </a:solidFill>
              </a:defRPr>
            </a:lvl8pPr>
            <a:lvl9pPr>
              <a:defRPr sz="1500" b="0">
                <a:solidFill>
                  <a:srgbClr val="52616B"/>
                </a:solidFill>
              </a:defRPr>
            </a:lvl9pPr>
          </a:lstStyle>
          <a:p>
            <a:pPr>
              <a:defRPr sz="1500" b="0">
                <a:solidFill>
                  <a:srgbClr val="52616B"/>
                </a:solidFill>
              </a:defRPr>
            </a:pPr>
            <a:r>
              <a:rPr lang="en-US" sz="1500" b="0">
                <a:solidFill>
                  <a:srgbClr val="52616B"/>
                </a:solidFill>
              </a:rPr>
              <a:t>HistGradient</a:t>
            </a:r>
          </a:p>
          <a:p>
            <a:pPr>
              <a:defRPr sz="1500" b="0">
                <a:solidFill>
                  <a:srgbClr val="52616B"/>
                </a:solidFill>
              </a:defRPr>
            </a:pPr>
            <a:r>
              <a:rPr lang="en-US" sz="1500" b="0">
                <a:solidFill>
                  <a:srgbClr val="52616B"/>
                </a:solidFill>
              </a:rPr>
              <a:t>Boosting</a:t>
            </a:r>
            <a:endParaRPr sz="1500" b="0">
              <a:solidFill>
                <a:srgbClr val="52616B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7CC767-2AFD-4D39-9C71-69105AB70B8F}"/>
              </a:ext>
            </a:extLst>
          </p:cNvPr>
          <p:cNvSpPr>
            <a:spLocks noGrp="1"/>
          </p:cNvSpPr>
          <p:nvPr/>
        </p:nvSpPr>
        <p:spPr>
          <a:xfrm>
            <a:off x="5857875" y="2009775"/>
            <a:ext cx="1381125" cy="19050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BDC02DD-4218-49D3-AC29-06AAE4975F93}"/>
              </a:ext>
            </a:extLst>
          </p:cNvPr>
          <p:cNvSpPr>
            <a:spLocks noGrp="1"/>
          </p:cNvSpPr>
          <p:nvPr/>
        </p:nvSpPr>
        <p:spPr>
          <a:xfrm>
            <a:off x="7372350" y="1752600"/>
            <a:ext cx="571500" cy="571500"/>
          </a:xfrm>
          <a:prstGeom prst="ellipse">
            <a:avLst/>
          </a:prstGeom>
          <a:solidFill>
            <a:srgbClr val="087E8B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B4A907-152D-469C-815A-926D6EB076B6}"/>
              </a:ext>
            </a:extLst>
          </p:cNvPr>
          <p:cNvSpPr>
            <a:spLocks noGrp="1"/>
          </p:cNvSpPr>
          <p:nvPr/>
        </p:nvSpPr>
        <p:spPr>
          <a:xfrm>
            <a:off x="7419975" y="18954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18E38C-4AB2-4334-9F99-FB8AE2DDF45A}"/>
              </a:ext>
            </a:extLst>
          </p:cNvPr>
          <p:cNvSpPr>
            <a:spLocks noGrp="1"/>
          </p:cNvSpPr>
          <p:nvPr/>
        </p:nvSpPr>
        <p:spPr>
          <a:xfrm>
            <a:off x="7372350" y="26479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102A43"/>
                </a:solidFill>
              </a:defRPr>
            </a:defPPr>
            <a:lvl1pPr>
              <a:defRPr sz="1800" b="1">
                <a:solidFill>
                  <a:srgbClr val="102A43"/>
                </a:solidFill>
              </a:defRPr>
            </a:lvl1pPr>
            <a:lvl2pPr>
              <a:defRPr sz="1800" b="1">
                <a:solidFill>
                  <a:srgbClr val="102A43"/>
                </a:solidFill>
              </a:defRPr>
            </a:lvl2pPr>
            <a:lvl3pPr>
              <a:defRPr sz="1800" b="1">
                <a:solidFill>
                  <a:srgbClr val="102A43"/>
                </a:solidFill>
              </a:defRPr>
            </a:lvl3pPr>
            <a:lvl4pPr>
              <a:defRPr sz="1800" b="1">
                <a:solidFill>
                  <a:srgbClr val="102A43"/>
                </a:solidFill>
              </a:defRPr>
            </a:lvl4pPr>
            <a:lvl5pPr>
              <a:defRPr sz="1800" b="1">
                <a:solidFill>
                  <a:srgbClr val="102A43"/>
                </a:solidFill>
              </a:defRPr>
            </a:lvl5pPr>
            <a:lvl6pPr>
              <a:defRPr sz="1800" b="1">
                <a:solidFill>
                  <a:srgbClr val="102A43"/>
                </a:solidFill>
              </a:defRPr>
            </a:lvl6pPr>
            <a:lvl7pPr>
              <a:defRPr sz="1800" b="1">
                <a:solidFill>
                  <a:srgbClr val="102A43"/>
                </a:solidFill>
              </a:defRPr>
            </a:lvl7pPr>
            <a:lvl8pPr>
              <a:defRPr sz="1800" b="1">
                <a:solidFill>
                  <a:srgbClr val="102A43"/>
                </a:solidFill>
              </a:defRPr>
            </a:lvl8pPr>
            <a:lvl9pPr>
              <a:defRPr sz="1800" b="1">
                <a:solidFill>
                  <a:srgbClr val="102A43"/>
                </a:solidFill>
              </a:defRPr>
            </a:lvl9pPr>
          </a:lstStyle>
          <a:p>
            <a:pPr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Validate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2D6DE8-B8B0-4027-8F9B-C5BE3FED39E7}"/>
              </a:ext>
            </a:extLst>
          </p:cNvPr>
          <p:cNvSpPr>
            <a:spLocks noGrp="1"/>
          </p:cNvSpPr>
          <p:nvPr/>
        </p:nvSpPr>
        <p:spPr>
          <a:xfrm>
            <a:off x="7372350" y="3086100"/>
            <a:ext cx="1809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>
            <a:defPPr>
              <a:defRPr sz="1500" b="0">
                <a:solidFill>
                  <a:srgbClr val="52616B"/>
                </a:solidFill>
              </a:defRPr>
            </a:defPPr>
            <a:lvl1pPr>
              <a:defRPr sz="1500" b="0">
                <a:solidFill>
                  <a:srgbClr val="52616B"/>
                </a:solidFill>
              </a:defRPr>
            </a:lvl1pPr>
            <a:lvl2pPr>
              <a:defRPr sz="1500" b="0">
                <a:solidFill>
                  <a:srgbClr val="52616B"/>
                </a:solidFill>
              </a:defRPr>
            </a:lvl2pPr>
            <a:lvl3pPr>
              <a:defRPr sz="1500" b="0">
                <a:solidFill>
                  <a:srgbClr val="52616B"/>
                </a:solidFill>
              </a:defRPr>
            </a:lvl3pPr>
            <a:lvl4pPr>
              <a:defRPr sz="1500" b="0">
                <a:solidFill>
                  <a:srgbClr val="52616B"/>
                </a:solidFill>
              </a:defRPr>
            </a:lvl4pPr>
            <a:lvl5pPr>
              <a:defRPr sz="1500" b="0">
                <a:solidFill>
                  <a:srgbClr val="52616B"/>
                </a:solidFill>
              </a:defRPr>
            </a:lvl5pPr>
            <a:lvl6pPr>
              <a:defRPr sz="1500" b="0">
                <a:solidFill>
                  <a:srgbClr val="52616B"/>
                </a:solidFill>
              </a:defRPr>
            </a:lvl6pPr>
            <a:lvl7pPr>
              <a:defRPr sz="1500" b="0">
                <a:solidFill>
                  <a:srgbClr val="52616B"/>
                </a:solidFill>
              </a:defRPr>
            </a:lvl7pPr>
            <a:lvl8pPr>
              <a:defRPr sz="1500" b="0">
                <a:solidFill>
                  <a:srgbClr val="52616B"/>
                </a:solidFill>
              </a:defRPr>
            </a:lvl8pPr>
            <a:lvl9pPr>
              <a:defRPr sz="1500" b="0">
                <a:solidFill>
                  <a:srgbClr val="52616B"/>
                </a:solidFill>
              </a:defRPr>
            </a:lvl9pPr>
          </a:lstStyle>
          <a:p>
            <a:pPr>
              <a:defRPr sz="1500" b="0">
                <a:solidFill>
                  <a:srgbClr val="52616B"/>
                </a:solidFill>
              </a:defRPr>
            </a:pPr>
            <a:r>
              <a:rPr lang="en-US" sz="1500" b="0">
                <a:solidFill>
                  <a:srgbClr val="52616B"/>
                </a:solidFill>
              </a:rPr>
              <a:t>2° spatial blocks</a:t>
            </a:r>
          </a:p>
          <a:p>
            <a:pPr>
              <a:defRPr sz="1500" b="0">
                <a:solidFill>
                  <a:srgbClr val="52616B"/>
                </a:solidFill>
              </a:defRPr>
            </a:pPr>
            <a:r>
              <a:rPr lang="en-US" sz="1500" b="0">
                <a:solidFill>
                  <a:srgbClr val="52616B"/>
                </a:solidFill>
              </a:rPr>
              <a:t>5 held-out folds</a:t>
            </a:r>
            <a:endParaRPr sz="1500" b="0">
              <a:solidFill>
                <a:srgbClr val="52616B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4AF0FB-FE70-4F4C-B62F-400EED52A535}"/>
              </a:ext>
            </a:extLst>
          </p:cNvPr>
          <p:cNvSpPr>
            <a:spLocks noGrp="1"/>
          </p:cNvSpPr>
          <p:nvPr/>
        </p:nvSpPr>
        <p:spPr>
          <a:xfrm>
            <a:off x="8086725" y="2009775"/>
            <a:ext cx="1381125" cy="19050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2A42AC-848A-4A2C-AD4F-824BE8C65684}"/>
              </a:ext>
            </a:extLst>
          </p:cNvPr>
          <p:cNvSpPr>
            <a:spLocks noGrp="1"/>
          </p:cNvSpPr>
          <p:nvPr/>
        </p:nvSpPr>
        <p:spPr>
          <a:xfrm>
            <a:off x="9601200" y="1752600"/>
            <a:ext cx="571500" cy="571500"/>
          </a:xfrm>
          <a:prstGeom prst="ellipse">
            <a:avLst/>
          </a:prstGeom>
          <a:solidFill>
            <a:srgbClr val="F2A900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45B3389-B9E0-4501-AACB-6D711ABE774F}"/>
              </a:ext>
            </a:extLst>
          </p:cNvPr>
          <p:cNvSpPr>
            <a:spLocks noGrp="1"/>
          </p:cNvSpPr>
          <p:nvPr/>
        </p:nvSpPr>
        <p:spPr>
          <a:xfrm>
            <a:off x="9648825" y="18954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AEB0DC-467D-45DB-9D9B-B0C4223628CF}"/>
              </a:ext>
            </a:extLst>
          </p:cNvPr>
          <p:cNvSpPr>
            <a:spLocks noGrp="1"/>
          </p:cNvSpPr>
          <p:nvPr/>
        </p:nvSpPr>
        <p:spPr>
          <a:xfrm>
            <a:off x="9601200" y="26479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102A43"/>
                </a:solidFill>
              </a:defRPr>
            </a:defPPr>
            <a:lvl1pPr>
              <a:defRPr sz="1800" b="1">
                <a:solidFill>
                  <a:srgbClr val="102A43"/>
                </a:solidFill>
              </a:defRPr>
            </a:lvl1pPr>
            <a:lvl2pPr>
              <a:defRPr sz="1800" b="1">
                <a:solidFill>
                  <a:srgbClr val="102A43"/>
                </a:solidFill>
              </a:defRPr>
            </a:lvl2pPr>
            <a:lvl3pPr>
              <a:defRPr sz="1800" b="1">
                <a:solidFill>
                  <a:srgbClr val="102A43"/>
                </a:solidFill>
              </a:defRPr>
            </a:lvl3pPr>
            <a:lvl4pPr>
              <a:defRPr sz="1800" b="1">
                <a:solidFill>
                  <a:srgbClr val="102A43"/>
                </a:solidFill>
              </a:defRPr>
            </a:lvl4pPr>
            <a:lvl5pPr>
              <a:defRPr sz="1800" b="1">
                <a:solidFill>
                  <a:srgbClr val="102A43"/>
                </a:solidFill>
              </a:defRPr>
            </a:lvl5pPr>
            <a:lvl6pPr>
              <a:defRPr sz="1800" b="1">
                <a:solidFill>
                  <a:srgbClr val="102A43"/>
                </a:solidFill>
              </a:defRPr>
            </a:lvl6pPr>
            <a:lvl7pPr>
              <a:defRPr sz="1800" b="1">
                <a:solidFill>
                  <a:srgbClr val="102A43"/>
                </a:solidFill>
              </a:defRPr>
            </a:lvl7pPr>
            <a:lvl8pPr>
              <a:defRPr sz="1800" b="1">
                <a:solidFill>
                  <a:srgbClr val="102A43"/>
                </a:solidFill>
              </a:defRPr>
            </a:lvl8pPr>
            <a:lvl9pPr>
              <a:defRPr sz="1800" b="1">
                <a:solidFill>
                  <a:srgbClr val="102A43"/>
                </a:solidFill>
              </a:defRPr>
            </a:lvl9pPr>
          </a:lstStyle>
          <a:p>
            <a:pPr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Score Lagos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EB2004-4ECF-4F3A-A7CB-29630DC9DABD}"/>
              </a:ext>
            </a:extLst>
          </p:cNvPr>
          <p:cNvSpPr>
            <a:spLocks noGrp="1"/>
          </p:cNvSpPr>
          <p:nvPr/>
        </p:nvSpPr>
        <p:spPr>
          <a:xfrm>
            <a:off x="9601200" y="3086100"/>
            <a:ext cx="1809750" cy="5539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spAutoFit/>
          </a:bodyPr>
          <a:lstStyle>
            <a:defPPr>
              <a:defRPr sz="1500" b="0">
                <a:solidFill>
                  <a:srgbClr val="52616B"/>
                </a:solidFill>
              </a:defRPr>
            </a:defPPr>
            <a:lvl1pPr>
              <a:defRPr sz="1500" b="0">
                <a:solidFill>
                  <a:srgbClr val="52616B"/>
                </a:solidFill>
              </a:defRPr>
            </a:lvl1pPr>
            <a:lvl2pPr>
              <a:defRPr sz="1500" b="0">
                <a:solidFill>
                  <a:srgbClr val="52616B"/>
                </a:solidFill>
              </a:defRPr>
            </a:lvl2pPr>
            <a:lvl3pPr>
              <a:defRPr sz="1500" b="0">
                <a:solidFill>
                  <a:srgbClr val="52616B"/>
                </a:solidFill>
              </a:defRPr>
            </a:lvl3pPr>
            <a:lvl4pPr>
              <a:defRPr sz="1500" b="0">
                <a:solidFill>
                  <a:srgbClr val="52616B"/>
                </a:solidFill>
              </a:defRPr>
            </a:lvl4pPr>
            <a:lvl5pPr>
              <a:defRPr sz="1500" b="0">
                <a:solidFill>
                  <a:srgbClr val="52616B"/>
                </a:solidFill>
              </a:defRPr>
            </a:lvl5pPr>
            <a:lvl6pPr>
              <a:defRPr sz="1500" b="0">
                <a:solidFill>
                  <a:srgbClr val="52616B"/>
                </a:solidFill>
              </a:defRPr>
            </a:lvl6pPr>
            <a:lvl7pPr>
              <a:defRPr sz="1500" b="0">
                <a:solidFill>
                  <a:srgbClr val="52616B"/>
                </a:solidFill>
              </a:defRPr>
            </a:lvl7pPr>
            <a:lvl8pPr>
              <a:defRPr sz="1500" b="0">
                <a:solidFill>
                  <a:srgbClr val="52616B"/>
                </a:solidFill>
              </a:defRPr>
            </a:lvl8pPr>
            <a:lvl9pPr>
              <a:defRPr sz="1500" b="0">
                <a:solidFill>
                  <a:srgbClr val="52616B"/>
                </a:solidFill>
              </a:defRPr>
            </a:lvl9pPr>
          </a:lstStyle>
          <a:p>
            <a:pPr>
              <a:defRPr sz="1500" b="0">
                <a:solidFill>
                  <a:srgbClr val="52616B"/>
                </a:solidFill>
              </a:defRPr>
            </a:pPr>
            <a:r>
              <a:rPr lang="en-US" sz="1500" b="0">
                <a:solidFill>
                  <a:srgbClr val="52616B"/>
                </a:solidFill>
              </a:rPr>
              <a:t>Native 0.25° cells</a:t>
            </a:r>
          </a:p>
          <a:p>
            <a:pPr>
              <a:defRPr sz="1500" b="0">
                <a:solidFill>
                  <a:srgbClr val="52616B"/>
                </a:solidFill>
              </a:defRPr>
            </a:pPr>
            <a:r>
              <a:rPr lang="en-US" sz="1500" b="0">
                <a:solidFill>
                  <a:srgbClr val="52616B"/>
                </a:solidFill>
              </a:rPr>
              <a:t>clipped to Lagos</a:t>
            </a:r>
            <a:endParaRPr sz="1500" b="0">
              <a:solidFill>
                <a:srgbClr val="52616B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FB8D3BE-F0C4-41F1-9459-6B5945806B58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10287000" cy="3808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spAutoFit/>
          </a:bodyPr>
          <a:lstStyle>
            <a:defPPr>
              <a:defRPr sz="1875" b="0">
                <a:solidFill>
                  <a:srgbClr val="243B53"/>
                </a:solidFill>
              </a:defRPr>
            </a:defPPr>
            <a:lvl1pPr>
              <a:defRPr sz="1875" b="0">
                <a:solidFill>
                  <a:srgbClr val="243B53"/>
                </a:solidFill>
              </a:defRPr>
            </a:lvl1pPr>
            <a:lvl2pPr>
              <a:defRPr sz="1875" b="0">
                <a:solidFill>
                  <a:srgbClr val="243B53"/>
                </a:solidFill>
              </a:defRPr>
            </a:lvl2pPr>
            <a:lvl3pPr>
              <a:defRPr sz="1875" b="0">
                <a:solidFill>
                  <a:srgbClr val="243B53"/>
                </a:solidFill>
              </a:defRPr>
            </a:lvl3pPr>
            <a:lvl4pPr>
              <a:defRPr sz="1875" b="0">
                <a:solidFill>
                  <a:srgbClr val="243B53"/>
                </a:solidFill>
              </a:defRPr>
            </a:lvl4pPr>
            <a:lvl5pPr>
              <a:defRPr sz="1875" b="0">
                <a:solidFill>
                  <a:srgbClr val="243B53"/>
                </a:solidFill>
              </a:defRPr>
            </a:lvl5pPr>
            <a:lvl6pPr>
              <a:defRPr sz="1875" b="0">
                <a:solidFill>
                  <a:srgbClr val="243B53"/>
                </a:solidFill>
              </a:defRPr>
            </a:lvl6pPr>
            <a:lvl7pPr>
              <a:defRPr sz="1875" b="0">
                <a:solidFill>
                  <a:srgbClr val="243B53"/>
                </a:solidFill>
              </a:defRPr>
            </a:lvl7pPr>
            <a:lvl8pPr>
              <a:defRPr sz="1875" b="0">
                <a:solidFill>
                  <a:srgbClr val="243B53"/>
                </a:solidFill>
              </a:defRPr>
            </a:lvl8pPr>
            <a:lvl9pPr>
              <a:defRPr sz="1875" b="0">
                <a:solidFill>
                  <a:srgbClr val="243B53"/>
                </a:solidFill>
              </a:defRPr>
            </a:lvl9pPr>
          </a:lstStyle>
          <a:p>
            <a:pPr>
              <a:defRPr sz="1875" b="0">
                <a:solidFill>
                  <a:srgbClr val="243B53"/>
                </a:solidFill>
              </a:defRPr>
            </a:pPr>
            <a:r>
              <a:rPr lang="en-US" sz="1875" b="0">
                <a:solidFill>
                  <a:srgbClr val="243B53"/>
                </a:solidFill>
              </a:rPr>
              <a:t>Five-fold spatial validation holds out entire 2° blocks across Nigeria.</a:t>
            </a:r>
            <a:endParaRPr sz="1875" b="0">
              <a:solidFill>
                <a:srgbClr val="243B5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1882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A529DE49-DAD3-41FD-9FEA-C05AA2160D0E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925" b="1">
                <a:solidFill>
                  <a:srgbClr val="102A43"/>
                </a:solidFill>
              </a:defRPr>
            </a:defPPr>
            <a:lvl1pPr>
              <a:defRPr sz="2925" b="1">
                <a:solidFill>
                  <a:srgbClr val="102A43"/>
                </a:solidFill>
              </a:defRPr>
            </a:lvl1pPr>
            <a:lvl2pPr>
              <a:defRPr sz="2925" b="1">
                <a:solidFill>
                  <a:srgbClr val="102A43"/>
                </a:solidFill>
              </a:defRPr>
            </a:lvl2pPr>
            <a:lvl3pPr>
              <a:defRPr sz="2925" b="1">
                <a:solidFill>
                  <a:srgbClr val="102A43"/>
                </a:solidFill>
              </a:defRPr>
            </a:lvl3pPr>
            <a:lvl4pPr>
              <a:defRPr sz="2925" b="1">
                <a:solidFill>
                  <a:srgbClr val="102A43"/>
                </a:solidFill>
              </a:defRPr>
            </a:lvl4pPr>
            <a:lvl5pPr>
              <a:defRPr sz="2925" b="1">
                <a:solidFill>
                  <a:srgbClr val="102A43"/>
                </a:solidFill>
              </a:defRPr>
            </a:lvl5pPr>
            <a:lvl6pPr>
              <a:defRPr sz="2925" b="1">
                <a:solidFill>
                  <a:srgbClr val="102A43"/>
                </a:solidFill>
              </a:defRPr>
            </a:lvl6pPr>
            <a:lvl7pPr>
              <a:defRPr sz="2925" b="1">
                <a:solidFill>
                  <a:srgbClr val="102A43"/>
                </a:solidFill>
              </a:defRPr>
            </a:lvl7pPr>
            <a:lvl8pPr>
              <a:defRPr sz="2925" b="1">
                <a:solidFill>
                  <a:srgbClr val="102A43"/>
                </a:solidFill>
              </a:defRPr>
            </a:lvl8pPr>
            <a:lvl9pPr>
              <a:defRPr sz="2925" b="1">
                <a:solidFill>
                  <a:srgbClr val="102A43"/>
                </a:solidFill>
              </a:defRPr>
            </a:lvl9pPr>
          </a:lstStyle>
          <a:p>
            <a:pPr>
              <a:defRPr sz="2925" b="1">
                <a:solidFill>
                  <a:srgbClr val="102A43"/>
                </a:solidFill>
              </a:defRPr>
            </a:pPr>
            <a:r>
              <a:rPr sz="2925" b="1">
                <a:solidFill>
                  <a:srgbClr val="102A43"/>
                </a:solidFill>
              </a:rPr>
              <a:t>Spatial validation results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DAAB41-0616-4192-B527-F58519BDDF46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723900" cy="47625"/>
          </a:xfrm>
          <a:prstGeom prst="rect">
            <a:avLst/>
          </a:prstGeom>
          <a:solidFill>
            <a:srgbClr val="087E8B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141F1A-B3D5-48EF-9C41-3906D6D0F209}"/>
              </a:ext>
            </a:extLst>
          </p:cNvPr>
          <p:cNvSpPr>
            <a:spLocks noGrp="1"/>
          </p:cNvSpPr>
          <p:nvPr/>
        </p:nvSpPr>
        <p:spPr>
          <a:xfrm>
            <a:off x="11239500" y="632460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52616B"/>
                </a:solidFill>
              </a:defRPr>
            </a:defPPr>
            <a:lvl1pPr>
              <a:defRPr sz="1200" b="1">
                <a:solidFill>
                  <a:srgbClr val="52616B"/>
                </a:solidFill>
              </a:defRPr>
            </a:lvl1pPr>
            <a:lvl2pPr>
              <a:defRPr sz="1200" b="1">
                <a:solidFill>
                  <a:srgbClr val="52616B"/>
                </a:solidFill>
              </a:defRPr>
            </a:lvl2pPr>
            <a:lvl3pPr>
              <a:defRPr sz="1200" b="1">
                <a:solidFill>
                  <a:srgbClr val="52616B"/>
                </a:solidFill>
              </a:defRPr>
            </a:lvl3pPr>
            <a:lvl4pPr>
              <a:defRPr sz="1200" b="1">
                <a:solidFill>
                  <a:srgbClr val="52616B"/>
                </a:solidFill>
              </a:defRPr>
            </a:lvl4pPr>
            <a:lvl5pPr>
              <a:defRPr sz="1200" b="1">
                <a:solidFill>
                  <a:srgbClr val="52616B"/>
                </a:solidFill>
              </a:defRPr>
            </a:lvl5pPr>
            <a:lvl6pPr>
              <a:defRPr sz="1200" b="1">
                <a:solidFill>
                  <a:srgbClr val="52616B"/>
                </a:solidFill>
              </a:defRPr>
            </a:lvl6pPr>
            <a:lvl7pPr>
              <a:defRPr sz="1200" b="1">
                <a:solidFill>
                  <a:srgbClr val="52616B"/>
                </a:solidFill>
              </a:defRPr>
            </a:lvl7pPr>
            <a:lvl8pPr>
              <a:defRPr sz="1200" b="1">
                <a:solidFill>
                  <a:srgbClr val="52616B"/>
                </a:solidFill>
              </a:defRPr>
            </a:lvl8pPr>
            <a:lvl9pPr>
              <a:defRPr sz="1200" b="1">
                <a:solidFill>
                  <a:srgbClr val="52616B"/>
                </a:solidFill>
              </a:defRPr>
            </a:lvl9pPr>
          </a:lstStyle>
          <a:p>
            <a:pPr>
              <a:defRPr sz="1200" b="1">
                <a:solidFill>
                  <a:srgbClr val="52616B"/>
                </a:solidFill>
              </a:defRPr>
            </a:pPr>
            <a:r>
              <a:rPr sz="1200" b="1">
                <a:solidFill>
                  <a:srgbClr val="52616B"/>
                </a:solidFill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06BB0B-6042-440D-919B-0B9DE3D39327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9525000" cy="3347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spAutoFit/>
          </a:bodyPr>
          <a:lstStyle>
            <a:defPPr>
              <a:defRPr sz="1575" b="0">
                <a:solidFill>
                  <a:srgbClr val="52616B"/>
                </a:solidFill>
              </a:defRPr>
            </a:defPPr>
            <a:lvl1pPr>
              <a:defRPr sz="1575" b="0">
                <a:solidFill>
                  <a:srgbClr val="52616B"/>
                </a:solidFill>
              </a:defRPr>
            </a:lvl1pPr>
            <a:lvl2pPr>
              <a:defRPr sz="1575" b="0">
                <a:solidFill>
                  <a:srgbClr val="52616B"/>
                </a:solidFill>
              </a:defRPr>
            </a:lvl2pPr>
            <a:lvl3pPr>
              <a:defRPr sz="1575" b="0">
                <a:solidFill>
                  <a:srgbClr val="52616B"/>
                </a:solidFill>
              </a:defRPr>
            </a:lvl3pPr>
            <a:lvl4pPr>
              <a:defRPr sz="1575" b="0">
                <a:solidFill>
                  <a:srgbClr val="52616B"/>
                </a:solidFill>
              </a:defRPr>
            </a:lvl4pPr>
            <a:lvl5pPr>
              <a:defRPr sz="1575" b="0">
                <a:solidFill>
                  <a:srgbClr val="52616B"/>
                </a:solidFill>
              </a:defRPr>
            </a:lvl5pPr>
            <a:lvl6pPr>
              <a:defRPr sz="1575" b="0">
                <a:solidFill>
                  <a:srgbClr val="52616B"/>
                </a:solidFill>
              </a:defRPr>
            </a:lvl6pPr>
            <a:lvl7pPr>
              <a:defRPr sz="1575" b="0">
                <a:solidFill>
                  <a:srgbClr val="52616B"/>
                </a:solidFill>
              </a:defRPr>
            </a:lvl7pPr>
            <a:lvl8pPr>
              <a:defRPr sz="1575" b="0">
                <a:solidFill>
                  <a:srgbClr val="52616B"/>
                </a:solidFill>
              </a:defRPr>
            </a:lvl8pPr>
            <a:lvl9pPr>
              <a:defRPr sz="1575" b="0">
                <a:solidFill>
                  <a:srgbClr val="52616B"/>
                </a:solidFill>
              </a:defRPr>
            </a:lvl9pPr>
          </a:lstStyle>
          <a:p>
            <a:pPr>
              <a:defRPr sz="1575" b="0">
                <a:solidFill>
                  <a:srgbClr val="52616B"/>
                </a:solidFill>
              </a:defRPr>
            </a:pPr>
            <a:r>
              <a:rPr lang="en-US" sz="1575" b="0">
                <a:solidFill>
                  <a:srgbClr val="52616B"/>
                </a:solidFill>
              </a:rPr>
              <a:t>Five spatial folds  ·  2° blocks  ·  191,976 complete records</a:t>
            </a:r>
            <a:endParaRPr sz="1575" b="0">
              <a:solidFill>
                <a:srgbClr val="52616B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8B839E-EE4F-405D-97B0-E0288647F2E0}"/>
              </a:ext>
            </a:extLst>
          </p:cNvPr>
          <p:cNvSpPr>
            <a:spLocks noGrp="1"/>
          </p:cNvSpPr>
          <p:nvPr/>
        </p:nvSpPr>
        <p:spPr>
          <a:xfrm>
            <a:off x="2228850" y="2076450"/>
            <a:ext cx="9525" cy="300037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44FD70-7364-49A8-A36A-35294B0C7610}"/>
              </a:ext>
            </a:extLst>
          </p:cNvPr>
          <p:cNvSpPr>
            <a:spLocks noGrp="1"/>
          </p:cNvSpPr>
          <p:nvPr/>
        </p:nvSpPr>
        <p:spPr>
          <a:xfrm>
            <a:off x="1943100" y="51435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2616B"/>
                </a:solidFill>
              </a:defRPr>
            </a:defPPr>
            <a:lvl1pPr>
              <a:defRPr sz="1200" b="0">
                <a:solidFill>
                  <a:srgbClr val="52616B"/>
                </a:solidFill>
              </a:defRPr>
            </a:lvl1pPr>
            <a:lvl2pPr>
              <a:defRPr sz="1200" b="0">
                <a:solidFill>
                  <a:srgbClr val="52616B"/>
                </a:solidFill>
              </a:defRPr>
            </a:lvl2pPr>
            <a:lvl3pPr>
              <a:defRPr sz="1200" b="0">
                <a:solidFill>
                  <a:srgbClr val="52616B"/>
                </a:solidFill>
              </a:defRPr>
            </a:lvl3pPr>
            <a:lvl4pPr>
              <a:defRPr sz="1200" b="0">
                <a:solidFill>
                  <a:srgbClr val="52616B"/>
                </a:solidFill>
              </a:defRPr>
            </a:lvl4pPr>
            <a:lvl5pPr>
              <a:defRPr sz="1200" b="0">
                <a:solidFill>
                  <a:srgbClr val="52616B"/>
                </a:solidFill>
              </a:defRPr>
            </a:lvl5pPr>
            <a:lvl6pPr>
              <a:defRPr sz="1200" b="0">
                <a:solidFill>
                  <a:srgbClr val="52616B"/>
                </a:solidFill>
              </a:defRPr>
            </a:lvl6pPr>
            <a:lvl7pPr>
              <a:defRPr sz="1200" b="0">
                <a:solidFill>
                  <a:srgbClr val="52616B"/>
                </a:solidFill>
              </a:defRPr>
            </a:lvl7pPr>
            <a:lvl8pPr>
              <a:defRPr sz="1200" b="0">
                <a:solidFill>
                  <a:srgbClr val="52616B"/>
                </a:solidFill>
              </a:defRPr>
            </a:lvl8pPr>
            <a:lvl9pPr>
              <a:defRPr sz="1200" b="0">
                <a:solidFill>
                  <a:srgbClr val="52616B"/>
                </a:solidFill>
              </a:defRPr>
            </a:lvl9pPr>
          </a:lstStyle>
          <a:p>
            <a:pPr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827D44-BFDB-4694-98CD-53032C5845B4}"/>
              </a:ext>
            </a:extLst>
          </p:cNvPr>
          <p:cNvSpPr>
            <a:spLocks noGrp="1"/>
          </p:cNvSpPr>
          <p:nvPr/>
        </p:nvSpPr>
        <p:spPr>
          <a:xfrm>
            <a:off x="3314700" y="2076450"/>
            <a:ext cx="9525" cy="300037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311E0E-DB9A-4F35-A6F8-3715E9179BF8}"/>
              </a:ext>
            </a:extLst>
          </p:cNvPr>
          <p:cNvSpPr>
            <a:spLocks noGrp="1"/>
          </p:cNvSpPr>
          <p:nvPr/>
        </p:nvSpPr>
        <p:spPr>
          <a:xfrm>
            <a:off x="3028950" y="51435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2616B"/>
                </a:solidFill>
              </a:defRPr>
            </a:defPPr>
            <a:lvl1pPr>
              <a:defRPr sz="1200" b="0">
                <a:solidFill>
                  <a:srgbClr val="52616B"/>
                </a:solidFill>
              </a:defRPr>
            </a:lvl1pPr>
            <a:lvl2pPr>
              <a:defRPr sz="1200" b="0">
                <a:solidFill>
                  <a:srgbClr val="52616B"/>
                </a:solidFill>
              </a:defRPr>
            </a:lvl2pPr>
            <a:lvl3pPr>
              <a:defRPr sz="1200" b="0">
                <a:solidFill>
                  <a:srgbClr val="52616B"/>
                </a:solidFill>
              </a:defRPr>
            </a:lvl3pPr>
            <a:lvl4pPr>
              <a:defRPr sz="1200" b="0">
                <a:solidFill>
                  <a:srgbClr val="52616B"/>
                </a:solidFill>
              </a:defRPr>
            </a:lvl4pPr>
            <a:lvl5pPr>
              <a:defRPr sz="1200" b="0">
                <a:solidFill>
                  <a:srgbClr val="52616B"/>
                </a:solidFill>
              </a:defRPr>
            </a:lvl5pPr>
            <a:lvl6pPr>
              <a:defRPr sz="1200" b="0">
                <a:solidFill>
                  <a:srgbClr val="52616B"/>
                </a:solidFill>
              </a:defRPr>
            </a:lvl6pPr>
            <a:lvl7pPr>
              <a:defRPr sz="1200" b="0">
                <a:solidFill>
                  <a:srgbClr val="52616B"/>
                </a:solidFill>
              </a:defRPr>
            </a:lvl7pPr>
            <a:lvl8pPr>
              <a:defRPr sz="1200" b="0">
                <a:solidFill>
                  <a:srgbClr val="52616B"/>
                </a:solidFill>
              </a:defRPr>
            </a:lvl8pPr>
            <a:lvl9pPr>
              <a:defRPr sz="1200" b="0">
                <a:solidFill>
                  <a:srgbClr val="52616B"/>
                </a:solidFill>
              </a:defRPr>
            </a:lvl9pPr>
          </a:lstStyle>
          <a:p>
            <a:pPr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20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B304B1-C7C3-45D9-92EB-4C932FBC01B4}"/>
              </a:ext>
            </a:extLst>
          </p:cNvPr>
          <p:cNvSpPr>
            <a:spLocks noGrp="1"/>
          </p:cNvSpPr>
          <p:nvPr/>
        </p:nvSpPr>
        <p:spPr>
          <a:xfrm>
            <a:off x="4400550" y="2076450"/>
            <a:ext cx="9525" cy="300037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5EEA51-37D6-4C53-93A8-45F75B67E8A0}"/>
              </a:ext>
            </a:extLst>
          </p:cNvPr>
          <p:cNvSpPr>
            <a:spLocks noGrp="1"/>
          </p:cNvSpPr>
          <p:nvPr/>
        </p:nvSpPr>
        <p:spPr>
          <a:xfrm>
            <a:off x="4114800" y="51435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2616B"/>
                </a:solidFill>
              </a:defRPr>
            </a:defPPr>
            <a:lvl1pPr>
              <a:defRPr sz="1200" b="0">
                <a:solidFill>
                  <a:srgbClr val="52616B"/>
                </a:solidFill>
              </a:defRPr>
            </a:lvl1pPr>
            <a:lvl2pPr>
              <a:defRPr sz="1200" b="0">
                <a:solidFill>
                  <a:srgbClr val="52616B"/>
                </a:solidFill>
              </a:defRPr>
            </a:lvl2pPr>
            <a:lvl3pPr>
              <a:defRPr sz="1200" b="0">
                <a:solidFill>
                  <a:srgbClr val="52616B"/>
                </a:solidFill>
              </a:defRPr>
            </a:lvl3pPr>
            <a:lvl4pPr>
              <a:defRPr sz="1200" b="0">
                <a:solidFill>
                  <a:srgbClr val="52616B"/>
                </a:solidFill>
              </a:defRPr>
            </a:lvl4pPr>
            <a:lvl5pPr>
              <a:defRPr sz="1200" b="0">
                <a:solidFill>
                  <a:srgbClr val="52616B"/>
                </a:solidFill>
              </a:defRPr>
            </a:lvl5pPr>
            <a:lvl6pPr>
              <a:defRPr sz="1200" b="0">
                <a:solidFill>
                  <a:srgbClr val="52616B"/>
                </a:solidFill>
              </a:defRPr>
            </a:lvl6pPr>
            <a:lvl7pPr>
              <a:defRPr sz="1200" b="0">
                <a:solidFill>
                  <a:srgbClr val="52616B"/>
                </a:solidFill>
              </a:defRPr>
            </a:lvl7pPr>
            <a:lvl8pPr>
              <a:defRPr sz="1200" b="0">
                <a:solidFill>
                  <a:srgbClr val="52616B"/>
                </a:solidFill>
              </a:defRPr>
            </a:lvl8pPr>
            <a:lvl9pPr>
              <a:defRPr sz="1200" b="0">
                <a:solidFill>
                  <a:srgbClr val="52616B"/>
                </a:solidFill>
              </a:defRPr>
            </a:lvl9pPr>
          </a:lstStyle>
          <a:p>
            <a:pPr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40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93F063-4960-452B-8FC8-0800B737D69B}"/>
              </a:ext>
            </a:extLst>
          </p:cNvPr>
          <p:cNvSpPr>
            <a:spLocks noGrp="1"/>
          </p:cNvSpPr>
          <p:nvPr/>
        </p:nvSpPr>
        <p:spPr>
          <a:xfrm>
            <a:off x="5486400" y="2076450"/>
            <a:ext cx="9525" cy="300037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D43F3A-358F-4E34-8569-C38CE4F5542F}"/>
              </a:ext>
            </a:extLst>
          </p:cNvPr>
          <p:cNvSpPr>
            <a:spLocks noGrp="1"/>
          </p:cNvSpPr>
          <p:nvPr/>
        </p:nvSpPr>
        <p:spPr>
          <a:xfrm>
            <a:off x="5200650" y="51435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2616B"/>
                </a:solidFill>
              </a:defRPr>
            </a:defPPr>
            <a:lvl1pPr>
              <a:defRPr sz="1200" b="0">
                <a:solidFill>
                  <a:srgbClr val="52616B"/>
                </a:solidFill>
              </a:defRPr>
            </a:lvl1pPr>
            <a:lvl2pPr>
              <a:defRPr sz="1200" b="0">
                <a:solidFill>
                  <a:srgbClr val="52616B"/>
                </a:solidFill>
              </a:defRPr>
            </a:lvl2pPr>
            <a:lvl3pPr>
              <a:defRPr sz="1200" b="0">
                <a:solidFill>
                  <a:srgbClr val="52616B"/>
                </a:solidFill>
              </a:defRPr>
            </a:lvl3pPr>
            <a:lvl4pPr>
              <a:defRPr sz="1200" b="0">
                <a:solidFill>
                  <a:srgbClr val="52616B"/>
                </a:solidFill>
              </a:defRPr>
            </a:lvl4pPr>
            <a:lvl5pPr>
              <a:defRPr sz="1200" b="0">
                <a:solidFill>
                  <a:srgbClr val="52616B"/>
                </a:solidFill>
              </a:defRPr>
            </a:lvl5pPr>
            <a:lvl6pPr>
              <a:defRPr sz="1200" b="0">
                <a:solidFill>
                  <a:srgbClr val="52616B"/>
                </a:solidFill>
              </a:defRPr>
            </a:lvl6pPr>
            <a:lvl7pPr>
              <a:defRPr sz="1200" b="0">
                <a:solidFill>
                  <a:srgbClr val="52616B"/>
                </a:solidFill>
              </a:defRPr>
            </a:lvl7pPr>
            <a:lvl8pPr>
              <a:defRPr sz="1200" b="0">
                <a:solidFill>
                  <a:srgbClr val="52616B"/>
                </a:solidFill>
              </a:defRPr>
            </a:lvl8pPr>
            <a:lvl9pPr>
              <a:defRPr sz="1200" b="0">
                <a:solidFill>
                  <a:srgbClr val="52616B"/>
                </a:solidFill>
              </a:defRPr>
            </a:lvl9pPr>
          </a:lstStyle>
          <a:p>
            <a:pPr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60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4D01D1-5678-420E-BD99-327B3CA8FA53}"/>
              </a:ext>
            </a:extLst>
          </p:cNvPr>
          <p:cNvSpPr>
            <a:spLocks noGrp="1"/>
          </p:cNvSpPr>
          <p:nvPr/>
        </p:nvSpPr>
        <p:spPr>
          <a:xfrm>
            <a:off x="6572250" y="2076450"/>
            <a:ext cx="9525" cy="300037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F0BEFB-78F3-4EDA-A76C-79DB1036C305}"/>
              </a:ext>
            </a:extLst>
          </p:cNvPr>
          <p:cNvSpPr>
            <a:spLocks noGrp="1"/>
          </p:cNvSpPr>
          <p:nvPr/>
        </p:nvSpPr>
        <p:spPr>
          <a:xfrm>
            <a:off x="6286500" y="51435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2616B"/>
                </a:solidFill>
              </a:defRPr>
            </a:defPPr>
            <a:lvl1pPr>
              <a:defRPr sz="1200" b="0">
                <a:solidFill>
                  <a:srgbClr val="52616B"/>
                </a:solidFill>
              </a:defRPr>
            </a:lvl1pPr>
            <a:lvl2pPr>
              <a:defRPr sz="1200" b="0">
                <a:solidFill>
                  <a:srgbClr val="52616B"/>
                </a:solidFill>
              </a:defRPr>
            </a:lvl2pPr>
            <a:lvl3pPr>
              <a:defRPr sz="1200" b="0">
                <a:solidFill>
                  <a:srgbClr val="52616B"/>
                </a:solidFill>
              </a:defRPr>
            </a:lvl3pPr>
            <a:lvl4pPr>
              <a:defRPr sz="1200" b="0">
                <a:solidFill>
                  <a:srgbClr val="52616B"/>
                </a:solidFill>
              </a:defRPr>
            </a:lvl4pPr>
            <a:lvl5pPr>
              <a:defRPr sz="1200" b="0">
                <a:solidFill>
                  <a:srgbClr val="52616B"/>
                </a:solidFill>
              </a:defRPr>
            </a:lvl5pPr>
            <a:lvl6pPr>
              <a:defRPr sz="1200" b="0">
                <a:solidFill>
                  <a:srgbClr val="52616B"/>
                </a:solidFill>
              </a:defRPr>
            </a:lvl6pPr>
            <a:lvl7pPr>
              <a:defRPr sz="1200" b="0">
                <a:solidFill>
                  <a:srgbClr val="52616B"/>
                </a:solidFill>
              </a:defRPr>
            </a:lvl7pPr>
            <a:lvl8pPr>
              <a:defRPr sz="1200" b="0">
                <a:solidFill>
                  <a:srgbClr val="52616B"/>
                </a:solidFill>
              </a:defRPr>
            </a:lvl8pPr>
            <a:lvl9pPr>
              <a:defRPr sz="1200" b="0">
                <a:solidFill>
                  <a:srgbClr val="52616B"/>
                </a:solidFill>
              </a:defRPr>
            </a:lvl9pPr>
          </a:lstStyle>
          <a:p>
            <a:pPr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80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3DBC35-2640-47BD-88AA-8D0B8ED06A67}"/>
              </a:ext>
            </a:extLst>
          </p:cNvPr>
          <p:cNvSpPr>
            <a:spLocks noGrp="1"/>
          </p:cNvSpPr>
          <p:nvPr/>
        </p:nvSpPr>
        <p:spPr>
          <a:xfrm>
            <a:off x="7658100" y="2076450"/>
            <a:ext cx="9525" cy="300037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AF1AE7-0FFA-43D9-81F6-219F27F3160C}"/>
              </a:ext>
            </a:extLst>
          </p:cNvPr>
          <p:cNvSpPr>
            <a:spLocks noGrp="1"/>
          </p:cNvSpPr>
          <p:nvPr/>
        </p:nvSpPr>
        <p:spPr>
          <a:xfrm>
            <a:off x="7372350" y="51435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2616B"/>
                </a:solidFill>
              </a:defRPr>
            </a:defPPr>
            <a:lvl1pPr>
              <a:defRPr sz="1200" b="0">
                <a:solidFill>
                  <a:srgbClr val="52616B"/>
                </a:solidFill>
              </a:defRPr>
            </a:lvl1pPr>
            <a:lvl2pPr>
              <a:defRPr sz="1200" b="0">
                <a:solidFill>
                  <a:srgbClr val="52616B"/>
                </a:solidFill>
              </a:defRPr>
            </a:lvl2pPr>
            <a:lvl3pPr>
              <a:defRPr sz="1200" b="0">
                <a:solidFill>
                  <a:srgbClr val="52616B"/>
                </a:solidFill>
              </a:defRPr>
            </a:lvl3pPr>
            <a:lvl4pPr>
              <a:defRPr sz="1200" b="0">
                <a:solidFill>
                  <a:srgbClr val="52616B"/>
                </a:solidFill>
              </a:defRPr>
            </a:lvl4pPr>
            <a:lvl5pPr>
              <a:defRPr sz="1200" b="0">
                <a:solidFill>
                  <a:srgbClr val="52616B"/>
                </a:solidFill>
              </a:defRPr>
            </a:lvl5pPr>
            <a:lvl6pPr>
              <a:defRPr sz="1200" b="0">
                <a:solidFill>
                  <a:srgbClr val="52616B"/>
                </a:solidFill>
              </a:defRPr>
            </a:lvl6pPr>
            <a:lvl7pPr>
              <a:defRPr sz="1200" b="0">
                <a:solidFill>
                  <a:srgbClr val="52616B"/>
                </a:solidFill>
              </a:defRPr>
            </a:lvl7pPr>
            <a:lvl8pPr>
              <a:defRPr sz="1200" b="0">
                <a:solidFill>
                  <a:srgbClr val="52616B"/>
                </a:solidFill>
              </a:defRPr>
            </a:lvl8pPr>
            <a:lvl9pPr>
              <a:defRPr sz="1200" b="0">
                <a:solidFill>
                  <a:srgbClr val="52616B"/>
                </a:solidFill>
              </a:defRPr>
            </a:lvl9pPr>
          </a:lstStyle>
          <a:p>
            <a:pPr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100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566D7E-B39F-4D3C-B9F9-287E91884391}"/>
              </a:ext>
            </a:extLst>
          </p:cNvPr>
          <p:cNvSpPr>
            <a:spLocks noGrp="1"/>
          </p:cNvSpPr>
          <p:nvPr/>
        </p:nvSpPr>
        <p:spPr>
          <a:xfrm>
            <a:off x="800100" y="2486025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52616B"/>
                </a:solidFill>
              </a:defRPr>
            </a:defPPr>
            <a:lvl1pPr>
              <a:defRPr sz="1275" b="0">
                <a:solidFill>
                  <a:srgbClr val="52616B"/>
                </a:solidFill>
              </a:defRPr>
            </a:lvl1pPr>
            <a:lvl2pPr>
              <a:defRPr sz="1275" b="0">
                <a:solidFill>
                  <a:srgbClr val="52616B"/>
                </a:solidFill>
              </a:defRPr>
            </a:lvl2pPr>
            <a:lvl3pPr>
              <a:defRPr sz="1275" b="0">
                <a:solidFill>
                  <a:srgbClr val="52616B"/>
                </a:solidFill>
              </a:defRPr>
            </a:lvl3pPr>
            <a:lvl4pPr>
              <a:defRPr sz="1275" b="0">
                <a:solidFill>
                  <a:srgbClr val="52616B"/>
                </a:solidFill>
              </a:defRPr>
            </a:lvl4pPr>
            <a:lvl5pPr>
              <a:defRPr sz="1275" b="0">
                <a:solidFill>
                  <a:srgbClr val="52616B"/>
                </a:solidFill>
              </a:defRPr>
            </a:lvl5pPr>
            <a:lvl6pPr>
              <a:defRPr sz="1275" b="0">
                <a:solidFill>
                  <a:srgbClr val="52616B"/>
                </a:solidFill>
              </a:defRPr>
            </a:lvl6pPr>
            <a:lvl7pPr>
              <a:defRPr sz="1275" b="0">
                <a:solidFill>
                  <a:srgbClr val="52616B"/>
                </a:solidFill>
              </a:defRPr>
            </a:lvl7pPr>
            <a:lvl8pPr>
              <a:defRPr sz="1275" b="0">
                <a:solidFill>
                  <a:srgbClr val="52616B"/>
                </a:solidFill>
              </a:defRPr>
            </a:lvl8pPr>
            <a:lvl9pPr>
              <a:defRPr sz="1275" b="0">
                <a:solidFill>
                  <a:srgbClr val="52616B"/>
                </a:solidFill>
              </a:defRPr>
            </a:lvl9pPr>
          </a:lstStyle>
          <a:p>
            <a:pPr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ROC AUC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59D499-4557-4C95-AB47-478B41F06C19}"/>
              </a:ext>
            </a:extLst>
          </p:cNvPr>
          <p:cNvSpPr>
            <a:spLocks noGrp="1"/>
          </p:cNvSpPr>
          <p:nvPr/>
        </p:nvSpPr>
        <p:spPr>
          <a:xfrm>
            <a:off x="2228850" y="2400300"/>
            <a:ext cx="5076349" cy="523875"/>
          </a:xfrm>
          <a:prstGeom prst="rect">
            <a:avLst/>
          </a:prstGeom>
          <a:solidFill>
            <a:srgbClr val="087E8B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641F7F-8C28-48CA-9089-67B54BBF90DC}"/>
              </a:ext>
            </a:extLst>
          </p:cNvPr>
          <p:cNvSpPr>
            <a:spLocks noGrp="1"/>
          </p:cNvSpPr>
          <p:nvPr/>
        </p:nvSpPr>
        <p:spPr>
          <a:xfrm>
            <a:off x="7400449" y="2524125"/>
            <a:ext cx="523875" cy="28854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spAutoFit/>
          </a:bodyPr>
          <a:lstStyle>
            <a:defPPr>
              <a:defRPr sz="1275" b="1">
                <a:solidFill>
                  <a:srgbClr val="102A43"/>
                </a:solidFill>
              </a:defRPr>
            </a:defPPr>
            <a:lvl1pPr>
              <a:defRPr sz="1275" b="1">
                <a:solidFill>
                  <a:srgbClr val="102A43"/>
                </a:solidFill>
              </a:defRPr>
            </a:lvl1pPr>
            <a:lvl2pPr>
              <a:defRPr sz="1275" b="1">
                <a:solidFill>
                  <a:srgbClr val="102A43"/>
                </a:solidFill>
              </a:defRPr>
            </a:lvl2pPr>
            <a:lvl3pPr>
              <a:defRPr sz="1275" b="1">
                <a:solidFill>
                  <a:srgbClr val="102A43"/>
                </a:solidFill>
              </a:defRPr>
            </a:lvl3pPr>
            <a:lvl4pPr>
              <a:defRPr sz="1275" b="1">
                <a:solidFill>
                  <a:srgbClr val="102A43"/>
                </a:solidFill>
              </a:defRPr>
            </a:lvl4pPr>
            <a:lvl5pPr>
              <a:defRPr sz="1275" b="1">
                <a:solidFill>
                  <a:srgbClr val="102A43"/>
                </a:solidFill>
              </a:defRPr>
            </a:lvl5pPr>
            <a:lvl6pPr>
              <a:defRPr sz="1275" b="1">
                <a:solidFill>
                  <a:srgbClr val="102A43"/>
                </a:solidFill>
              </a:defRPr>
            </a:lvl6pPr>
            <a:lvl7pPr>
              <a:defRPr sz="1275" b="1">
                <a:solidFill>
                  <a:srgbClr val="102A43"/>
                </a:solidFill>
              </a:defRPr>
            </a:lvl7pPr>
            <a:lvl8pPr>
              <a:defRPr sz="1275" b="1">
                <a:solidFill>
                  <a:srgbClr val="102A43"/>
                </a:solidFill>
              </a:defRPr>
            </a:lvl8pPr>
            <a:lvl9pPr>
              <a:defRPr sz="1275" b="1">
                <a:solidFill>
                  <a:srgbClr val="102A43"/>
                </a:solidFill>
              </a:defRPr>
            </a:lvl9pPr>
          </a:lstStyle>
          <a:p>
            <a:pPr>
              <a:defRPr sz="1275" b="1">
                <a:solidFill>
                  <a:srgbClr val="102A43"/>
                </a:solidFill>
              </a:defRPr>
            </a:pPr>
            <a:r>
              <a:rPr lang="en-US" sz="1275" b="1">
                <a:solidFill>
                  <a:srgbClr val="102A43"/>
                </a:solidFill>
              </a:rPr>
              <a:t>94.4</a:t>
            </a:r>
            <a:endParaRPr sz="1275" b="1">
              <a:solidFill>
                <a:srgbClr val="102A43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507DC6-F751-41F9-9503-5B4F4DA43748}"/>
              </a:ext>
            </a:extLst>
          </p:cNvPr>
          <p:cNvSpPr>
            <a:spLocks noGrp="1"/>
          </p:cNvSpPr>
          <p:nvPr/>
        </p:nvSpPr>
        <p:spPr>
          <a:xfrm>
            <a:off x="800100" y="3419475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52616B"/>
                </a:solidFill>
              </a:defRPr>
            </a:defPPr>
            <a:lvl1pPr>
              <a:defRPr sz="1275" b="0">
                <a:solidFill>
                  <a:srgbClr val="52616B"/>
                </a:solidFill>
              </a:defRPr>
            </a:lvl1pPr>
            <a:lvl2pPr>
              <a:defRPr sz="1275" b="0">
                <a:solidFill>
                  <a:srgbClr val="52616B"/>
                </a:solidFill>
              </a:defRPr>
            </a:lvl2pPr>
            <a:lvl3pPr>
              <a:defRPr sz="1275" b="0">
                <a:solidFill>
                  <a:srgbClr val="52616B"/>
                </a:solidFill>
              </a:defRPr>
            </a:lvl3pPr>
            <a:lvl4pPr>
              <a:defRPr sz="1275" b="0">
                <a:solidFill>
                  <a:srgbClr val="52616B"/>
                </a:solidFill>
              </a:defRPr>
            </a:lvl4pPr>
            <a:lvl5pPr>
              <a:defRPr sz="1275" b="0">
                <a:solidFill>
                  <a:srgbClr val="52616B"/>
                </a:solidFill>
              </a:defRPr>
            </a:lvl5pPr>
            <a:lvl6pPr>
              <a:defRPr sz="1275" b="0">
                <a:solidFill>
                  <a:srgbClr val="52616B"/>
                </a:solidFill>
              </a:defRPr>
            </a:lvl6pPr>
            <a:lvl7pPr>
              <a:defRPr sz="1275" b="0">
                <a:solidFill>
                  <a:srgbClr val="52616B"/>
                </a:solidFill>
              </a:defRPr>
            </a:lvl7pPr>
            <a:lvl8pPr>
              <a:defRPr sz="1275" b="0">
                <a:solidFill>
                  <a:srgbClr val="52616B"/>
                </a:solidFill>
              </a:defRPr>
            </a:lvl8pPr>
            <a:lvl9pPr>
              <a:defRPr sz="1275" b="0">
                <a:solidFill>
                  <a:srgbClr val="52616B"/>
                </a:solidFill>
              </a:defRPr>
            </a:lvl9pPr>
          </a:lstStyle>
          <a:p>
            <a:pPr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Average precision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5E7124-EC78-4190-91C2-E50F269468D4}"/>
              </a:ext>
            </a:extLst>
          </p:cNvPr>
          <p:cNvSpPr>
            <a:spLocks noGrp="1"/>
          </p:cNvSpPr>
          <p:nvPr/>
        </p:nvSpPr>
        <p:spPr>
          <a:xfrm>
            <a:off x="2228850" y="3333750"/>
            <a:ext cx="4652867" cy="523875"/>
          </a:xfrm>
          <a:prstGeom prst="rect">
            <a:avLst/>
          </a:prstGeom>
          <a:solidFill>
            <a:srgbClr val="087E8B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AB1BFFD-1C08-4045-9E57-A3978315E4D6}"/>
              </a:ext>
            </a:extLst>
          </p:cNvPr>
          <p:cNvSpPr>
            <a:spLocks noGrp="1"/>
          </p:cNvSpPr>
          <p:nvPr/>
        </p:nvSpPr>
        <p:spPr>
          <a:xfrm>
            <a:off x="6976967" y="3457575"/>
            <a:ext cx="523875" cy="28854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spAutoFit/>
          </a:bodyPr>
          <a:lstStyle>
            <a:defPPr>
              <a:defRPr sz="1275" b="1">
                <a:solidFill>
                  <a:srgbClr val="102A43"/>
                </a:solidFill>
              </a:defRPr>
            </a:defPPr>
            <a:lvl1pPr>
              <a:defRPr sz="1275" b="1">
                <a:solidFill>
                  <a:srgbClr val="102A43"/>
                </a:solidFill>
              </a:defRPr>
            </a:lvl1pPr>
            <a:lvl2pPr>
              <a:defRPr sz="1275" b="1">
                <a:solidFill>
                  <a:srgbClr val="102A43"/>
                </a:solidFill>
              </a:defRPr>
            </a:lvl2pPr>
            <a:lvl3pPr>
              <a:defRPr sz="1275" b="1">
                <a:solidFill>
                  <a:srgbClr val="102A43"/>
                </a:solidFill>
              </a:defRPr>
            </a:lvl3pPr>
            <a:lvl4pPr>
              <a:defRPr sz="1275" b="1">
                <a:solidFill>
                  <a:srgbClr val="102A43"/>
                </a:solidFill>
              </a:defRPr>
            </a:lvl4pPr>
            <a:lvl5pPr>
              <a:defRPr sz="1275" b="1">
                <a:solidFill>
                  <a:srgbClr val="102A43"/>
                </a:solidFill>
              </a:defRPr>
            </a:lvl5pPr>
            <a:lvl6pPr>
              <a:defRPr sz="1275" b="1">
                <a:solidFill>
                  <a:srgbClr val="102A43"/>
                </a:solidFill>
              </a:defRPr>
            </a:lvl6pPr>
            <a:lvl7pPr>
              <a:defRPr sz="1275" b="1">
                <a:solidFill>
                  <a:srgbClr val="102A43"/>
                </a:solidFill>
              </a:defRPr>
            </a:lvl7pPr>
            <a:lvl8pPr>
              <a:defRPr sz="1275" b="1">
                <a:solidFill>
                  <a:srgbClr val="102A43"/>
                </a:solidFill>
              </a:defRPr>
            </a:lvl8pPr>
            <a:lvl9pPr>
              <a:defRPr sz="1275" b="1">
                <a:solidFill>
                  <a:srgbClr val="102A43"/>
                </a:solidFill>
              </a:defRPr>
            </a:lvl9pPr>
          </a:lstStyle>
          <a:p>
            <a:pPr>
              <a:defRPr sz="1275" b="1">
                <a:solidFill>
                  <a:srgbClr val="102A43"/>
                </a:solidFill>
              </a:defRPr>
            </a:pPr>
            <a:r>
              <a:rPr lang="en-US" sz="1275" b="1">
                <a:solidFill>
                  <a:srgbClr val="102A43"/>
                </a:solidFill>
              </a:rPr>
              <a:t>80.9</a:t>
            </a:r>
            <a:endParaRPr sz="1275" b="1">
              <a:solidFill>
                <a:srgbClr val="102A43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8B430F9-013D-4E76-A80A-01EED5182710}"/>
              </a:ext>
            </a:extLst>
          </p:cNvPr>
          <p:cNvSpPr>
            <a:spLocks noGrp="1"/>
          </p:cNvSpPr>
          <p:nvPr/>
        </p:nvSpPr>
        <p:spPr>
          <a:xfrm>
            <a:off x="800100" y="4352925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52616B"/>
                </a:solidFill>
              </a:defRPr>
            </a:defPPr>
            <a:lvl1pPr>
              <a:defRPr sz="1275" b="0">
                <a:solidFill>
                  <a:srgbClr val="52616B"/>
                </a:solidFill>
              </a:defRPr>
            </a:lvl1pPr>
            <a:lvl2pPr>
              <a:defRPr sz="1275" b="0">
                <a:solidFill>
                  <a:srgbClr val="52616B"/>
                </a:solidFill>
              </a:defRPr>
            </a:lvl2pPr>
            <a:lvl3pPr>
              <a:defRPr sz="1275" b="0">
                <a:solidFill>
                  <a:srgbClr val="52616B"/>
                </a:solidFill>
              </a:defRPr>
            </a:lvl3pPr>
            <a:lvl4pPr>
              <a:defRPr sz="1275" b="0">
                <a:solidFill>
                  <a:srgbClr val="52616B"/>
                </a:solidFill>
              </a:defRPr>
            </a:lvl4pPr>
            <a:lvl5pPr>
              <a:defRPr sz="1275" b="0">
                <a:solidFill>
                  <a:srgbClr val="52616B"/>
                </a:solidFill>
              </a:defRPr>
            </a:lvl5pPr>
            <a:lvl6pPr>
              <a:defRPr sz="1275" b="0">
                <a:solidFill>
                  <a:srgbClr val="52616B"/>
                </a:solidFill>
              </a:defRPr>
            </a:lvl6pPr>
            <a:lvl7pPr>
              <a:defRPr sz="1275" b="0">
                <a:solidFill>
                  <a:srgbClr val="52616B"/>
                </a:solidFill>
              </a:defRPr>
            </a:lvl7pPr>
            <a:lvl8pPr>
              <a:defRPr sz="1275" b="0">
                <a:solidFill>
                  <a:srgbClr val="52616B"/>
                </a:solidFill>
              </a:defRPr>
            </a:lvl8pPr>
            <a:lvl9pPr>
              <a:defRPr sz="1275" b="0">
                <a:solidFill>
                  <a:srgbClr val="52616B"/>
                </a:solidFill>
              </a:defRPr>
            </a:lvl9pPr>
          </a:lstStyle>
          <a:p>
            <a:pPr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1 − Brier score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0F8298-40F7-4001-B143-EBD346949B36}"/>
              </a:ext>
            </a:extLst>
          </p:cNvPr>
          <p:cNvSpPr>
            <a:spLocks noGrp="1"/>
          </p:cNvSpPr>
          <p:nvPr/>
        </p:nvSpPr>
        <p:spPr>
          <a:xfrm>
            <a:off x="2228850" y="4267200"/>
            <a:ext cx="4929759" cy="523875"/>
          </a:xfrm>
          <a:prstGeom prst="rect">
            <a:avLst/>
          </a:prstGeom>
          <a:solidFill>
            <a:srgbClr val="087E8B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F5B54F4-A465-4AF5-9E80-800B62F5D61B}"/>
              </a:ext>
            </a:extLst>
          </p:cNvPr>
          <p:cNvSpPr>
            <a:spLocks noGrp="1"/>
          </p:cNvSpPr>
          <p:nvPr/>
        </p:nvSpPr>
        <p:spPr>
          <a:xfrm>
            <a:off x="7253859" y="4391025"/>
            <a:ext cx="523875" cy="28854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spAutoFit/>
          </a:bodyPr>
          <a:lstStyle>
            <a:defPPr>
              <a:defRPr sz="1275" b="1">
                <a:solidFill>
                  <a:srgbClr val="102A43"/>
                </a:solidFill>
              </a:defRPr>
            </a:defPPr>
            <a:lvl1pPr>
              <a:defRPr sz="1275" b="1">
                <a:solidFill>
                  <a:srgbClr val="102A43"/>
                </a:solidFill>
              </a:defRPr>
            </a:lvl1pPr>
            <a:lvl2pPr>
              <a:defRPr sz="1275" b="1">
                <a:solidFill>
                  <a:srgbClr val="102A43"/>
                </a:solidFill>
              </a:defRPr>
            </a:lvl2pPr>
            <a:lvl3pPr>
              <a:defRPr sz="1275" b="1">
                <a:solidFill>
                  <a:srgbClr val="102A43"/>
                </a:solidFill>
              </a:defRPr>
            </a:lvl3pPr>
            <a:lvl4pPr>
              <a:defRPr sz="1275" b="1">
                <a:solidFill>
                  <a:srgbClr val="102A43"/>
                </a:solidFill>
              </a:defRPr>
            </a:lvl4pPr>
            <a:lvl5pPr>
              <a:defRPr sz="1275" b="1">
                <a:solidFill>
                  <a:srgbClr val="102A43"/>
                </a:solidFill>
              </a:defRPr>
            </a:lvl5pPr>
            <a:lvl6pPr>
              <a:defRPr sz="1275" b="1">
                <a:solidFill>
                  <a:srgbClr val="102A43"/>
                </a:solidFill>
              </a:defRPr>
            </a:lvl6pPr>
            <a:lvl7pPr>
              <a:defRPr sz="1275" b="1">
                <a:solidFill>
                  <a:srgbClr val="102A43"/>
                </a:solidFill>
              </a:defRPr>
            </a:lvl7pPr>
            <a:lvl8pPr>
              <a:defRPr sz="1275" b="1">
                <a:solidFill>
                  <a:srgbClr val="102A43"/>
                </a:solidFill>
              </a:defRPr>
            </a:lvl8pPr>
            <a:lvl9pPr>
              <a:defRPr sz="1275" b="1">
                <a:solidFill>
                  <a:srgbClr val="102A43"/>
                </a:solidFill>
              </a:defRPr>
            </a:lvl9pPr>
          </a:lstStyle>
          <a:p>
            <a:pPr>
              <a:defRPr sz="1275" b="1">
                <a:solidFill>
                  <a:srgbClr val="102A43"/>
                </a:solidFill>
              </a:defRPr>
            </a:pPr>
            <a:r>
              <a:rPr lang="en-US" sz="1275" b="1">
                <a:solidFill>
                  <a:srgbClr val="102A43"/>
                </a:solidFill>
              </a:rPr>
              <a:t>90.8</a:t>
            </a:r>
            <a:endParaRPr sz="1275" b="1">
              <a:solidFill>
                <a:srgbClr val="102A43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9B1ACA-7A2A-4F2A-8917-74C256856D96}"/>
              </a:ext>
            </a:extLst>
          </p:cNvPr>
          <p:cNvSpPr>
            <a:spLocks noGrp="1"/>
          </p:cNvSpPr>
          <p:nvPr/>
        </p:nvSpPr>
        <p:spPr>
          <a:xfrm>
            <a:off x="2228850" y="1714500"/>
            <a:ext cx="1333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52616B"/>
                </a:solidFill>
              </a:defRPr>
            </a:defPPr>
            <a:lvl1pPr>
              <a:defRPr sz="1275" b="0">
                <a:solidFill>
                  <a:srgbClr val="52616B"/>
                </a:solidFill>
              </a:defRPr>
            </a:lvl1pPr>
            <a:lvl2pPr>
              <a:defRPr sz="1275" b="0">
                <a:solidFill>
                  <a:srgbClr val="52616B"/>
                </a:solidFill>
              </a:defRPr>
            </a:lvl2pPr>
            <a:lvl3pPr>
              <a:defRPr sz="1275" b="0">
                <a:solidFill>
                  <a:srgbClr val="52616B"/>
                </a:solidFill>
              </a:defRPr>
            </a:lvl3pPr>
            <a:lvl4pPr>
              <a:defRPr sz="1275" b="0">
                <a:solidFill>
                  <a:srgbClr val="52616B"/>
                </a:solidFill>
              </a:defRPr>
            </a:lvl4pPr>
            <a:lvl5pPr>
              <a:defRPr sz="1275" b="0">
                <a:solidFill>
                  <a:srgbClr val="52616B"/>
                </a:solidFill>
              </a:defRPr>
            </a:lvl5pPr>
            <a:lvl6pPr>
              <a:defRPr sz="1275" b="0">
                <a:solidFill>
                  <a:srgbClr val="52616B"/>
                </a:solidFill>
              </a:defRPr>
            </a:lvl6pPr>
            <a:lvl7pPr>
              <a:defRPr sz="1275" b="0">
                <a:solidFill>
                  <a:srgbClr val="52616B"/>
                </a:solidFill>
              </a:defRPr>
            </a:lvl7pPr>
            <a:lvl8pPr>
              <a:defRPr sz="1275" b="0">
                <a:solidFill>
                  <a:srgbClr val="52616B"/>
                </a:solidFill>
              </a:defRPr>
            </a:lvl8pPr>
            <a:lvl9pPr>
              <a:defRPr sz="1275" b="0">
                <a:solidFill>
                  <a:srgbClr val="52616B"/>
                </a:solidFill>
              </a:defRPr>
            </a:lvl9pPr>
          </a:lstStyle>
          <a:p>
            <a:pPr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Score (%)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1761D1F-8AE7-477A-8F60-B816E006FC84}"/>
              </a:ext>
            </a:extLst>
          </p:cNvPr>
          <p:cNvSpPr>
            <a:spLocks noGrp="1"/>
          </p:cNvSpPr>
          <p:nvPr/>
        </p:nvSpPr>
        <p:spPr>
          <a:xfrm>
            <a:off x="8496300" y="2047875"/>
            <a:ext cx="2857500" cy="3693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spAutoFit/>
          </a:bodyPr>
          <a:lstStyle>
            <a:defPPr>
              <a:defRPr sz="1800" b="1">
                <a:solidFill>
                  <a:srgbClr val="102A43"/>
                </a:solidFill>
              </a:defRPr>
            </a:defPPr>
            <a:lvl1pPr>
              <a:defRPr sz="1800" b="1">
                <a:solidFill>
                  <a:srgbClr val="102A43"/>
                </a:solidFill>
              </a:defRPr>
            </a:lvl1pPr>
            <a:lvl2pPr>
              <a:defRPr sz="1800" b="1">
                <a:solidFill>
                  <a:srgbClr val="102A43"/>
                </a:solidFill>
              </a:defRPr>
            </a:lvl2pPr>
            <a:lvl3pPr>
              <a:defRPr sz="1800" b="1">
                <a:solidFill>
                  <a:srgbClr val="102A43"/>
                </a:solidFill>
              </a:defRPr>
            </a:lvl3pPr>
            <a:lvl4pPr>
              <a:defRPr sz="1800" b="1">
                <a:solidFill>
                  <a:srgbClr val="102A43"/>
                </a:solidFill>
              </a:defRPr>
            </a:lvl4pPr>
            <a:lvl5pPr>
              <a:defRPr sz="1800" b="1">
                <a:solidFill>
                  <a:srgbClr val="102A43"/>
                </a:solidFill>
              </a:defRPr>
            </a:lvl5pPr>
            <a:lvl6pPr>
              <a:defRPr sz="1800" b="1">
                <a:solidFill>
                  <a:srgbClr val="102A43"/>
                </a:solidFill>
              </a:defRPr>
            </a:lvl6pPr>
            <a:lvl7pPr>
              <a:defRPr sz="1800" b="1">
                <a:solidFill>
                  <a:srgbClr val="102A43"/>
                </a:solidFill>
              </a:defRPr>
            </a:lvl7pPr>
            <a:lvl8pPr>
              <a:defRPr sz="1800" b="1">
                <a:solidFill>
                  <a:srgbClr val="102A43"/>
                </a:solidFill>
              </a:defRPr>
            </a:lvl8pPr>
            <a:lvl9pPr>
              <a:defRPr sz="1800" b="1">
                <a:solidFill>
                  <a:srgbClr val="102A43"/>
                </a:solidFill>
              </a:defRPr>
            </a:lvl9pPr>
          </a:lstStyle>
          <a:p>
            <a:pPr>
              <a:defRPr sz="1800" b="1">
                <a:solidFill>
                  <a:srgbClr val="102A43"/>
                </a:solidFill>
              </a:defRPr>
            </a:pPr>
            <a:r>
              <a:rPr lang="en-US" sz="1800" b="1">
                <a:solidFill>
                  <a:srgbClr val="102A43"/>
                </a:solidFill>
              </a:rPr>
              <a:t>ROC AUC  0.944 ± 0.013</a:t>
            </a:r>
            <a:endParaRPr sz="1800" b="1">
              <a:solidFill>
                <a:srgbClr val="102A43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8F604C7-D522-42B3-8655-01486777FA7E}"/>
              </a:ext>
            </a:extLst>
          </p:cNvPr>
          <p:cNvSpPr>
            <a:spLocks noGrp="1"/>
          </p:cNvSpPr>
          <p:nvPr/>
        </p:nvSpPr>
        <p:spPr>
          <a:xfrm>
            <a:off x="8496300" y="2714625"/>
            <a:ext cx="3048000" cy="3462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spAutoFit/>
          </a:bodyPr>
          <a:lstStyle>
            <a:defPPr>
              <a:defRPr sz="1650" b="1">
                <a:solidFill>
                  <a:srgbClr val="243B53"/>
                </a:solidFill>
              </a:defRPr>
            </a:defPPr>
            <a:lvl1pPr>
              <a:defRPr sz="1650" b="1">
                <a:solidFill>
                  <a:srgbClr val="243B53"/>
                </a:solidFill>
              </a:defRPr>
            </a:lvl1pPr>
            <a:lvl2pPr>
              <a:defRPr sz="1650" b="1">
                <a:solidFill>
                  <a:srgbClr val="243B53"/>
                </a:solidFill>
              </a:defRPr>
            </a:lvl2pPr>
            <a:lvl3pPr>
              <a:defRPr sz="1650" b="1">
                <a:solidFill>
                  <a:srgbClr val="243B53"/>
                </a:solidFill>
              </a:defRPr>
            </a:lvl3pPr>
            <a:lvl4pPr>
              <a:defRPr sz="1650" b="1">
                <a:solidFill>
                  <a:srgbClr val="243B53"/>
                </a:solidFill>
              </a:defRPr>
            </a:lvl4pPr>
            <a:lvl5pPr>
              <a:defRPr sz="1650" b="1">
                <a:solidFill>
                  <a:srgbClr val="243B53"/>
                </a:solidFill>
              </a:defRPr>
            </a:lvl5pPr>
            <a:lvl6pPr>
              <a:defRPr sz="1650" b="1">
                <a:solidFill>
                  <a:srgbClr val="243B53"/>
                </a:solidFill>
              </a:defRPr>
            </a:lvl6pPr>
            <a:lvl7pPr>
              <a:defRPr sz="1650" b="1">
                <a:solidFill>
                  <a:srgbClr val="243B53"/>
                </a:solidFill>
              </a:defRPr>
            </a:lvl7pPr>
            <a:lvl8pPr>
              <a:defRPr sz="1650" b="1">
                <a:solidFill>
                  <a:srgbClr val="243B53"/>
                </a:solidFill>
              </a:defRPr>
            </a:lvl8pPr>
            <a:lvl9pPr>
              <a:defRPr sz="1650" b="1">
                <a:solidFill>
                  <a:srgbClr val="243B53"/>
                </a:solidFill>
              </a:defRPr>
            </a:lvl9pPr>
          </a:lstStyle>
          <a:p>
            <a:pPr>
              <a:defRPr sz="1650" b="1">
                <a:solidFill>
                  <a:srgbClr val="243B53"/>
                </a:solidFill>
              </a:defRPr>
            </a:pPr>
            <a:r>
              <a:rPr lang="en-US" sz="1650" b="1">
                <a:solidFill>
                  <a:srgbClr val="243B53"/>
                </a:solidFill>
              </a:rPr>
              <a:t>Average precision  0.809</a:t>
            </a:r>
            <a:endParaRPr sz="1650" b="1">
              <a:solidFill>
                <a:srgbClr val="243B53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3B1DA27-E4B9-4B89-A31F-BB56F6C1B924}"/>
              </a:ext>
            </a:extLst>
          </p:cNvPr>
          <p:cNvSpPr>
            <a:spLocks noGrp="1"/>
          </p:cNvSpPr>
          <p:nvPr/>
        </p:nvSpPr>
        <p:spPr>
          <a:xfrm>
            <a:off x="8496300" y="3314700"/>
            <a:ext cx="3048000" cy="3462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spAutoFit/>
          </a:bodyPr>
          <a:lstStyle>
            <a:defPPr>
              <a:defRPr sz="1650" b="1">
                <a:solidFill>
                  <a:srgbClr val="243B53"/>
                </a:solidFill>
              </a:defRPr>
            </a:defPPr>
            <a:lvl1pPr>
              <a:defRPr sz="1650" b="1">
                <a:solidFill>
                  <a:srgbClr val="243B53"/>
                </a:solidFill>
              </a:defRPr>
            </a:lvl1pPr>
            <a:lvl2pPr>
              <a:defRPr sz="1650" b="1">
                <a:solidFill>
                  <a:srgbClr val="243B53"/>
                </a:solidFill>
              </a:defRPr>
            </a:lvl2pPr>
            <a:lvl3pPr>
              <a:defRPr sz="1650" b="1">
                <a:solidFill>
                  <a:srgbClr val="243B53"/>
                </a:solidFill>
              </a:defRPr>
            </a:lvl3pPr>
            <a:lvl4pPr>
              <a:defRPr sz="1650" b="1">
                <a:solidFill>
                  <a:srgbClr val="243B53"/>
                </a:solidFill>
              </a:defRPr>
            </a:lvl4pPr>
            <a:lvl5pPr>
              <a:defRPr sz="1650" b="1">
                <a:solidFill>
                  <a:srgbClr val="243B53"/>
                </a:solidFill>
              </a:defRPr>
            </a:lvl5pPr>
            <a:lvl6pPr>
              <a:defRPr sz="1650" b="1">
                <a:solidFill>
                  <a:srgbClr val="243B53"/>
                </a:solidFill>
              </a:defRPr>
            </a:lvl6pPr>
            <a:lvl7pPr>
              <a:defRPr sz="1650" b="1">
                <a:solidFill>
                  <a:srgbClr val="243B53"/>
                </a:solidFill>
              </a:defRPr>
            </a:lvl7pPr>
            <a:lvl8pPr>
              <a:defRPr sz="1650" b="1">
                <a:solidFill>
                  <a:srgbClr val="243B53"/>
                </a:solidFill>
              </a:defRPr>
            </a:lvl8pPr>
            <a:lvl9pPr>
              <a:defRPr sz="1650" b="1">
                <a:solidFill>
                  <a:srgbClr val="243B53"/>
                </a:solidFill>
              </a:defRPr>
            </a:lvl9pPr>
          </a:lstStyle>
          <a:p>
            <a:pPr>
              <a:defRPr sz="1650" b="1">
                <a:solidFill>
                  <a:srgbClr val="243B53"/>
                </a:solidFill>
              </a:defRPr>
            </a:pPr>
            <a:r>
              <a:rPr lang="en-US" sz="1650" b="1">
                <a:solidFill>
                  <a:srgbClr val="243B53"/>
                </a:solidFill>
              </a:rPr>
              <a:t>Brier score  0.092</a:t>
            </a:r>
            <a:endParaRPr sz="1650" b="1">
              <a:solidFill>
                <a:srgbClr val="243B53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7AEE4B9-9476-4148-A0AA-9E8AAFF06E75}"/>
              </a:ext>
            </a:extLst>
          </p:cNvPr>
          <p:cNvSpPr>
            <a:spLocks noGrp="1"/>
          </p:cNvSpPr>
          <p:nvPr/>
        </p:nvSpPr>
        <p:spPr>
          <a:xfrm>
            <a:off x="8496300" y="4067175"/>
            <a:ext cx="3048000" cy="7848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spAutoFit/>
          </a:bodyPr>
          <a:lstStyle>
            <a:defPPr>
              <a:defRPr sz="1500" b="0">
                <a:solidFill>
                  <a:srgbClr val="52616B"/>
                </a:solidFill>
              </a:defRPr>
            </a:defPPr>
            <a:lvl1pPr>
              <a:defRPr sz="1500" b="0">
                <a:solidFill>
                  <a:srgbClr val="52616B"/>
                </a:solidFill>
              </a:defRPr>
            </a:lvl1pPr>
            <a:lvl2pPr>
              <a:defRPr sz="1500" b="0">
                <a:solidFill>
                  <a:srgbClr val="52616B"/>
                </a:solidFill>
              </a:defRPr>
            </a:lvl2pPr>
            <a:lvl3pPr>
              <a:defRPr sz="1500" b="0">
                <a:solidFill>
                  <a:srgbClr val="52616B"/>
                </a:solidFill>
              </a:defRPr>
            </a:lvl3pPr>
            <a:lvl4pPr>
              <a:defRPr sz="1500" b="0">
                <a:solidFill>
                  <a:srgbClr val="52616B"/>
                </a:solidFill>
              </a:defRPr>
            </a:lvl4pPr>
            <a:lvl5pPr>
              <a:defRPr sz="1500" b="0">
                <a:solidFill>
                  <a:srgbClr val="52616B"/>
                </a:solidFill>
              </a:defRPr>
            </a:lvl5pPr>
            <a:lvl6pPr>
              <a:defRPr sz="1500" b="0">
                <a:solidFill>
                  <a:srgbClr val="52616B"/>
                </a:solidFill>
              </a:defRPr>
            </a:lvl6pPr>
            <a:lvl7pPr>
              <a:defRPr sz="1500" b="0">
                <a:solidFill>
                  <a:srgbClr val="52616B"/>
                </a:solidFill>
              </a:defRPr>
            </a:lvl7pPr>
            <a:lvl8pPr>
              <a:defRPr sz="1500" b="0">
                <a:solidFill>
                  <a:srgbClr val="52616B"/>
                </a:solidFill>
              </a:defRPr>
            </a:lvl8pPr>
            <a:lvl9pPr>
              <a:defRPr sz="1500" b="0">
                <a:solidFill>
                  <a:srgbClr val="52616B"/>
                </a:solidFill>
              </a:defRPr>
            </a:lvl9pPr>
          </a:lstStyle>
          <a:p>
            <a:pPr>
              <a:defRPr sz="1500" b="0">
                <a:solidFill>
                  <a:srgbClr val="52616B"/>
                </a:solidFill>
              </a:defRPr>
            </a:pPr>
            <a:r>
              <a:rPr lang="en-US" sz="1500" b="0">
                <a:solidFill>
                  <a:srgbClr val="52616B"/>
                </a:solidFill>
              </a:rPr>
              <a:t>At 0.50 threshold</a:t>
            </a:r>
          </a:p>
          <a:p>
            <a:pPr>
              <a:defRPr sz="1500" b="0">
                <a:solidFill>
                  <a:srgbClr val="52616B"/>
                </a:solidFill>
              </a:defRPr>
            </a:pPr>
            <a:r>
              <a:rPr lang="en-US" sz="1500" b="0">
                <a:solidFill>
                  <a:srgbClr val="52616B"/>
                </a:solidFill>
              </a:rPr>
              <a:t>Precision 0.613 · Recall 0.873</a:t>
            </a:r>
          </a:p>
          <a:p>
            <a:pPr>
              <a:defRPr sz="1500" b="0">
                <a:solidFill>
                  <a:srgbClr val="52616B"/>
                </a:solidFill>
              </a:defRPr>
            </a:pPr>
            <a:r>
              <a:rPr lang="en-US" sz="1500" b="0">
                <a:solidFill>
                  <a:srgbClr val="52616B"/>
                </a:solidFill>
              </a:rPr>
              <a:t>F1 0.721</a:t>
            </a:r>
            <a:endParaRPr sz="1500" b="0">
              <a:solidFill>
                <a:srgbClr val="52616B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881CB76-0F58-4DB4-A5E2-C5E86E86DCA8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9525000" cy="3000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spAutoFit/>
          </a:bodyPr>
          <a:lstStyle>
            <a:defPPr>
              <a:defRPr sz="1350" b="0">
                <a:solidFill>
                  <a:srgbClr val="52616B"/>
                </a:solidFill>
              </a:defRPr>
            </a:defPPr>
            <a:lvl1pPr>
              <a:defRPr sz="1350" b="0">
                <a:solidFill>
                  <a:srgbClr val="52616B"/>
                </a:solidFill>
              </a:defRPr>
            </a:lvl1pPr>
            <a:lvl2pPr>
              <a:defRPr sz="1350" b="0">
                <a:solidFill>
                  <a:srgbClr val="52616B"/>
                </a:solidFill>
              </a:defRPr>
            </a:lvl2pPr>
            <a:lvl3pPr>
              <a:defRPr sz="1350" b="0">
                <a:solidFill>
                  <a:srgbClr val="52616B"/>
                </a:solidFill>
              </a:defRPr>
            </a:lvl3pPr>
            <a:lvl4pPr>
              <a:defRPr sz="1350" b="0">
                <a:solidFill>
                  <a:srgbClr val="52616B"/>
                </a:solidFill>
              </a:defRPr>
            </a:lvl4pPr>
            <a:lvl5pPr>
              <a:defRPr sz="1350" b="0">
                <a:solidFill>
                  <a:srgbClr val="52616B"/>
                </a:solidFill>
              </a:defRPr>
            </a:lvl5pPr>
            <a:lvl6pPr>
              <a:defRPr sz="1350" b="0">
                <a:solidFill>
                  <a:srgbClr val="52616B"/>
                </a:solidFill>
              </a:defRPr>
            </a:lvl6pPr>
            <a:lvl7pPr>
              <a:defRPr sz="1350" b="0">
                <a:solidFill>
                  <a:srgbClr val="52616B"/>
                </a:solidFill>
              </a:defRPr>
            </a:lvl7pPr>
            <a:lvl8pPr>
              <a:defRPr sz="1350" b="0">
                <a:solidFill>
                  <a:srgbClr val="52616B"/>
                </a:solidFill>
              </a:defRPr>
            </a:lvl8pPr>
            <a:lvl9pPr>
              <a:defRPr sz="1350" b="0">
                <a:solidFill>
                  <a:srgbClr val="52616B"/>
                </a:solidFill>
              </a:defRPr>
            </a:lvl9pPr>
          </a:lstStyle>
          <a:p>
            <a:pPr>
              <a:defRPr sz="1350" b="0">
                <a:solidFill>
                  <a:srgbClr val="52616B"/>
                </a:solidFill>
              </a:defRPr>
            </a:pPr>
            <a:r>
              <a:rPr lang="en-US" sz="1350" b="0">
                <a:solidFill>
                  <a:srgbClr val="52616B"/>
                </a:solidFill>
              </a:rPr>
              <a:t>Average precision is relative to the 19.4% fire-positive rate.</a:t>
            </a:r>
            <a:endParaRPr sz="1350" b="0">
              <a:solidFill>
                <a:srgbClr val="5261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0673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5F9DC83-0931-477D-9743-3CA9B8CA70D2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925" b="1">
                <a:solidFill>
                  <a:srgbClr val="102A43"/>
                </a:solidFill>
              </a:defRPr>
            </a:defPPr>
            <a:lvl1pPr>
              <a:defRPr sz="2925" b="1">
                <a:solidFill>
                  <a:srgbClr val="102A43"/>
                </a:solidFill>
              </a:defRPr>
            </a:lvl1pPr>
            <a:lvl2pPr>
              <a:defRPr sz="2925" b="1">
                <a:solidFill>
                  <a:srgbClr val="102A43"/>
                </a:solidFill>
              </a:defRPr>
            </a:lvl2pPr>
            <a:lvl3pPr>
              <a:defRPr sz="2925" b="1">
                <a:solidFill>
                  <a:srgbClr val="102A43"/>
                </a:solidFill>
              </a:defRPr>
            </a:lvl3pPr>
            <a:lvl4pPr>
              <a:defRPr sz="2925" b="1">
                <a:solidFill>
                  <a:srgbClr val="102A43"/>
                </a:solidFill>
              </a:defRPr>
            </a:lvl4pPr>
            <a:lvl5pPr>
              <a:defRPr sz="2925" b="1">
                <a:solidFill>
                  <a:srgbClr val="102A43"/>
                </a:solidFill>
              </a:defRPr>
            </a:lvl5pPr>
            <a:lvl6pPr>
              <a:defRPr sz="2925" b="1">
                <a:solidFill>
                  <a:srgbClr val="102A43"/>
                </a:solidFill>
              </a:defRPr>
            </a:lvl6pPr>
            <a:lvl7pPr>
              <a:defRPr sz="2925" b="1">
                <a:solidFill>
                  <a:srgbClr val="102A43"/>
                </a:solidFill>
              </a:defRPr>
            </a:lvl7pPr>
            <a:lvl8pPr>
              <a:defRPr sz="2925" b="1">
                <a:solidFill>
                  <a:srgbClr val="102A43"/>
                </a:solidFill>
              </a:defRPr>
            </a:lvl8pPr>
            <a:lvl9pPr>
              <a:defRPr sz="2925" b="1">
                <a:solidFill>
                  <a:srgbClr val="102A43"/>
                </a:solidFill>
              </a:defRPr>
            </a:lvl9pPr>
          </a:lstStyle>
          <a:p>
            <a:pPr>
              <a:defRPr sz="2925" b="1">
                <a:solidFill>
                  <a:srgbClr val="102A43"/>
                </a:solidFill>
              </a:defRPr>
            </a:pPr>
            <a:r>
              <a:rPr sz="2925" b="1">
                <a:solidFill>
                  <a:srgbClr val="102A43"/>
                </a:solidFill>
              </a:rPr>
              <a:t>Lagos screening map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D698E5-D9C7-4B73-952D-87FF4E3219EB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723900" cy="47625"/>
          </a:xfrm>
          <a:prstGeom prst="rect">
            <a:avLst/>
          </a:prstGeom>
          <a:solidFill>
            <a:srgbClr val="087E8B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4C23E9-2251-4808-9988-5B94F7442DB2}"/>
              </a:ext>
            </a:extLst>
          </p:cNvPr>
          <p:cNvSpPr>
            <a:spLocks noGrp="1"/>
          </p:cNvSpPr>
          <p:nvPr/>
        </p:nvSpPr>
        <p:spPr>
          <a:xfrm>
            <a:off x="11239500" y="632460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52616B"/>
                </a:solidFill>
              </a:defRPr>
            </a:defPPr>
            <a:lvl1pPr>
              <a:defRPr sz="1200" b="1">
                <a:solidFill>
                  <a:srgbClr val="52616B"/>
                </a:solidFill>
              </a:defRPr>
            </a:lvl1pPr>
            <a:lvl2pPr>
              <a:defRPr sz="1200" b="1">
                <a:solidFill>
                  <a:srgbClr val="52616B"/>
                </a:solidFill>
              </a:defRPr>
            </a:lvl2pPr>
            <a:lvl3pPr>
              <a:defRPr sz="1200" b="1">
                <a:solidFill>
                  <a:srgbClr val="52616B"/>
                </a:solidFill>
              </a:defRPr>
            </a:lvl3pPr>
            <a:lvl4pPr>
              <a:defRPr sz="1200" b="1">
                <a:solidFill>
                  <a:srgbClr val="52616B"/>
                </a:solidFill>
              </a:defRPr>
            </a:lvl4pPr>
            <a:lvl5pPr>
              <a:defRPr sz="1200" b="1">
                <a:solidFill>
                  <a:srgbClr val="52616B"/>
                </a:solidFill>
              </a:defRPr>
            </a:lvl5pPr>
            <a:lvl6pPr>
              <a:defRPr sz="1200" b="1">
                <a:solidFill>
                  <a:srgbClr val="52616B"/>
                </a:solidFill>
              </a:defRPr>
            </a:lvl6pPr>
            <a:lvl7pPr>
              <a:defRPr sz="1200" b="1">
                <a:solidFill>
                  <a:srgbClr val="52616B"/>
                </a:solidFill>
              </a:defRPr>
            </a:lvl7pPr>
            <a:lvl8pPr>
              <a:defRPr sz="1200" b="1">
                <a:solidFill>
                  <a:srgbClr val="52616B"/>
                </a:solidFill>
              </a:defRPr>
            </a:lvl8pPr>
            <a:lvl9pPr>
              <a:defRPr sz="1200" b="1">
                <a:solidFill>
                  <a:srgbClr val="52616B"/>
                </a:solidFill>
              </a:defRPr>
            </a:lvl9pPr>
          </a:lstStyle>
          <a:p>
            <a:pPr>
              <a:defRPr sz="1200" b="1">
                <a:solidFill>
                  <a:srgbClr val="52616B"/>
                </a:solidFill>
              </a:defRPr>
            </a:pPr>
            <a:r>
              <a:rPr sz="1200" b="1">
                <a:solidFill>
                  <a:srgbClr val="52616B"/>
                </a:solidFill>
              </a:rPr>
              <a:t>06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A32170-1602-45DC-B2BC-449A286F6E32}"/>
              </a:ext>
            </a:extLst>
          </p:cNvPr>
          <p:cNvSpPr>
            <a:spLocks noGrp="1"/>
          </p:cNvSpPr>
          <p:nvPr/>
        </p:nvSpPr>
        <p:spPr>
          <a:xfrm>
            <a:off x="8763000" y="161925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087E8B"/>
                </a:solidFill>
              </a:defRPr>
            </a:defPPr>
            <a:lvl1pPr>
              <a:defRPr sz="1650" b="1">
                <a:solidFill>
                  <a:srgbClr val="087E8B"/>
                </a:solidFill>
              </a:defRPr>
            </a:lvl1pPr>
            <a:lvl2pPr>
              <a:defRPr sz="1650" b="1">
                <a:solidFill>
                  <a:srgbClr val="087E8B"/>
                </a:solidFill>
              </a:defRPr>
            </a:lvl2pPr>
            <a:lvl3pPr>
              <a:defRPr sz="1650" b="1">
                <a:solidFill>
                  <a:srgbClr val="087E8B"/>
                </a:solidFill>
              </a:defRPr>
            </a:lvl3pPr>
            <a:lvl4pPr>
              <a:defRPr sz="1650" b="1">
                <a:solidFill>
                  <a:srgbClr val="087E8B"/>
                </a:solidFill>
              </a:defRPr>
            </a:lvl4pPr>
            <a:lvl5pPr>
              <a:defRPr sz="1650" b="1">
                <a:solidFill>
                  <a:srgbClr val="087E8B"/>
                </a:solidFill>
              </a:defRPr>
            </a:lvl5pPr>
            <a:lvl6pPr>
              <a:defRPr sz="1650" b="1">
                <a:solidFill>
                  <a:srgbClr val="087E8B"/>
                </a:solidFill>
              </a:defRPr>
            </a:lvl6pPr>
            <a:lvl7pPr>
              <a:defRPr sz="1650" b="1">
                <a:solidFill>
                  <a:srgbClr val="087E8B"/>
                </a:solidFill>
              </a:defRPr>
            </a:lvl7pPr>
            <a:lvl8pPr>
              <a:defRPr sz="1650" b="1">
                <a:solidFill>
                  <a:srgbClr val="087E8B"/>
                </a:solidFill>
              </a:defRPr>
            </a:lvl8pPr>
            <a:lvl9pPr>
              <a:defRPr sz="1650" b="1">
                <a:solidFill>
                  <a:srgbClr val="087E8B"/>
                </a:solidFill>
              </a:defRPr>
            </a:lvl9pPr>
          </a:lstStyle>
          <a:p>
            <a:pPr>
              <a:defRPr sz="1650" b="1">
                <a:solidFill>
                  <a:srgbClr val="087E8B"/>
                </a:solidFill>
              </a:defRPr>
            </a:pPr>
            <a:r>
              <a:rPr sz="1650" b="1">
                <a:solidFill>
                  <a:srgbClr val="087E8B"/>
                </a:solidFill>
              </a:rPr>
              <a:t>Displayed cells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4C7804-0600-442F-836D-E7536D1B1C4F}"/>
              </a:ext>
            </a:extLst>
          </p:cNvPr>
          <p:cNvSpPr>
            <a:spLocks noGrp="1"/>
          </p:cNvSpPr>
          <p:nvPr/>
        </p:nvSpPr>
        <p:spPr>
          <a:xfrm>
            <a:off x="8763000" y="1981200"/>
            <a:ext cx="95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4200" b="1">
                <a:solidFill>
                  <a:srgbClr val="102A43"/>
                </a:solidFill>
              </a:defRPr>
            </a:defPPr>
            <a:lvl1pPr>
              <a:defRPr sz="4200" b="1">
                <a:solidFill>
                  <a:srgbClr val="102A43"/>
                </a:solidFill>
              </a:defRPr>
            </a:lvl1pPr>
            <a:lvl2pPr>
              <a:defRPr sz="4200" b="1">
                <a:solidFill>
                  <a:srgbClr val="102A43"/>
                </a:solidFill>
              </a:defRPr>
            </a:lvl2pPr>
            <a:lvl3pPr>
              <a:defRPr sz="4200" b="1">
                <a:solidFill>
                  <a:srgbClr val="102A43"/>
                </a:solidFill>
              </a:defRPr>
            </a:lvl3pPr>
            <a:lvl4pPr>
              <a:defRPr sz="4200" b="1">
                <a:solidFill>
                  <a:srgbClr val="102A43"/>
                </a:solidFill>
              </a:defRPr>
            </a:lvl4pPr>
            <a:lvl5pPr>
              <a:defRPr sz="4200" b="1">
                <a:solidFill>
                  <a:srgbClr val="102A43"/>
                </a:solidFill>
              </a:defRPr>
            </a:lvl5pPr>
            <a:lvl6pPr>
              <a:defRPr sz="4200" b="1">
                <a:solidFill>
                  <a:srgbClr val="102A43"/>
                </a:solidFill>
              </a:defRPr>
            </a:lvl6pPr>
            <a:lvl7pPr>
              <a:defRPr sz="4200" b="1">
                <a:solidFill>
                  <a:srgbClr val="102A43"/>
                </a:solidFill>
              </a:defRPr>
            </a:lvl7pPr>
            <a:lvl8pPr>
              <a:defRPr sz="4200" b="1">
                <a:solidFill>
                  <a:srgbClr val="102A43"/>
                </a:solidFill>
              </a:defRPr>
            </a:lvl8pPr>
            <a:lvl9pPr>
              <a:defRPr sz="4200" b="1">
                <a:solidFill>
                  <a:srgbClr val="102A43"/>
                </a:solidFill>
              </a:defRPr>
            </a:lvl9pPr>
          </a:lstStyle>
          <a:p>
            <a:pPr>
              <a:defRPr sz="4200" b="1">
                <a:solidFill>
                  <a:srgbClr val="102A43"/>
                </a:solidFill>
              </a:defRPr>
            </a:pPr>
            <a:r>
              <a:rPr sz="4200" b="1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0B75CE-9D20-4768-8FAD-31F0283C00CF}"/>
              </a:ext>
            </a:extLst>
          </p:cNvPr>
          <p:cNvSpPr>
            <a:spLocks noGrp="1"/>
          </p:cNvSpPr>
          <p:nvPr/>
        </p:nvSpPr>
        <p:spPr>
          <a:xfrm>
            <a:off x="8763000" y="2800350"/>
            <a:ext cx="2762250" cy="5539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spAutoFit/>
          </a:bodyPr>
          <a:lstStyle>
            <a:defPPr>
              <a:defRPr sz="1500" b="0">
                <a:solidFill>
                  <a:srgbClr val="243B53"/>
                </a:solidFill>
              </a:defRPr>
            </a:defPPr>
            <a:lvl1pPr>
              <a:defRPr sz="1500" b="0">
                <a:solidFill>
                  <a:srgbClr val="243B53"/>
                </a:solidFill>
              </a:defRPr>
            </a:lvl1pPr>
            <a:lvl2pPr>
              <a:defRPr sz="1500" b="0">
                <a:solidFill>
                  <a:srgbClr val="243B53"/>
                </a:solidFill>
              </a:defRPr>
            </a:lvl2pPr>
            <a:lvl3pPr>
              <a:defRPr sz="1500" b="0">
                <a:solidFill>
                  <a:srgbClr val="243B53"/>
                </a:solidFill>
              </a:defRPr>
            </a:lvl3pPr>
            <a:lvl4pPr>
              <a:defRPr sz="1500" b="0">
                <a:solidFill>
                  <a:srgbClr val="243B53"/>
                </a:solidFill>
              </a:defRPr>
            </a:lvl4pPr>
            <a:lvl5pPr>
              <a:defRPr sz="1500" b="0">
                <a:solidFill>
                  <a:srgbClr val="243B53"/>
                </a:solidFill>
              </a:defRPr>
            </a:lvl5pPr>
            <a:lvl6pPr>
              <a:defRPr sz="1500" b="0">
                <a:solidFill>
                  <a:srgbClr val="243B53"/>
                </a:solidFill>
              </a:defRPr>
            </a:lvl6pPr>
            <a:lvl7pPr>
              <a:defRPr sz="1500" b="0">
                <a:solidFill>
                  <a:srgbClr val="243B53"/>
                </a:solidFill>
              </a:defRPr>
            </a:lvl7pPr>
            <a:lvl8pPr>
              <a:defRPr sz="1500" b="0">
                <a:solidFill>
                  <a:srgbClr val="243B53"/>
                </a:solidFill>
              </a:defRPr>
            </a:lvl8pPr>
            <a:lvl9pPr>
              <a:defRPr sz="1500" b="0">
                <a:solidFill>
                  <a:srgbClr val="243B53"/>
                </a:solidFill>
              </a:defRPr>
            </a:lvl9pPr>
          </a:lstStyle>
          <a:p>
            <a:pPr>
              <a:defRPr sz="1500" b="0">
                <a:solidFill>
                  <a:srgbClr val="243B53"/>
                </a:solidFill>
              </a:defRPr>
            </a:pPr>
            <a:r>
              <a:rPr lang="en-US" sz="1500" b="0">
                <a:solidFill>
                  <a:srgbClr val="243B53"/>
                </a:solidFill>
              </a:rPr>
              <a:t>Native 0.25° model grid|Three cell centers in Lagos</a:t>
            </a:r>
            <a:endParaRPr sz="1500" b="0">
              <a:solidFill>
                <a:srgbClr val="243B53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D15966-E323-4949-BD7C-27D2C9DE8037}"/>
              </a:ext>
            </a:extLst>
          </p:cNvPr>
          <p:cNvSpPr>
            <a:spLocks noGrp="1"/>
          </p:cNvSpPr>
          <p:nvPr/>
        </p:nvSpPr>
        <p:spPr>
          <a:xfrm>
            <a:off x="8763000" y="369570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1">
                <a:solidFill>
                  <a:srgbClr val="087E8B"/>
                </a:solidFill>
              </a:defRPr>
            </a:defPPr>
            <a:lvl1pPr>
              <a:defRPr sz="1575" b="1">
                <a:solidFill>
                  <a:srgbClr val="087E8B"/>
                </a:solidFill>
              </a:defRPr>
            </a:lvl1pPr>
            <a:lvl2pPr>
              <a:defRPr sz="1575" b="1">
                <a:solidFill>
                  <a:srgbClr val="087E8B"/>
                </a:solidFill>
              </a:defRPr>
            </a:lvl2pPr>
            <a:lvl3pPr>
              <a:defRPr sz="1575" b="1">
                <a:solidFill>
                  <a:srgbClr val="087E8B"/>
                </a:solidFill>
              </a:defRPr>
            </a:lvl3pPr>
            <a:lvl4pPr>
              <a:defRPr sz="1575" b="1">
                <a:solidFill>
                  <a:srgbClr val="087E8B"/>
                </a:solidFill>
              </a:defRPr>
            </a:lvl4pPr>
            <a:lvl5pPr>
              <a:defRPr sz="1575" b="1">
                <a:solidFill>
                  <a:srgbClr val="087E8B"/>
                </a:solidFill>
              </a:defRPr>
            </a:lvl5pPr>
            <a:lvl6pPr>
              <a:defRPr sz="1575" b="1">
                <a:solidFill>
                  <a:srgbClr val="087E8B"/>
                </a:solidFill>
              </a:defRPr>
            </a:lvl6pPr>
            <a:lvl7pPr>
              <a:defRPr sz="1575" b="1">
                <a:solidFill>
                  <a:srgbClr val="087E8B"/>
                </a:solidFill>
              </a:defRPr>
            </a:lvl7pPr>
            <a:lvl8pPr>
              <a:defRPr sz="1575" b="1">
                <a:solidFill>
                  <a:srgbClr val="087E8B"/>
                </a:solidFill>
              </a:defRPr>
            </a:lvl8pPr>
            <a:lvl9pPr>
              <a:defRPr sz="1575" b="1">
                <a:solidFill>
                  <a:srgbClr val="087E8B"/>
                </a:solidFill>
              </a:defRPr>
            </a:lvl9pPr>
          </a:lstStyle>
          <a:p>
            <a:pPr>
              <a:defRPr sz="1575" b="1">
                <a:solidFill>
                  <a:srgbClr val="087E8B"/>
                </a:solidFill>
              </a:defRPr>
            </a:pPr>
            <a:r>
              <a:rPr sz="1575" b="1">
                <a:solidFill>
                  <a:srgbClr val="087E8B"/>
                </a:solidFill>
              </a:rPr>
              <a:t>Mean model scores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8E1F9D-5D9E-4353-9293-1D0D22B31FA8}"/>
              </a:ext>
            </a:extLst>
          </p:cNvPr>
          <p:cNvSpPr>
            <a:spLocks noGrp="1"/>
          </p:cNvSpPr>
          <p:nvPr/>
        </p:nvSpPr>
        <p:spPr>
          <a:xfrm>
            <a:off x="8763000" y="4086225"/>
            <a:ext cx="2857500" cy="3577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spAutoFit/>
          </a:bodyPr>
          <a:lstStyle>
            <a:defPPr>
              <a:defRPr sz="1725" b="1">
                <a:solidFill>
                  <a:srgbClr val="102A43"/>
                </a:solidFill>
              </a:defRPr>
            </a:defPPr>
            <a:lvl1pPr>
              <a:defRPr sz="1725" b="1">
                <a:solidFill>
                  <a:srgbClr val="102A43"/>
                </a:solidFill>
              </a:defRPr>
            </a:lvl1pPr>
            <a:lvl2pPr>
              <a:defRPr sz="1725" b="1">
                <a:solidFill>
                  <a:srgbClr val="102A43"/>
                </a:solidFill>
              </a:defRPr>
            </a:lvl2pPr>
            <a:lvl3pPr>
              <a:defRPr sz="1725" b="1">
                <a:solidFill>
                  <a:srgbClr val="102A43"/>
                </a:solidFill>
              </a:defRPr>
            </a:lvl3pPr>
            <a:lvl4pPr>
              <a:defRPr sz="1725" b="1">
                <a:solidFill>
                  <a:srgbClr val="102A43"/>
                </a:solidFill>
              </a:defRPr>
            </a:lvl4pPr>
            <a:lvl5pPr>
              <a:defRPr sz="1725" b="1">
                <a:solidFill>
                  <a:srgbClr val="102A43"/>
                </a:solidFill>
              </a:defRPr>
            </a:lvl5pPr>
            <a:lvl6pPr>
              <a:defRPr sz="1725" b="1">
                <a:solidFill>
                  <a:srgbClr val="102A43"/>
                </a:solidFill>
              </a:defRPr>
            </a:lvl6pPr>
            <a:lvl7pPr>
              <a:defRPr sz="1725" b="1">
                <a:solidFill>
                  <a:srgbClr val="102A43"/>
                </a:solidFill>
              </a:defRPr>
            </a:lvl7pPr>
            <a:lvl8pPr>
              <a:defRPr sz="1725" b="1">
                <a:solidFill>
                  <a:srgbClr val="102A43"/>
                </a:solidFill>
              </a:defRPr>
            </a:lvl8pPr>
            <a:lvl9pPr>
              <a:defRPr sz="1725" b="1">
                <a:solidFill>
                  <a:srgbClr val="102A43"/>
                </a:solidFill>
              </a:defRPr>
            </a:lvl9pPr>
          </a:lstStyle>
          <a:p>
            <a:pPr>
              <a:defRPr sz="1725" b="1">
                <a:solidFill>
                  <a:srgbClr val="102A43"/>
                </a:solidFill>
              </a:defRPr>
            </a:pPr>
            <a:r>
              <a:rPr lang="en-US" sz="1725" b="1">
                <a:solidFill>
                  <a:srgbClr val="102A43"/>
                </a:solidFill>
              </a:rPr>
              <a:t>0.240  ·  0.233  ·  0.153</a:t>
            </a:r>
            <a:endParaRPr sz="1725" b="1">
              <a:solidFill>
                <a:srgbClr val="102A43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E07C7B-6762-49AA-A1E7-A49041810D25}"/>
              </a:ext>
            </a:extLst>
          </p:cNvPr>
          <p:cNvSpPr>
            <a:spLocks noGrp="1"/>
          </p:cNvSpPr>
          <p:nvPr/>
        </p:nvSpPr>
        <p:spPr>
          <a:xfrm>
            <a:off x="8763000" y="4953000"/>
            <a:ext cx="2857500" cy="7155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spAutoFit/>
          </a:bodyPr>
          <a:lstStyle>
            <a:defPPr>
              <a:defRPr sz="1350" b="0">
                <a:solidFill>
                  <a:srgbClr val="52616B"/>
                </a:solidFill>
              </a:defRPr>
            </a:defPPr>
            <a:lvl1pPr>
              <a:defRPr sz="1350" b="0">
                <a:solidFill>
                  <a:srgbClr val="52616B"/>
                </a:solidFill>
              </a:defRPr>
            </a:lvl1pPr>
            <a:lvl2pPr>
              <a:defRPr sz="1350" b="0">
                <a:solidFill>
                  <a:srgbClr val="52616B"/>
                </a:solidFill>
              </a:defRPr>
            </a:lvl2pPr>
            <a:lvl3pPr>
              <a:defRPr sz="1350" b="0">
                <a:solidFill>
                  <a:srgbClr val="52616B"/>
                </a:solidFill>
              </a:defRPr>
            </a:lvl3pPr>
            <a:lvl4pPr>
              <a:defRPr sz="1350" b="0">
                <a:solidFill>
                  <a:srgbClr val="52616B"/>
                </a:solidFill>
              </a:defRPr>
            </a:lvl4pPr>
            <a:lvl5pPr>
              <a:defRPr sz="1350" b="0">
                <a:solidFill>
                  <a:srgbClr val="52616B"/>
                </a:solidFill>
              </a:defRPr>
            </a:lvl5pPr>
            <a:lvl6pPr>
              <a:defRPr sz="1350" b="0">
                <a:solidFill>
                  <a:srgbClr val="52616B"/>
                </a:solidFill>
              </a:defRPr>
            </a:lvl6pPr>
            <a:lvl7pPr>
              <a:defRPr sz="1350" b="0">
                <a:solidFill>
                  <a:srgbClr val="52616B"/>
                </a:solidFill>
              </a:defRPr>
            </a:lvl7pPr>
            <a:lvl8pPr>
              <a:defRPr sz="1350" b="0">
                <a:solidFill>
                  <a:srgbClr val="52616B"/>
                </a:solidFill>
              </a:defRPr>
            </a:lvl8pPr>
            <a:lvl9pPr>
              <a:defRPr sz="1350" b="0">
                <a:solidFill>
                  <a:srgbClr val="52616B"/>
                </a:solidFill>
              </a:defRPr>
            </a:lvl9pPr>
          </a:lstStyle>
          <a:p>
            <a:pPr>
              <a:defRPr sz="1350" b="0">
                <a:solidFill>
                  <a:srgbClr val="52616B"/>
                </a:solidFill>
              </a:defRPr>
            </a:pPr>
            <a:r>
              <a:rPr lang="en-US" sz="1350" b="0">
                <a:solidFill>
                  <a:srgbClr val="52616B"/>
                </a:solidFill>
              </a:rPr>
              <a:t>Mean model scores by cell. Percentiles rank only the three displayed Lagos cells.</a:t>
            </a:r>
            <a:endParaRPr sz="1350" b="0">
              <a:solidFill>
                <a:srgbClr val="52616B"/>
              </a:solidFill>
            </a:endParaRPr>
          </a:p>
        </p:txBody>
      </p:sp>
      <p:pic>
        <p:nvPicPr>
          <p:cNvPr id="12" name="Updated full-model Lagos map">
            <a:extLst>
              <a:ext uri="{FF2B5EF4-FFF2-40B4-BE49-F238E27FC236}">
                <a16:creationId xmlns:a16="http://schemas.microsoft.com/office/drawing/2014/main" id="{688D8C73-A032-5802-2638-FAC37D9E84E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375" y="1219200"/>
            <a:ext cx="5989801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684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EF67496-8342-4732-BED7-C7EB821E5E4F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925" b="1">
                <a:solidFill>
                  <a:srgbClr val="102A43"/>
                </a:solidFill>
              </a:defRPr>
            </a:defPPr>
            <a:lvl1pPr>
              <a:defRPr sz="2925" b="1">
                <a:solidFill>
                  <a:srgbClr val="102A43"/>
                </a:solidFill>
              </a:defRPr>
            </a:lvl1pPr>
            <a:lvl2pPr>
              <a:defRPr sz="2925" b="1">
                <a:solidFill>
                  <a:srgbClr val="102A43"/>
                </a:solidFill>
              </a:defRPr>
            </a:lvl2pPr>
            <a:lvl3pPr>
              <a:defRPr sz="2925" b="1">
                <a:solidFill>
                  <a:srgbClr val="102A43"/>
                </a:solidFill>
              </a:defRPr>
            </a:lvl3pPr>
            <a:lvl4pPr>
              <a:defRPr sz="2925" b="1">
                <a:solidFill>
                  <a:srgbClr val="102A43"/>
                </a:solidFill>
              </a:defRPr>
            </a:lvl4pPr>
            <a:lvl5pPr>
              <a:defRPr sz="2925" b="1">
                <a:solidFill>
                  <a:srgbClr val="102A43"/>
                </a:solidFill>
              </a:defRPr>
            </a:lvl5pPr>
            <a:lvl6pPr>
              <a:defRPr sz="2925" b="1">
                <a:solidFill>
                  <a:srgbClr val="102A43"/>
                </a:solidFill>
              </a:defRPr>
            </a:lvl6pPr>
            <a:lvl7pPr>
              <a:defRPr sz="2925" b="1">
                <a:solidFill>
                  <a:srgbClr val="102A43"/>
                </a:solidFill>
              </a:defRPr>
            </a:lvl7pPr>
            <a:lvl8pPr>
              <a:defRPr sz="2925" b="1">
                <a:solidFill>
                  <a:srgbClr val="102A43"/>
                </a:solidFill>
              </a:defRPr>
            </a:lvl8pPr>
            <a:lvl9pPr>
              <a:defRPr sz="2925" b="1">
                <a:solidFill>
                  <a:srgbClr val="102A43"/>
                </a:solidFill>
              </a:defRPr>
            </a:lvl9pPr>
          </a:lstStyle>
          <a:p>
            <a:pPr>
              <a:defRPr sz="2925" b="1">
                <a:solidFill>
                  <a:srgbClr val="102A43"/>
                </a:solidFill>
              </a:defRPr>
            </a:pPr>
            <a:r>
              <a:rPr sz="2925" b="1">
                <a:solidFill>
                  <a:srgbClr val="102A43"/>
                </a:solidFill>
              </a:rPr>
              <a:t>What drives the model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C7BFFA-11D3-428E-8EBF-9D1F4DAFD363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723900" cy="47625"/>
          </a:xfrm>
          <a:prstGeom prst="rect">
            <a:avLst/>
          </a:prstGeom>
          <a:solidFill>
            <a:srgbClr val="087E8B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A0F734-C113-473D-8779-6892BECF3CD7}"/>
              </a:ext>
            </a:extLst>
          </p:cNvPr>
          <p:cNvSpPr>
            <a:spLocks noGrp="1"/>
          </p:cNvSpPr>
          <p:nvPr/>
        </p:nvSpPr>
        <p:spPr>
          <a:xfrm>
            <a:off x="11239500" y="632460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52616B"/>
                </a:solidFill>
              </a:defRPr>
            </a:defPPr>
            <a:lvl1pPr>
              <a:defRPr sz="1200" b="1">
                <a:solidFill>
                  <a:srgbClr val="52616B"/>
                </a:solidFill>
              </a:defRPr>
            </a:lvl1pPr>
            <a:lvl2pPr>
              <a:defRPr sz="1200" b="1">
                <a:solidFill>
                  <a:srgbClr val="52616B"/>
                </a:solidFill>
              </a:defRPr>
            </a:lvl2pPr>
            <a:lvl3pPr>
              <a:defRPr sz="1200" b="1">
                <a:solidFill>
                  <a:srgbClr val="52616B"/>
                </a:solidFill>
              </a:defRPr>
            </a:lvl3pPr>
            <a:lvl4pPr>
              <a:defRPr sz="1200" b="1">
                <a:solidFill>
                  <a:srgbClr val="52616B"/>
                </a:solidFill>
              </a:defRPr>
            </a:lvl4pPr>
            <a:lvl5pPr>
              <a:defRPr sz="1200" b="1">
                <a:solidFill>
                  <a:srgbClr val="52616B"/>
                </a:solidFill>
              </a:defRPr>
            </a:lvl5pPr>
            <a:lvl6pPr>
              <a:defRPr sz="1200" b="1">
                <a:solidFill>
                  <a:srgbClr val="52616B"/>
                </a:solidFill>
              </a:defRPr>
            </a:lvl6pPr>
            <a:lvl7pPr>
              <a:defRPr sz="1200" b="1">
                <a:solidFill>
                  <a:srgbClr val="52616B"/>
                </a:solidFill>
              </a:defRPr>
            </a:lvl7pPr>
            <a:lvl8pPr>
              <a:defRPr sz="1200" b="1">
                <a:solidFill>
                  <a:srgbClr val="52616B"/>
                </a:solidFill>
              </a:defRPr>
            </a:lvl8pPr>
            <a:lvl9pPr>
              <a:defRPr sz="1200" b="1">
                <a:solidFill>
                  <a:srgbClr val="52616B"/>
                </a:solidFill>
              </a:defRPr>
            </a:lvl9pPr>
          </a:lstStyle>
          <a:p>
            <a:pPr>
              <a:defRPr sz="1200" b="1">
                <a:solidFill>
                  <a:srgbClr val="52616B"/>
                </a:solidFill>
              </a:defRPr>
            </a:pPr>
            <a:r>
              <a:rPr sz="1200" b="1">
                <a:solidFill>
                  <a:srgbClr val="52616B"/>
                </a:solidFill>
              </a:rPr>
              <a:t>07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E523E1-0AD8-466E-8DB5-0E33E1819F25}"/>
              </a:ext>
            </a:extLst>
          </p:cNvPr>
          <p:cNvSpPr>
            <a:spLocks noGrp="1"/>
          </p:cNvSpPr>
          <p:nvPr/>
        </p:nvSpPr>
        <p:spPr>
          <a:xfrm>
            <a:off x="8334375" y="16192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087E8B"/>
                </a:solidFill>
              </a:defRPr>
            </a:defPPr>
            <a:lvl1pPr>
              <a:defRPr sz="1725" b="1">
                <a:solidFill>
                  <a:srgbClr val="087E8B"/>
                </a:solidFill>
              </a:defRPr>
            </a:lvl1pPr>
            <a:lvl2pPr>
              <a:defRPr sz="1725" b="1">
                <a:solidFill>
                  <a:srgbClr val="087E8B"/>
                </a:solidFill>
              </a:defRPr>
            </a:lvl2pPr>
            <a:lvl3pPr>
              <a:defRPr sz="1725" b="1">
                <a:solidFill>
                  <a:srgbClr val="087E8B"/>
                </a:solidFill>
              </a:defRPr>
            </a:lvl3pPr>
            <a:lvl4pPr>
              <a:defRPr sz="1725" b="1">
                <a:solidFill>
                  <a:srgbClr val="087E8B"/>
                </a:solidFill>
              </a:defRPr>
            </a:lvl4pPr>
            <a:lvl5pPr>
              <a:defRPr sz="1725" b="1">
                <a:solidFill>
                  <a:srgbClr val="087E8B"/>
                </a:solidFill>
              </a:defRPr>
            </a:lvl5pPr>
            <a:lvl6pPr>
              <a:defRPr sz="1725" b="1">
                <a:solidFill>
                  <a:srgbClr val="087E8B"/>
                </a:solidFill>
              </a:defRPr>
            </a:lvl6pPr>
            <a:lvl7pPr>
              <a:defRPr sz="1725" b="1">
                <a:solidFill>
                  <a:srgbClr val="087E8B"/>
                </a:solidFill>
              </a:defRPr>
            </a:lvl7pPr>
            <a:lvl8pPr>
              <a:defRPr sz="1725" b="1">
                <a:solidFill>
                  <a:srgbClr val="087E8B"/>
                </a:solidFill>
              </a:defRPr>
            </a:lvl8pPr>
            <a:lvl9pPr>
              <a:defRPr sz="1725" b="1">
                <a:solidFill>
                  <a:srgbClr val="087E8B"/>
                </a:solidFill>
              </a:defRPr>
            </a:lvl9pPr>
          </a:lstStyle>
          <a:p>
            <a:pPr>
              <a:defRPr sz="1725" b="1">
                <a:solidFill>
                  <a:srgbClr val="087E8B"/>
                </a:solidFill>
              </a:defRPr>
            </a:pPr>
            <a:r>
              <a:rPr sz="1725" b="1">
                <a:solidFill>
                  <a:srgbClr val="087E8B"/>
                </a:solidFill>
              </a:rPr>
              <a:t>Leading predictors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5A012B-8099-4A5C-9A51-BF480AA90209}"/>
              </a:ext>
            </a:extLst>
          </p:cNvPr>
          <p:cNvSpPr>
            <a:spLocks noGrp="1"/>
          </p:cNvSpPr>
          <p:nvPr/>
        </p:nvSpPr>
        <p:spPr>
          <a:xfrm>
            <a:off x="8331200" y="2108199"/>
            <a:ext cx="3149600" cy="1473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Autofit/>
          </a:bodyPr>
          <a:lstStyle>
            <a:defPPr>
              <a:defRPr sz="1800" b="1">
                <a:solidFill>
                  <a:srgbClr val="102A43"/>
                </a:solidFill>
              </a:defRPr>
            </a:defPPr>
            <a:lvl1pPr>
              <a:defRPr sz="1800" b="1">
                <a:solidFill>
                  <a:srgbClr val="102A43"/>
                </a:solidFill>
              </a:defRPr>
            </a:lvl1pPr>
            <a:lvl2pPr>
              <a:defRPr sz="1800" b="1">
                <a:solidFill>
                  <a:srgbClr val="102A43"/>
                </a:solidFill>
              </a:defRPr>
            </a:lvl2pPr>
            <a:lvl3pPr>
              <a:defRPr sz="1800" b="1">
                <a:solidFill>
                  <a:srgbClr val="102A43"/>
                </a:solidFill>
              </a:defRPr>
            </a:lvl3pPr>
            <a:lvl4pPr>
              <a:defRPr sz="1800" b="1">
                <a:solidFill>
                  <a:srgbClr val="102A43"/>
                </a:solidFill>
              </a:defRPr>
            </a:lvl4pPr>
            <a:lvl5pPr>
              <a:defRPr sz="1800" b="1">
                <a:solidFill>
                  <a:srgbClr val="102A43"/>
                </a:solidFill>
              </a:defRPr>
            </a:lvl5pPr>
            <a:lvl6pPr>
              <a:defRPr sz="1800" b="1">
                <a:solidFill>
                  <a:srgbClr val="102A43"/>
                </a:solidFill>
              </a:defRPr>
            </a:lvl6pPr>
            <a:lvl7pPr>
              <a:defRPr sz="1800" b="1">
                <a:solidFill>
                  <a:srgbClr val="102A43"/>
                </a:solidFill>
              </a:defRPr>
            </a:lvl7pPr>
            <a:lvl8pPr>
              <a:defRPr sz="1800" b="1">
                <a:solidFill>
                  <a:srgbClr val="102A43"/>
                </a:solidFill>
              </a:defRPr>
            </a:lvl8pPr>
            <a:lvl9pPr>
              <a:defRPr sz="1800" b="1">
                <a:solidFill>
                  <a:srgbClr val="102A43"/>
                </a:solidFill>
              </a:defRPr>
            </a:lvl9pPr>
          </a:lstStyle>
          <a:p>
            <a:pPr>
              <a:defRPr sz="1800" b="1">
                <a:solidFill>
                  <a:srgbClr val="102A43"/>
                </a:solidFill>
              </a:defRPr>
            </a:pPr>
            <a:r>
              <a:rPr lang="en-US" sz="1600" b="1">
                <a:solidFill>
                  <a:srgbClr val="102A43"/>
                </a:solidFill>
              </a:rPr>
              <a:t>Seasonality · EVI · latitude · longitude</a:t>
            </a:r>
            <a:endParaRPr sz="1600" b="1">
              <a:solidFill>
                <a:srgbClr val="102A43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7205D7-930D-40DD-BD05-E0EB9F18AB38}"/>
              </a:ext>
            </a:extLst>
          </p:cNvPr>
          <p:cNvSpPr>
            <a:spLocks noGrp="1"/>
          </p:cNvSpPr>
          <p:nvPr/>
        </p:nvSpPr>
        <p:spPr>
          <a:xfrm>
            <a:off x="8331200" y="3898900"/>
            <a:ext cx="2857500" cy="25400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DED0A5-D1C8-4066-B9B8-059C0CB20BF8}"/>
              </a:ext>
            </a:extLst>
          </p:cNvPr>
          <p:cNvSpPr>
            <a:spLocks noGrp="1"/>
          </p:cNvSpPr>
          <p:nvPr/>
        </p:nvSpPr>
        <p:spPr>
          <a:xfrm>
            <a:off x="8334375" y="4171950"/>
            <a:ext cx="2857500" cy="7502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spAutoFit/>
          </a:bodyPr>
          <a:lstStyle>
            <a:defPPr>
              <a:defRPr sz="1425" b="0">
                <a:solidFill>
                  <a:srgbClr val="52616B"/>
                </a:solidFill>
              </a:defRPr>
            </a:defPPr>
            <a:lvl1pPr>
              <a:defRPr sz="1425" b="0">
                <a:solidFill>
                  <a:srgbClr val="52616B"/>
                </a:solidFill>
              </a:defRPr>
            </a:lvl1pPr>
            <a:lvl2pPr>
              <a:defRPr sz="1425" b="0">
                <a:solidFill>
                  <a:srgbClr val="52616B"/>
                </a:solidFill>
              </a:defRPr>
            </a:lvl2pPr>
            <a:lvl3pPr>
              <a:defRPr sz="1425" b="0">
                <a:solidFill>
                  <a:srgbClr val="52616B"/>
                </a:solidFill>
              </a:defRPr>
            </a:lvl3pPr>
            <a:lvl4pPr>
              <a:defRPr sz="1425" b="0">
                <a:solidFill>
                  <a:srgbClr val="52616B"/>
                </a:solidFill>
              </a:defRPr>
            </a:lvl4pPr>
            <a:lvl5pPr>
              <a:defRPr sz="1425" b="0">
                <a:solidFill>
                  <a:srgbClr val="52616B"/>
                </a:solidFill>
              </a:defRPr>
            </a:lvl5pPr>
            <a:lvl6pPr>
              <a:defRPr sz="1425" b="0">
                <a:solidFill>
                  <a:srgbClr val="52616B"/>
                </a:solidFill>
              </a:defRPr>
            </a:lvl6pPr>
            <a:lvl7pPr>
              <a:defRPr sz="1425" b="0">
                <a:solidFill>
                  <a:srgbClr val="52616B"/>
                </a:solidFill>
              </a:defRPr>
            </a:lvl7pPr>
            <a:lvl8pPr>
              <a:defRPr sz="1425" b="0">
                <a:solidFill>
                  <a:srgbClr val="52616B"/>
                </a:solidFill>
              </a:defRPr>
            </a:lvl8pPr>
            <a:lvl9pPr>
              <a:defRPr sz="1425" b="0">
                <a:solidFill>
                  <a:srgbClr val="52616B"/>
                </a:solidFill>
              </a:defRPr>
            </a:lvl9pPr>
          </a:lstStyle>
          <a:p>
            <a:pPr>
              <a:defRPr sz="1425" b="0">
                <a:solidFill>
                  <a:srgbClr val="52616B"/>
                </a:solidFill>
              </a:defRPr>
            </a:pPr>
            <a:r>
              <a:rPr lang="en-US" sz="1425" b="0">
                <a:solidFill>
                  <a:srgbClr val="52616B"/>
                </a:solidFill>
              </a:rPr>
              <a:t>Permutation importance; this run used a labelled fallback because SHAP was unavailable.</a:t>
            </a:r>
            <a:endParaRPr sz="1425" b="0">
              <a:solidFill>
                <a:srgbClr val="52616B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E315DC-6D81-4FC9-9073-6050641DA879}"/>
              </a:ext>
            </a:extLst>
          </p:cNvPr>
          <p:cNvSpPr>
            <a:spLocks noGrp="1"/>
          </p:cNvSpPr>
          <p:nvPr/>
        </p:nvSpPr>
        <p:spPr>
          <a:xfrm>
            <a:off x="685800" y="5829300"/>
            <a:ext cx="9525000" cy="3000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spAutoFit/>
          </a:bodyPr>
          <a:lstStyle>
            <a:defPPr>
              <a:defRPr sz="1350" b="0">
                <a:solidFill>
                  <a:srgbClr val="52616B"/>
                </a:solidFill>
              </a:defRPr>
            </a:defPPr>
            <a:lvl1pPr>
              <a:defRPr sz="1350" b="0">
                <a:solidFill>
                  <a:srgbClr val="52616B"/>
                </a:solidFill>
              </a:defRPr>
            </a:lvl1pPr>
            <a:lvl2pPr>
              <a:defRPr sz="1350" b="0">
                <a:solidFill>
                  <a:srgbClr val="52616B"/>
                </a:solidFill>
              </a:defRPr>
            </a:lvl2pPr>
            <a:lvl3pPr>
              <a:defRPr sz="1350" b="0">
                <a:solidFill>
                  <a:srgbClr val="52616B"/>
                </a:solidFill>
              </a:defRPr>
            </a:lvl3pPr>
            <a:lvl4pPr>
              <a:defRPr sz="1350" b="0">
                <a:solidFill>
                  <a:srgbClr val="52616B"/>
                </a:solidFill>
              </a:defRPr>
            </a:lvl4pPr>
            <a:lvl5pPr>
              <a:defRPr sz="1350" b="0">
                <a:solidFill>
                  <a:srgbClr val="52616B"/>
                </a:solidFill>
              </a:defRPr>
            </a:lvl5pPr>
            <a:lvl6pPr>
              <a:defRPr sz="1350" b="0">
                <a:solidFill>
                  <a:srgbClr val="52616B"/>
                </a:solidFill>
              </a:defRPr>
            </a:lvl6pPr>
            <a:lvl7pPr>
              <a:defRPr sz="1350" b="0">
                <a:solidFill>
                  <a:srgbClr val="52616B"/>
                </a:solidFill>
              </a:defRPr>
            </a:lvl7pPr>
            <a:lvl8pPr>
              <a:defRPr sz="1350" b="0">
                <a:solidFill>
                  <a:srgbClr val="52616B"/>
                </a:solidFill>
              </a:defRPr>
            </a:lvl8pPr>
            <a:lvl9pPr>
              <a:defRPr sz="1350" b="0">
                <a:solidFill>
                  <a:srgbClr val="52616B"/>
                </a:solidFill>
              </a:defRPr>
            </a:lvl9pPr>
          </a:lstStyle>
          <a:p>
            <a:pPr>
              <a:defRPr sz="1350" b="0">
                <a:solidFill>
                  <a:srgbClr val="52616B"/>
                </a:solidFill>
              </a:defRPr>
            </a:pPr>
            <a:r>
              <a:rPr lang="en-US" sz="1350" b="0">
                <a:solidFill>
                  <a:srgbClr val="52616B"/>
                </a:solidFill>
              </a:rPr>
              <a:t>Permutation importance; labelled fallback used because SHAP was unavailable.</a:t>
            </a:r>
            <a:endParaRPr sz="1350" b="0">
              <a:solidFill>
                <a:srgbClr val="52616B"/>
              </a:solidFill>
            </a:endParaRPr>
          </a:p>
        </p:txBody>
      </p:sp>
      <p:pic>
        <p:nvPicPr>
          <p:cNvPr id="12" name="Updated full-model explanation figure">
            <a:extLst>
              <a:ext uri="{FF2B5EF4-FFF2-40B4-BE49-F238E27FC236}">
                <a16:creationId xmlns:a16="http://schemas.microsoft.com/office/drawing/2014/main" id="{53E24542-B0DF-9F63-1AA5-A14989D962B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004348"/>
            <a:ext cx="7524750" cy="2887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914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D7B7005-13CC-4183-B511-F5C85C40C2B1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spAutoFit/>
          </a:bodyPr>
          <a:lstStyle>
            <a:defPPr>
              <a:defRPr sz="2925" b="1">
                <a:solidFill>
                  <a:srgbClr val="102A43"/>
                </a:solidFill>
              </a:defRPr>
            </a:defPPr>
            <a:lvl1pPr>
              <a:defRPr sz="2925" b="1">
                <a:solidFill>
                  <a:srgbClr val="102A43"/>
                </a:solidFill>
              </a:defRPr>
            </a:lvl1pPr>
            <a:lvl2pPr>
              <a:defRPr sz="2925" b="1">
                <a:solidFill>
                  <a:srgbClr val="102A43"/>
                </a:solidFill>
              </a:defRPr>
            </a:lvl2pPr>
            <a:lvl3pPr>
              <a:defRPr sz="2925" b="1">
                <a:solidFill>
                  <a:srgbClr val="102A43"/>
                </a:solidFill>
              </a:defRPr>
            </a:lvl3pPr>
            <a:lvl4pPr>
              <a:defRPr sz="2925" b="1">
                <a:solidFill>
                  <a:srgbClr val="102A43"/>
                </a:solidFill>
              </a:defRPr>
            </a:lvl4pPr>
            <a:lvl5pPr>
              <a:defRPr sz="2925" b="1">
                <a:solidFill>
                  <a:srgbClr val="102A43"/>
                </a:solidFill>
              </a:defRPr>
            </a:lvl5pPr>
            <a:lvl6pPr>
              <a:defRPr sz="2925" b="1">
                <a:solidFill>
                  <a:srgbClr val="102A43"/>
                </a:solidFill>
              </a:defRPr>
            </a:lvl6pPr>
            <a:lvl7pPr>
              <a:defRPr sz="2925" b="1">
                <a:solidFill>
                  <a:srgbClr val="102A43"/>
                </a:solidFill>
              </a:defRPr>
            </a:lvl7pPr>
            <a:lvl8pPr>
              <a:defRPr sz="2925" b="1">
                <a:solidFill>
                  <a:srgbClr val="102A43"/>
                </a:solidFill>
              </a:defRPr>
            </a:lvl8pPr>
            <a:lvl9pPr>
              <a:defRPr sz="2925" b="1">
                <a:solidFill>
                  <a:srgbClr val="102A43"/>
                </a:solidFill>
              </a:defRPr>
            </a:lvl9pPr>
          </a:lstStyle>
          <a:p>
            <a:pPr>
              <a:defRPr sz="2925" b="1">
                <a:solidFill>
                  <a:srgbClr val="102A43"/>
                </a:solidFill>
              </a:defRPr>
            </a:pPr>
            <a:r>
              <a:rPr lang="en-US" sz="2925" b="1">
                <a:solidFill>
                  <a:srgbClr val="102A43"/>
                </a:solidFill>
              </a:rPr>
              <a:t>Study scope and interpretation</a:t>
            </a:r>
            <a:endParaRPr sz="2925" b="1">
              <a:solidFill>
                <a:srgbClr val="102A43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DEC220-BD08-4083-8720-11982CFA2E37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723900" cy="47625"/>
          </a:xfrm>
          <a:prstGeom prst="rect">
            <a:avLst/>
          </a:prstGeom>
          <a:solidFill>
            <a:srgbClr val="087E8B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C48419-FBB1-493D-AFFA-DAFC096F5A14}"/>
              </a:ext>
            </a:extLst>
          </p:cNvPr>
          <p:cNvSpPr>
            <a:spLocks noGrp="1"/>
          </p:cNvSpPr>
          <p:nvPr/>
        </p:nvSpPr>
        <p:spPr>
          <a:xfrm>
            <a:off x="11239500" y="632460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52616B"/>
                </a:solidFill>
              </a:defRPr>
            </a:defPPr>
            <a:lvl1pPr>
              <a:defRPr sz="1200" b="1">
                <a:solidFill>
                  <a:srgbClr val="52616B"/>
                </a:solidFill>
              </a:defRPr>
            </a:lvl1pPr>
            <a:lvl2pPr>
              <a:defRPr sz="1200" b="1">
                <a:solidFill>
                  <a:srgbClr val="52616B"/>
                </a:solidFill>
              </a:defRPr>
            </a:lvl2pPr>
            <a:lvl3pPr>
              <a:defRPr sz="1200" b="1">
                <a:solidFill>
                  <a:srgbClr val="52616B"/>
                </a:solidFill>
              </a:defRPr>
            </a:lvl3pPr>
            <a:lvl4pPr>
              <a:defRPr sz="1200" b="1">
                <a:solidFill>
                  <a:srgbClr val="52616B"/>
                </a:solidFill>
              </a:defRPr>
            </a:lvl4pPr>
            <a:lvl5pPr>
              <a:defRPr sz="1200" b="1">
                <a:solidFill>
                  <a:srgbClr val="52616B"/>
                </a:solidFill>
              </a:defRPr>
            </a:lvl5pPr>
            <a:lvl6pPr>
              <a:defRPr sz="1200" b="1">
                <a:solidFill>
                  <a:srgbClr val="52616B"/>
                </a:solidFill>
              </a:defRPr>
            </a:lvl6pPr>
            <a:lvl7pPr>
              <a:defRPr sz="1200" b="1">
                <a:solidFill>
                  <a:srgbClr val="52616B"/>
                </a:solidFill>
              </a:defRPr>
            </a:lvl7pPr>
            <a:lvl8pPr>
              <a:defRPr sz="1200" b="1">
                <a:solidFill>
                  <a:srgbClr val="52616B"/>
                </a:solidFill>
              </a:defRPr>
            </a:lvl8pPr>
            <a:lvl9pPr>
              <a:defRPr sz="1200" b="1">
                <a:solidFill>
                  <a:srgbClr val="52616B"/>
                </a:solidFill>
              </a:defRPr>
            </a:lvl9pPr>
          </a:lstStyle>
          <a:p>
            <a:pPr>
              <a:defRPr sz="1200" b="1">
                <a:solidFill>
                  <a:srgbClr val="52616B"/>
                </a:solidFill>
              </a:defRPr>
            </a:pPr>
            <a:r>
              <a:rPr sz="1200" b="1">
                <a:solidFill>
                  <a:srgbClr val="52616B"/>
                </a:solidFill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0D07EF-C509-4C29-9F6B-A5D55C7FFBFF}"/>
              </a:ext>
            </a:extLst>
          </p:cNvPr>
          <p:cNvSpPr>
            <a:spLocks noGrp="1"/>
          </p:cNvSpPr>
          <p:nvPr/>
        </p:nvSpPr>
        <p:spPr>
          <a:xfrm>
            <a:off x="704850" y="1466850"/>
            <a:ext cx="514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087E8B"/>
                </a:solidFill>
              </a:defRPr>
            </a:defPPr>
            <a:lvl1pPr>
              <a:defRPr sz="1650" b="1">
                <a:solidFill>
                  <a:srgbClr val="087E8B"/>
                </a:solidFill>
              </a:defRPr>
            </a:lvl1pPr>
            <a:lvl2pPr>
              <a:defRPr sz="1650" b="1">
                <a:solidFill>
                  <a:srgbClr val="087E8B"/>
                </a:solidFill>
              </a:defRPr>
            </a:lvl2pPr>
            <a:lvl3pPr>
              <a:defRPr sz="1650" b="1">
                <a:solidFill>
                  <a:srgbClr val="087E8B"/>
                </a:solidFill>
              </a:defRPr>
            </a:lvl3pPr>
            <a:lvl4pPr>
              <a:defRPr sz="1650" b="1">
                <a:solidFill>
                  <a:srgbClr val="087E8B"/>
                </a:solidFill>
              </a:defRPr>
            </a:lvl4pPr>
            <a:lvl5pPr>
              <a:defRPr sz="1650" b="1">
                <a:solidFill>
                  <a:srgbClr val="087E8B"/>
                </a:solidFill>
              </a:defRPr>
            </a:lvl5pPr>
            <a:lvl6pPr>
              <a:defRPr sz="1650" b="1">
                <a:solidFill>
                  <a:srgbClr val="087E8B"/>
                </a:solidFill>
              </a:defRPr>
            </a:lvl6pPr>
            <a:lvl7pPr>
              <a:defRPr sz="1650" b="1">
                <a:solidFill>
                  <a:srgbClr val="087E8B"/>
                </a:solidFill>
              </a:defRPr>
            </a:lvl7pPr>
            <a:lvl8pPr>
              <a:defRPr sz="1650" b="1">
                <a:solidFill>
                  <a:srgbClr val="087E8B"/>
                </a:solidFill>
              </a:defRPr>
            </a:lvl8pPr>
            <a:lvl9pPr>
              <a:defRPr sz="1650" b="1">
                <a:solidFill>
                  <a:srgbClr val="087E8B"/>
                </a:solidFill>
              </a:defRPr>
            </a:lvl9pPr>
          </a:lstStyle>
          <a:p>
            <a:pPr>
              <a:defRPr sz="1650" b="1">
                <a:solidFill>
                  <a:srgbClr val="087E8B"/>
                </a:solidFill>
              </a:defRPr>
            </a:pPr>
            <a:r>
              <a:rPr sz="1650" b="1">
                <a:solidFill>
                  <a:srgbClr val="087E8B"/>
                </a:solidFill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8FF4C0-2953-4615-B6C6-0144344749A2}"/>
              </a:ext>
            </a:extLst>
          </p:cNvPr>
          <p:cNvSpPr>
            <a:spLocks noGrp="1"/>
          </p:cNvSpPr>
          <p:nvPr/>
        </p:nvSpPr>
        <p:spPr>
          <a:xfrm>
            <a:off x="1409700" y="14668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102A43"/>
                </a:solidFill>
              </a:defRPr>
            </a:defPPr>
            <a:lvl1pPr>
              <a:defRPr sz="1725" b="1">
                <a:solidFill>
                  <a:srgbClr val="102A43"/>
                </a:solidFill>
              </a:defRPr>
            </a:lvl1pPr>
            <a:lvl2pPr>
              <a:defRPr sz="1725" b="1">
                <a:solidFill>
                  <a:srgbClr val="102A43"/>
                </a:solidFill>
              </a:defRPr>
            </a:lvl2pPr>
            <a:lvl3pPr>
              <a:defRPr sz="1725" b="1">
                <a:solidFill>
                  <a:srgbClr val="102A43"/>
                </a:solidFill>
              </a:defRPr>
            </a:lvl3pPr>
            <a:lvl4pPr>
              <a:defRPr sz="1725" b="1">
                <a:solidFill>
                  <a:srgbClr val="102A43"/>
                </a:solidFill>
              </a:defRPr>
            </a:lvl4pPr>
            <a:lvl5pPr>
              <a:defRPr sz="1725" b="1">
                <a:solidFill>
                  <a:srgbClr val="102A43"/>
                </a:solidFill>
              </a:defRPr>
            </a:lvl5pPr>
            <a:lvl6pPr>
              <a:defRPr sz="1725" b="1">
                <a:solidFill>
                  <a:srgbClr val="102A43"/>
                </a:solidFill>
              </a:defRPr>
            </a:lvl6pPr>
            <a:lvl7pPr>
              <a:defRPr sz="1725" b="1">
                <a:solidFill>
                  <a:srgbClr val="102A43"/>
                </a:solidFill>
              </a:defRPr>
            </a:lvl7pPr>
            <a:lvl8pPr>
              <a:defRPr sz="1725" b="1">
                <a:solidFill>
                  <a:srgbClr val="102A43"/>
                </a:solidFill>
              </a:defRPr>
            </a:lvl8pPr>
            <a:lvl9pPr>
              <a:defRPr sz="1725" b="1">
                <a:solidFill>
                  <a:srgbClr val="102A43"/>
                </a:solidFill>
              </a:defRPr>
            </a:lvl9pPr>
          </a:lstStyle>
          <a:p>
            <a:pPr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Historical window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C01760-BFC9-44A5-9679-C26C7A0AA66C}"/>
              </a:ext>
            </a:extLst>
          </p:cNvPr>
          <p:cNvSpPr>
            <a:spLocks noGrp="1"/>
          </p:cNvSpPr>
          <p:nvPr/>
        </p:nvSpPr>
        <p:spPr>
          <a:xfrm>
            <a:off x="4095750" y="1466850"/>
            <a:ext cx="6953250" cy="3462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spAutoFit/>
          </a:bodyPr>
          <a:lstStyle>
            <a:defPPr>
              <a:defRPr sz="1650" b="0">
                <a:solidFill>
                  <a:srgbClr val="243B53"/>
                </a:solidFill>
              </a:defRPr>
            </a:defPPr>
            <a:lvl1pPr>
              <a:defRPr sz="1650" b="0">
                <a:solidFill>
                  <a:srgbClr val="243B53"/>
                </a:solidFill>
              </a:defRPr>
            </a:lvl1pPr>
            <a:lvl2pPr>
              <a:defRPr sz="1650" b="0">
                <a:solidFill>
                  <a:srgbClr val="243B53"/>
                </a:solidFill>
              </a:defRPr>
            </a:lvl2pPr>
            <a:lvl3pPr>
              <a:defRPr sz="1650" b="0">
                <a:solidFill>
                  <a:srgbClr val="243B53"/>
                </a:solidFill>
              </a:defRPr>
            </a:lvl3pPr>
            <a:lvl4pPr>
              <a:defRPr sz="1650" b="0">
                <a:solidFill>
                  <a:srgbClr val="243B53"/>
                </a:solidFill>
              </a:defRPr>
            </a:lvl4pPr>
            <a:lvl5pPr>
              <a:defRPr sz="1650" b="0">
                <a:solidFill>
                  <a:srgbClr val="243B53"/>
                </a:solidFill>
              </a:defRPr>
            </a:lvl5pPr>
            <a:lvl6pPr>
              <a:defRPr sz="1650" b="0">
                <a:solidFill>
                  <a:srgbClr val="243B53"/>
                </a:solidFill>
              </a:defRPr>
            </a:lvl6pPr>
            <a:lvl7pPr>
              <a:defRPr sz="1650" b="0">
                <a:solidFill>
                  <a:srgbClr val="243B53"/>
                </a:solidFill>
              </a:defRPr>
            </a:lvl7pPr>
            <a:lvl8pPr>
              <a:defRPr sz="1650" b="0">
                <a:solidFill>
                  <a:srgbClr val="243B53"/>
                </a:solidFill>
              </a:defRPr>
            </a:lvl8pPr>
            <a:lvl9pPr>
              <a:defRPr sz="1650" b="0">
                <a:solidFill>
                  <a:srgbClr val="243B53"/>
                </a:solidFill>
              </a:defRPr>
            </a:lvl9pPr>
          </a:lstStyle>
          <a:p>
            <a:pPr>
              <a:defRPr sz="1650" b="0">
                <a:solidFill>
                  <a:srgbClr val="243B53"/>
                </a:solidFill>
              </a:defRPr>
            </a:pPr>
            <a:r>
              <a:rPr lang="en-US" sz="1650" b="0">
                <a:solidFill>
                  <a:srgbClr val="243B53"/>
                </a:solidFill>
              </a:rPr>
              <a:t>Global Fire Atlas satellite fire observations, 2003–2016.</a:t>
            </a:r>
            <a:endParaRPr sz="1650" b="0">
              <a:solidFill>
                <a:srgbClr val="243B53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B62735-7C00-4326-8759-E2CC1644DB8C}"/>
              </a:ext>
            </a:extLst>
          </p:cNvPr>
          <p:cNvSpPr>
            <a:spLocks noGrp="1"/>
          </p:cNvSpPr>
          <p:nvPr/>
        </p:nvSpPr>
        <p:spPr>
          <a:xfrm>
            <a:off x="1409700" y="2152650"/>
            <a:ext cx="95250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3DC094-CDE4-4294-B702-E3AF5E528302}"/>
              </a:ext>
            </a:extLst>
          </p:cNvPr>
          <p:cNvSpPr>
            <a:spLocks noGrp="1"/>
          </p:cNvSpPr>
          <p:nvPr/>
        </p:nvSpPr>
        <p:spPr>
          <a:xfrm>
            <a:off x="704850" y="2524125"/>
            <a:ext cx="514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087E8B"/>
                </a:solidFill>
              </a:defRPr>
            </a:defPPr>
            <a:lvl1pPr>
              <a:defRPr sz="1650" b="1">
                <a:solidFill>
                  <a:srgbClr val="087E8B"/>
                </a:solidFill>
              </a:defRPr>
            </a:lvl1pPr>
            <a:lvl2pPr>
              <a:defRPr sz="1650" b="1">
                <a:solidFill>
                  <a:srgbClr val="087E8B"/>
                </a:solidFill>
              </a:defRPr>
            </a:lvl2pPr>
            <a:lvl3pPr>
              <a:defRPr sz="1650" b="1">
                <a:solidFill>
                  <a:srgbClr val="087E8B"/>
                </a:solidFill>
              </a:defRPr>
            </a:lvl3pPr>
            <a:lvl4pPr>
              <a:defRPr sz="1650" b="1">
                <a:solidFill>
                  <a:srgbClr val="087E8B"/>
                </a:solidFill>
              </a:defRPr>
            </a:lvl4pPr>
            <a:lvl5pPr>
              <a:defRPr sz="1650" b="1">
                <a:solidFill>
                  <a:srgbClr val="087E8B"/>
                </a:solidFill>
              </a:defRPr>
            </a:lvl5pPr>
            <a:lvl6pPr>
              <a:defRPr sz="1650" b="1">
                <a:solidFill>
                  <a:srgbClr val="087E8B"/>
                </a:solidFill>
              </a:defRPr>
            </a:lvl6pPr>
            <a:lvl7pPr>
              <a:defRPr sz="1650" b="1">
                <a:solidFill>
                  <a:srgbClr val="087E8B"/>
                </a:solidFill>
              </a:defRPr>
            </a:lvl7pPr>
            <a:lvl8pPr>
              <a:defRPr sz="1650" b="1">
                <a:solidFill>
                  <a:srgbClr val="087E8B"/>
                </a:solidFill>
              </a:defRPr>
            </a:lvl8pPr>
            <a:lvl9pPr>
              <a:defRPr sz="1650" b="1">
                <a:solidFill>
                  <a:srgbClr val="087E8B"/>
                </a:solidFill>
              </a:defRPr>
            </a:lvl9pPr>
          </a:lstStyle>
          <a:p>
            <a:pPr>
              <a:defRPr sz="1650" b="1">
                <a:solidFill>
                  <a:srgbClr val="087E8B"/>
                </a:solidFill>
              </a:defRPr>
            </a:pPr>
            <a:r>
              <a:rPr sz="1650" b="1">
                <a:solidFill>
                  <a:srgbClr val="087E8B"/>
                </a:solidFill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B925CC-AC17-4993-81C6-F2D8A40653AC}"/>
              </a:ext>
            </a:extLst>
          </p:cNvPr>
          <p:cNvSpPr>
            <a:spLocks noGrp="1"/>
          </p:cNvSpPr>
          <p:nvPr/>
        </p:nvSpPr>
        <p:spPr>
          <a:xfrm>
            <a:off x="1409700" y="25241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102A43"/>
                </a:solidFill>
              </a:defRPr>
            </a:defPPr>
            <a:lvl1pPr>
              <a:defRPr sz="1725" b="1">
                <a:solidFill>
                  <a:srgbClr val="102A43"/>
                </a:solidFill>
              </a:defRPr>
            </a:lvl1pPr>
            <a:lvl2pPr>
              <a:defRPr sz="1725" b="1">
                <a:solidFill>
                  <a:srgbClr val="102A43"/>
                </a:solidFill>
              </a:defRPr>
            </a:lvl2pPr>
            <a:lvl3pPr>
              <a:defRPr sz="1725" b="1">
                <a:solidFill>
                  <a:srgbClr val="102A43"/>
                </a:solidFill>
              </a:defRPr>
            </a:lvl3pPr>
            <a:lvl4pPr>
              <a:defRPr sz="1725" b="1">
                <a:solidFill>
                  <a:srgbClr val="102A43"/>
                </a:solidFill>
              </a:defRPr>
            </a:lvl4pPr>
            <a:lvl5pPr>
              <a:defRPr sz="1725" b="1">
                <a:solidFill>
                  <a:srgbClr val="102A43"/>
                </a:solidFill>
              </a:defRPr>
            </a:lvl5pPr>
            <a:lvl6pPr>
              <a:defRPr sz="1725" b="1">
                <a:solidFill>
                  <a:srgbClr val="102A43"/>
                </a:solidFill>
              </a:defRPr>
            </a:lvl6pPr>
            <a:lvl7pPr>
              <a:defRPr sz="1725" b="1">
                <a:solidFill>
                  <a:srgbClr val="102A43"/>
                </a:solidFill>
              </a:defRPr>
            </a:lvl7pPr>
            <a:lvl8pPr>
              <a:defRPr sz="1725" b="1">
                <a:solidFill>
                  <a:srgbClr val="102A43"/>
                </a:solidFill>
              </a:defRPr>
            </a:lvl8pPr>
            <a:lvl9pPr>
              <a:defRPr sz="1725" b="1">
                <a:solidFill>
                  <a:srgbClr val="102A43"/>
                </a:solidFill>
              </a:defRPr>
            </a:lvl9pPr>
          </a:lstStyle>
          <a:p>
            <a:pPr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Spatial scale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B13E44-68AA-4A94-A9D3-027BAEB8DC89}"/>
              </a:ext>
            </a:extLst>
          </p:cNvPr>
          <p:cNvSpPr>
            <a:spLocks noGrp="1"/>
          </p:cNvSpPr>
          <p:nvPr/>
        </p:nvSpPr>
        <p:spPr>
          <a:xfrm>
            <a:off x="4095750" y="2524125"/>
            <a:ext cx="6953250" cy="3462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spAutoFit/>
          </a:bodyPr>
          <a:lstStyle>
            <a:defPPr>
              <a:defRPr sz="1650" b="0">
                <a:solidFill>
                  <a:srgbClr val="243B53"/>
                </a:solidFill>
              </a:defRPr>
            </a:defPPr>
            <a:lvl1pPr>
              <a:defRPr sz="1650" b="0">
                <a:solidFill>
                  <a:srgbClr val="243B53"/>
                </a:solidFill>
              </a:defRPr>
            </a:lvl1pPr>
            <a:lvl2pPr>
              <a:defRPr sz="1650" b="0">
                <a:solidFill>
                  <a:srgbClr val="243B53"/>
                </a:solidFill>
              </a:defRPr>
            </a:lvl2pPr>
            <a:lvl3pPr>
              <a:defRPr sz="1650" b="0">
                <a:solidFill>
                  <a:srgbClr val="243B53"/>
                </a:solidFill>
              </a:defRPr>
            </a:lvl3pPr>
            <a:lvl4pPr>
              <a:defRPr sz="1650" b="0">
                <a:solidFill>
                  <a:srgbClr val="243B53"/>
                </a:solidFill>
              </a:defRPr>
            </a:lvl4pPr>
            <a:lvl5pPr>
              <a:defRPr sz="1650" b="0">
                <a:solidFill>
                  <a:srgbClr val="243B53"/>
                </a:solidFill>
              </a:defRPr>
            </a:lvl5pPr>
            <a:lvl6pPr>
              <a:defRPr sz="1650" b="0">
                <a:solidFill>
                  <a:srgbClr val="243B53"/>
                </a:solidFill>
              </a:defRPr>
            </a:lvl6pPr>
            <a:lvl7pPr>
              <a:defRPr sz="1650" b="0">
                <a:solidFill>
                  <a:srgbClr val="243B53"/>
                </a:solidFill>
              </a:defRPr>
            </a:lvl7pPr>
            <a:lvl8pPr>
              <a:defRPr sz="1650" b="0">
                <a:solidFill>
                  <a:srgbClr val="243B53"/>
                </a:solidFill>
              </a:defRPr>
            </a:lvl8pPr>
            <a:lvl9pPr>
              <a:defRPr sz="1650" b="0">
                <a:solidFill>
                  <a:srgbClr val="243B53"/>
                </a:solidFill>
              </a:defRPr>
            </a:lvl9pPr>
          </a:lstStyle>
          <a:p>
            <a:pPr>
              <a:defRPr sz="1650" b="0">
                <a:solidFill>
                  <a:srgbClr val="243B53"/>
                </a:solidFill>
              </a:defRPr>
            </a:pPr>
            <a:r>
              <a:rPr lang="en-US" sz="1650" b="0">
                <a:solidFill>
                  <a:srgbClr val="243B53"/>
                </a:solidFill>
              </a:rPr>
              <a:t>0.25° training and prediction grid; map polygons clipped to Lagos.</a:t>
            </a:r>
            <a:endParaRPr sz="1650" b="0">
              <a:solidFill>
                <a:srgbClr val="243B53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5F9D42-522E-4ABA-AB65-9883FC3DF058}"/>
              </a:ext>
            </a:extLst>
          </p:cNvPr>
          <p:cNvSpPr>
            <a:spLocks noGrp="1"/>
          </p:cNvSpPr>
          <p:nvPr/>
        </p:nvSpPr>
        <p:spPr>
          <a:xfrm>
            <a:off x="1409700" y="3209925"/>
            <a:ext cx="95250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39DF1F-4345-422D-9BED-48AADDC3ECF1}"/>
              </a:ext>
            </a:extLst>
          </p:cNvPr>
          <p:cNvSpPr>
            <a:spLocks noGrp="1"/>
          </p:cNvSpPr>
          <p:nvPr/>
        </p:nvSpPr>
        <p:spPr>
          <a:xfrm>
            <a:off x="704850" y="3581400"/>
            <a:ext cx="514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087E8B"/>
                </a:solidFill>
              </a:defRPr>
            </a:defPPr>
            <a:lvl1pPr>
              <a:defRPr sz="1650" b="1">
                <a:solidFill>
                  <a:srgbClr val="087E8B"/>
                </a:solidFill>
              </a:defRPr>
            </a:lvl1pPr>
            <a:lvl2pPr>
              <a:defRPr sz="1650" b="1">
                <a:solidFill>
                  <a:srgbClr val="087E8B"/>
                </a:solidFill>
              </a:defRPr>
            </a:lvl2pPr>
            <a:lvl3pPr>
              <a:defRPr sz="1650" b="1">
                <a:solidFill>
                  <a:srgbClr val="087E8B"/>
                </a:solidFill>
              </a:defRPr>
            </a:lvl3pPr>
            <a:lvl4pPr>
              <a:defRPr sz="1650" b="1">
                <a:solidFill>
                  <a:srgbClr val="087E8B"/>
                </a:solidFill>
              </a:defRPr>
            </a:lvl4pPr>
            <a:lvl5pPr>
              <a:defRPr sz="1650" b="1">
                <a:solidFill>
                  <a:srgbClr val="087E8B"/>
                </a:solidFill>
              </a:defRPr>
            </a:lvl5pPr>
            <a:lvl6pPr>
              <a:defRPr sz="1650" b="1">
                <a:solidFill>
                  <a:srgbClr val="087E8B"/>
                </a:solidFill>
              </a:defRPr>
            </a:lvl6pPr>
            <a:lvl7pPr>
              <a:defRPr sz="1650" b="1">
                <a:solidFill>
                  <a:srgbClr val="087E8B"/>
                </a:solidFill>
              </a:defRPr>
            </a:lvl7pPr>
            <a:lvl8pPr>
              <a:defRPr sz="1650" b="1">
                <a:solidFill>
                  <a:srgbClr val="087E8B"/>
                </a:solidFill>
              </a:defRPr>
            </a:lvl8pPr>
            <a:lvl9pPr>
              <a:defRPr sz="1650" b="1">
                <a:solidFill>
                  <a:srgbClr val="087E8B"/>
                </a:solidFill>
              </a:defRPr>
            </a:lvl9pPr>
          </a:lstStyle>
          <a:p>
            <a:pPr>
              <a:defRPr sz="1650" b="1">
                <a:solidFill>
                  <a:srgbClr val="087E8B"/>
                </a:solidFill>
              </a:defRPr>
            </a:pPr>
            <a:r>
              <a:rPr sz="1650" b="1">
                <a:solidFill>
                  <a:srgbClr val="087E8B"/>
                </a:solidFill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C7A0C0-64F5-4609-A8A6-582CA4A44E4B}"/>
              </a:ext>
            </a:extLst>
          </p:cNvPr>
          <p:cNvSpPr>
            <a:spLocks noGrp="1"/>
          </p:cNvSpPr>
          <p:nvPr/>
        </p:nvSpPr>
        <p:spPr>
          <a:xfrm>
            <a:off x="1409700" y="35814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102A43"/>
                </a:solidFill>
              </a:defRPr>
            </a:defPPr>
            <a:lvl1pPr>
              <a:defRPr sz="1725" b="1">
                <a:solidFill>
                  <a:srgbClr val="102A43"/>
                </a:solidFill>
              </a:defRPr>
            </a:lvl1pPr>
            <a:lvl2pPr>
              <a:defRPr sz="1725" b="1">
                <a:solidFill>
                  <a:srgbClr val="102A43"/>
                </a:solidFill>
              </a:defRPr>
            </a:lvl2pPr>
            <a:lvl3pPr>
              <a:defRPr sz="1725" b="1">
                <a:solidFill>
                  <a:srgbClr val="102A43"/>
                </a:solidFill>
              </a:defRPr>
            </a:lvl3pPr>
            <a:lvl4pPr>
              <a:defRPr sz="1725" b="1">
                <a:solidFill>
                  <a:srgbClr val="102A43"/>
                </a:solidFill>
              </a:defRPr>
            </a:lvl4pPr>
            <a:lvl5pPr>
              <a:defRPr sz="1725" b="1">
                <a:solidFill>
                  <a:srgbClr val="102A43"/>
                </a:solidFill>
              </a:defRPr>
            </a:lvl5pPr>
            <a:lvl6pPr>
              <a:defRPr sz="1725" b="1">
                <a:solidFill>
                  <a:srgbClr val="102A43"/>
                </a:solidFill>
              </a:defRPr>
            </a:lvl6pPr>
            <a:lvl7pPr>
              <a:defRPr sz="1725" b="1">
                <a:solidFill>
                  <a:srgbClr val="102A43"/>
                </a:solidFill>
              </a:defRPr>
            </a:lvl7pPr>
            <a:lvl8pPr>
              <a:defRPr sz="1725" b="1">
                <a:solidFill>
                  <a:srgbClr val="102A43"/>
                </a:solidFill>
              </a:defRPr>
            </a:lvl8pPr>
            <a:lvl9pPr>
              <a:defRPr sz="1725" b="1">
                <a:solidFill>
                  <a:srgbClr val="102A43"/>
                </a:solidFill>
              </a:defRPr>
            </a:lvl9pPr>
          </a:lstStyle>
          <a:p>
            <a:pPr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Weather sampling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5DA2E8-1E01-484A-BA90-5A0EEA871933}"/>
              </a:ext>
            </a:extLst>
          </p:cNvPr>
          <p:cNvSpPr>
            <a:spLocks noGrp="1"/>
          </p:cNvSpPr>
          <p:nvPr/>
        </p:nvSpPr>
        <p:spPr>
          <a:xfrm>
            <a:off x="4095750" y="3581400"/>
            <a:ext cx="6953250" cy="3462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spAutoFit/>
          </a:bodyPr>
          <a:lstStyle>
            <a:defPPr>
              <a:defRPr sz="1650" b="0">
                <a:solidFill>
                  <a:srgbClr val="243B53"/>
                </a:solidFill>
              </a:defRPr>
            </a:defPPr>
            <a:lvl1pPr>
              <a:defRPr sz="1650" b="0">
                <a:solidFill>
                  <a:srgbClr val="243B53"/>
                </a:solidFill>
              </a:defRPr>
            </a:lvl1pPr>
            <a:lvl2pPr>
              <a:defRPr sz="1650" b="0">
                <a:solidFill>
                  <a:srgbClr val="243B53"/>
                </a:solidFill>
              </a:defRPr>
            </a:lvl2pPr>
            <a:lvl3pPr>
              <a:defRPr sz="1650" b="0">
                <a:solidFill>
                  <a:srgbClr val="243B53"/>
                </a:solidFill>
              </a:defRPr>
            </a:lvl3pPr>
            <a:lvl4pPr>
              <a:defRPr sz="1650" b="0">
                <a:solidFill>
                  <a:srgbClr val="243B53"/>
                </a:solidFill>
              </a:defRPr>
            </a:lvl4pPr>
            <a:lvl5pPr>
              <a:defRPr sz="1650" b="0">
                <a:solidFill>
                  <a:srgbClr val="243B53"/>
                </a:solidFill>
              </a:defRPr>
            </a:lvl5pPr>
            <a:lvl6pPr>
              <a:defRPr sz="1650" b="0">
                <a:solidFill>
                  <a:srgbClr val="243B53"/>
                </a:solidFill>
              </a:defRPr>
            </a:lvl6pPr>
            <a:lvl7pPr>
              <a:defRPr sz="1650" b="0">
                <a:solidFill>
                  <a:srgbClr val="243B53"/>
                </a:solidFill>
              </a:defRPr>
            </a:lvl7pPr>
            <a:lvl8pPr>
              <a:defRPr sz="1650" b="0">
                <a:solidFill>
                  <a:srgbClr val="243B53"/>
                </a:solidFill>
              </a:defRPr>
            </a:lvl8pPr>
            <a:lvl9pPr>
              <a:defRPr sz="1650" b="0">
                <a:solidFill>
                  <a:srgbClr val="243B53"/>
                </a:solidFill>
              </a:defRPr>
            </a:lvl9pPr>
          </a:lstStyle>
          <a:p>
            <a:pPr>
              <a:defRPr sz="1650" b="0">
                <a:solidFill>
                  <a:srgbClr val="243B53"/>
                </a:solidFill>
              </a:defRPr>
            </a:pPr>
            <a:r>
              <a:rPr lang="en-US" sz="1650" b="0">
                <a:solidFill>
                  <a:srgbClr val="243B53"/>
                </a:solidFill>
              </a:rPr>
              <a:t>ERA5 weather plus monthly MODIS NDVI, EVI and day/night LST.</a:t>
            </a:r>
            <a:endParaRPr sz="1650" b="0">
              <a:solidFill>
                <a:srgbClr val="243B53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351BA5-25E2-4DCA-BC3A-554BFBF660BA}"/>
              </a:ext>
            </a:extLst>
          </p:cNvPr>
          <p:cNvSpPr>
            <a:spLocks noGrp="1"/>
          </p:cNvSpPr>
          <p:nvPr/>
        </p:nvSpPr>
        <p:spPr>
          <a:xfrm>
            <a:off x="1409700" y="4267200"/>
            <a:ext cx="95250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535F16-8731-48E2-92C5-A7D1BEAF6BA5}"/>
              </a:ext>
            </a:extLst>
          </p:cNvPr>
          <p:cNvSpPr>
            <a:spLocks noGrp="1"/>
          </p:cNvSpPr>
          <p:nvPr/>
        </p:nvSpPr>
        <p:spPr>
          <a:xfrm>
            <a:off x="704850" y="4638675"/>
            <a:ext cx="514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087E8B"/>
                </a:solidFill>
              </a:defRPr>
            </a:defPPr>
            <a:lvl1pPr>
              <a:defRPr sz="1650" b="1">
                <a:solidFill>
                  <a:srgbClr val="087E8B"/>
                </a:solidFill>
              </a:defRPr>
            </a:lvl1pPr>
            <a:lvl2pPr>
              <a:defRPr sz="1650" b="1">
                <a:solidFill>
                  <a:srgbClr val="087E8B"/>
                </a:solidFill>
              </a:defRPr>
            </a:lvl2pPr>
            <a:lvl3pPr>
              <a:defRPr sz="1650" b="1">
                <a:solidFill>
                  <a:srgbClr val="087E8B"/>
                </a:solidFill>
              </a:defRPr>
            </a:lvl3pPr>
            <a:lvl4pPr>
              <a:defRPr sz="1650" b="1">
                <a:solidFill>
                  <a:srgbClr val="087E8B"/>
                </a:solidFill>
              </a:defRPr>
            </a:lvl4pPr>
            <a:lvl5pPr>
              <a:defRPr sz="1650" b="1">
                <a:solidFill>
                  <a:srgbClr val="087E8B"/>
                </a:solidFill>
              </a:defRPr>
            </a:lvl5pPr>
            <a:lvl6pPr>
              <a:defRPr sz="1650" b="1">
                <a:solidFill>
                  <a:srgbClr val="087E8B"/>
                </a:solidFill>
              </a:defRPr>
            </a:lvl6pPr>
            <a:lvl7pPr>
              <a:defRPr sz="1650" b="1">
                <a:solidFill>
                  <a:srgbClr val="087E8B"/>
                </a:solidFill>
              </a:defRPr>
            </a:lvl7pPr>
            <a:lvl8pPr>
              <a:defRPr sz="1650" b="1">
                <a:solidFill>
                  <a:srgbClr val="087E8B"/>
                </a:solidFill>
              </a:defRPr>
            </a:lvl8pPr>
            <a:lvl9pPr>
              <a:defRPr sz="1650" b="1">
                <a:solidFill>
                  <a:srgbClr val="087E8B"/>
                </a:solidFill>
              </a:defRPr>
            </a:lvl9pPr>
          </a:lstStyle>
          <a:p>
            <a:pPr>
              <a:defRPr sz="1650" b="1">
                <a:solidFill>
                  <a:srgbClr val="087E8B"/>
                </a:solidFill>
              </a:defRPr>
            </a:pPr>
            <a:r>
              <a:rPr sz="1650" b="1">
                <a:solidFill>
                  <a:srgbClr val="087E8B"/>
                </a:solidFill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40F3FF-7785-4939-8C18-0AEEEA7EAD51}"/>
              </a:ext>
            </a:extLst>
          </p:cNvPr>
          <p:cNvSpPr>
            <a:spLocks noGrp="1"/>
          </p:cNvSpPr>
          <p:nvPr/>
        </p:nvSpPr>
        <p:spPr>
          <a:xfrm>
            <a:off x="1409700" y="46386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102A43"/>
                </a:solidFill>
              </a:defRPr>
            </a:defPPr>
            <a:lvl1pPr>
              <a:defRPr sz="1725" b="1">
                <a:solidFill>
                  <a:srgbClr val="102A43"/>
                </a:solidFill>
              </a:defRPr>
            </a:lvl1pPr>
            <a:lvl2pPr>
              <a:defRPr sz="1725" b="1">
                <a:solidFill>
                  <a:srgbClr val="102A43"/>
                </a:solidFill>
              </a:defRPr>
            </a:lvl2pPr>
            <a:lvl3pPr>
              <a:defRPr sz="1725" b="1">
                <a:solidFill>
                  <a:srgbClr val="102A43"/>
                </a:solidFill>
              </a:defRPr>
            </a:lvl3pPr>
            <a:lvl4pPr>
              <a:defRPr sz="1725" b="1">
                <a:solidFill>
                  <a:srgbClr val="102A43"/>
                </a:solidFill>
              </a:defRPr>
            </a:lvl4pPr>
            <a:lvl5pPr>
              <a:defRPr sz="1725" b="1">
                <a:solidFill>
                  <a:srgbClr val="102A43"/>
                </a:solidFill>
              </a:defRPr>
            </a:lvl5pPr>
            <a:lvl6pPr>
              <a:defRPr sz="1725" b="1">
                <a:solidFill>
                  <a:srgbClr val="102A43"/>
                </a:solidFill>
              </a:defRPr>
            </a:lvl6pPr>
            <a:lvl7pPr>
              <a:defRPr sz="1725" b="1">
                <a:solidFill>
                  <a:srgbClr val="102A43"/>
                </a:solidFill>
              </a:defRPr>
            </a:lvl7pPr>
            <a:lvl8pPr>
              <a:defRPr sz="1725" b="1">
                <a:solidFill>
                  <a:srgbClr val="102A43"/>
                </a:solidFill>
              </a:defRPr>
            </a:lvl8pPr>
            <a:lvl9pPr>
              <a:defRPr sz="1725" b="1">
                <a:solidFill>
                  <a:srgbClr val="102A43"/>
                </a:solidFill>
              </a:defRPr>
            </a:lvl9pPr>
          </a:lstStyle>
          <a:p>
            <a:pPr>
              <a:defRPr sz="1725" b="1">
                <a:solidFill>
                  <a:srgbClr val="102A43"/>
                </a:solidFill>
              </a:defRPr>
            </a:pPr>
            <a:r>
              <a:rPr lang="en-US" sz="1725" b="1">
                <a:solidFill>
                  <a:srgbClr val="102A43"/>
                </a:solidFill>
              </a:rPr>
              <a:t>Validation</a:t>
            </a:r>
            <a:endParaRPr sz="1725" b="1">
              <a:solidFill>
                <a:srgbClr val="102A43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379D26-8424-4F4C-A693-9B82B3B76784}"/>
              </a:ext>
            </a:extLst>
          </p:cNvPr>
          <p:cNvSpPr>
            <a:spLocks noGrp="1"/>
          </p:cNvSpPr>
          <p:nvPr/>
        </p:nvSpPr>
        <p:spPr>
          <a:xfrm>
            <a:off x="4095750" y="4638675"/>
            <a:ext cx="6953250" cy="3462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spAutoFit/>
          </a:bodyPr>
          <a:lstStyle>
            <a:defPPr>
              <a:defRPr sz="1650" b="0">
                <a:solidFill>
                  <a:srgbClr val="243B53"/>
                </a:solidFill>
              </a:defRPr>
            </a:defPPr>
            <a:lvl1pPr>
              <a:defRPr sz="1650" b="0">
                <a:solidFill>
                  <a:srgbClr val="243B53"/>
                </a:solidFill>
              </a:defRPr>
            </a:lvl1pPr>
            <a:lvl2pPr>
              <a:defRPr sz="1650" b="0">
                <a:solidFill>
                  <a:srgbClr val="243B53"/>
                </a:solidFill>
              </a:defRPr>
            </a:lvl2pPr>
            <a:lvl3pPr>
              <a:defRPr sz="1650" b="0">
                <a:solidFill>
                  <a:srgbClr val="243B53"/>
                </a:solidFill>
              </a:defRPr>
            </a:lvl3pPr>
            <a:lvl4pPr>
              <a:defRPr sz="1650" b="0">
                <a:solidFill>
                  <a:srgbClr val="243B53"/>
                </a:solidFill>
              </a:defRPr>
            </a:lvl4pPr>
            <a:lvl5pPr>
              <a:defRPr sz="1650" b="0">
                <a:solidFill>
                  <a:srgbClr val="243B53"/>
                </a:solidFill>
              </a:defRPr>
            </a:lvl5pPr>
            <a:lvl6pPr>
              <a:defRPr sz="1650" b="0">
                <a:solidFill>
                  <a:srgbClr val="243B53"/>
                </a:solidFill>
              </a:defRPr>
            </a:lvl6pPr>
            <a:lvl7pPr>
              <a:defRPr sz="1650" b="0">
                <a:solidFill>
                  <a:srgbClr val="243B53"/>
                </a:solidFill>
              </a:defRPr>
            </a:lvl7pPr>
            <a:lvl8pPr>
              <a:defRPr sz="1650" b="0">
                <a:solidFill>
                  <a:srgbClr val="243B53"/>
                </a:solidFill>
              </a:defRPr>
            </a:lvl8pPr>
            <a:lvl9pPr>
              <a:defRPr sz="1650" b="0">
                <a:solidFill>
                  <a:srgbClr val="243B53"/>
                </a:solidFill>
              </a:defRPr>
            </a:lvl9pPr>
          </a:lstStyle>
          <a:p>
            <a:pPr>
              <a:defRPr sz="1650" b="0">
                <a:solidFill>
                  <a:srgbClr val="243B53"/>
                </a:solidFill>
              </a:defRPr>
            </a:pPr>
            <a:r>
              <a:rPr lang="en-US" sz="1650" b="0">
                <a:solidFill>
                  <a:srgbClr val="243B53"/>
                </a:solidFill>
              </a:rPr>
              <a:t>Nigeria spatial folds + 2017–2024 Lagos VIIRS holdout.</a:t>
            </a:r>
            <a:endParaRPr sz="1650" b="0">
              <a:solidFill>
                <a:srgbClr val="243B53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EA8AFA-F685-4F4F-8274-691CB8A5B200}"/>
              </a:ext>
            </a:extLst>
          </p:cNvPr>
          <p:cNvSpPr>
            <a:spLocks noGrp="1"/>
          </p:cNvSpPr>
          <p:nvPr/>
        </p:nvSpPr>
        <p:spPr>
          <a:xfrm>
            <a:off x="685800" y="5905500"/>
            <a:ext cx="10477500" cy="323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spAutoFit/>
          </a:bodyPr>
          <a:lstStyle>
            <a:defPPr>
              <a:defRPr sz="1500" b="1">
                <a:solidFill>
                  <a:srgbClr val="087E8B"/>
                </a:solidFill>
              </a:defRPr>
            </a:defPPr>
            <a:lvl1pPr>
              <a:defRPr sz="1500" b="1">
                <a:solidFill>
                  <a:srgbClr val="087E8B"/>
                </a:solidFill>
              </a:defRPr>
            </a:lvl1pPr>
            <a:lvl2pPr>
              <a:defRPr sz="1500" b="1">
                <a:solidFill>
                  <a:srgbClr val="087E8B"/>
                </a:solidFill>
              </a:defRPr>
            </a:lvl2pPr>
            <a:lvl3pPr>
              <a:defRPr sz="1500" b="1">
                <a:solidFill>
                  <a:srgbClr val="087E8B"/>
                </a:solidFill>
              </a:defRPr>
            </a:lvl3pPr>
            <a:lvl4pPr>
              <a:defRPr sz="1500" b="1">
                <a:solidFill>
                  <a:srgbClr val="087E8B"/>
                </a:solidFill>
              </a:defRPr>
            </a:lvl4pPr>
            <a:lvl5pPr>
              <a:defRPr sz="1500" b="1">
                <a:solidFill>
                  <a:srgbClr val="087E8B"/>
                </a:solidFill>
              </a:defRPr>
            </a:lvl5pPr>
            <a:lvl6pPr>
              <a:defRPr sz="1500" b="1">
                <a:solidFill>
                  <a:srgbClr val="087E8B"/>
                </a:solidFill>
              </a:defRPr>
            </a:lvl6pPr>
            <a:lvl7pPr>
              <a:defRPr sz="1500" b="1">
                <a:solidFill>
                  <a:srgbClr val="087E8B"/>
                </a:solidFill>
              </a:defRPr>
            </a:lvl7pPr>
            <a:lvl8pPr>
              <a:defRPr sz="1500" b="1">
                <a:solidFill>
                  <a:srgbClr val="087E8B"/>
                </a:solidFill>
              </a:defRPr>
            </a:lvl8pPr>
            <a:lvl9pPr>
              <a:defRPr sz="1500" b="1">
                <a:solidFill>
                  <a:srgbClr val="087E8B"/>
                </a:solidFill>
              </a:defRPr>
            </a:lvl9pPr>
          </a:lstStyle>
          <a:p>
            <a:pPr>
              <a:defRPr sz="1500" b="1">
                <a:solidFill>
                  <a:srgbClr val="087E8B"/>
                </a:solidFill>
              </a:defRPr>
            </a:pPr>
            <a:r>
              <a:rPr lang="en-US" sz="1500" b="1">
                <a:solidFill>
                  <a:srgbClr val="087E8B"/>
                </a:solidFill>
              </a:rPr>
              <a:t>Lagos map: historical relative model scores, summarized over calendar months.</a:t>
            </a:r>
            <a:endParaRPr sz="1500" b="1">
              <a:solidFill>
                <a:srgbClr val="087E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552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8C09F1D-B0F5-4DF2-ACC5-FCAC87CAF336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76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925" b="1">
                <a:solidFill>
                  <a:srgbClr val="102A43"/>
                </a:solidFill>
              </a:defRPr>
            </a:defPPr>
            <a:lvl1pPr>
              <a:defRPr sz="2925" b="1">
                <a:solidFill>
                  <a:srgbClr val="102A43"/>
                </a:solidFill>
              </a:defRPr>
            </a:lvl1pPr>
            <a:lvl2pPr>
              <a:defRPr sz="2925" b="1">
                <a:solidFill>
                  <a:srgbClr val="102A43"/>
                </a:solidFill>
              </a:defRPr>
            </a:lvl2pPr>
            <a:lvl3pPr>
              <a:defRPr sz="2925" b="1">
                <a:solidFill>
                  <a:srgbClr val="102A43"/>
                </a:solidFill>
              </a:defRPr>
            </a:lvl3pPr>
            <a:lvl4pPr>
              <a:defRPr sz="2925" b="1">
                <a:solidFill>
                  <a:srgbClr val="102A43"/>
                </a:solidFill>
              </a:defRPr>
            </a:lvl4pPr>
            <a:lvl5pPr>
              <a:defRPr sz="2925" b="1">
                <a:solidFill>
                  <a:srgbClr val="102A43"/>
                </a:solidFill>
              </a:defRPr>
            </a:lvl5pPr>
            <a:lvl6pPr>
              <a:defRPr sz="2925" b="1">
                <a:solidFill>
                  <a:srgbClr val="102A43"/>
                </a:solidFill>
              </a:defRPr>
            </a:lvl6pPr>
            <a:lvl7pPr>
              <a:defRPr sz="2925" b="1">
                <a:solidFill>
                  <a:srgbClr val="102A43"/>
                </a:solidFill>
              </a:defRPr>
            </a:lvl7pPr>
            <a:lvl8pPr>
              <a:defRPr sz="2925" b="1">
                <a:solidFill>
                  <a:srgbClr val="102A43"/>
                </a:solidFill>
              </a:defRPr>
            </a:lvl8pPr>
            <a:lvl9pPr>
              <a:defRPr sz="2925" b="1">
                <a:solidFill>
                  <a:srgbClr val="102A43"/>
                </a:solidFill>
              </a:defRPr>
            </a:lvl9pPr>
          </a:lstStyle>
          <a:p>
            <a:pPr>
              <a:defRPr sz="2925" b="1">
                <a:solidFill>
                  <a:srgbClr val="102A43"/>
                </a:solidFill>
              </a:defRPr>
            </a:pPr>
            <a:r>
              <a:rPr sz="2925" b="1">
                <a:solidFill>
                  <a:srgbClr val="102A43"/>
                </a:solidFill>
              </a:rPr>
              <a:t>Reproduce and extend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B91F2F-EF4E-43AB-BD2D-BD37D850F71D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723900" cy="47625"/>
          </a:xfrm>
          <a:prstGeom prst="rect">
            <a:avLst/>
          </a:prstGeom>
          <a:solidFill>
            <a:srgbClr val="087E8B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C98A64-6081-44D8-82DE-F43912F4C273}"/>
              </a:ext>
            </a:extLst>
          </p:cNvPr>
          <p:cNvSpPr>
            <a:spLocks noGrp="1"/>
          </p:cNvSpPr>
          <p:nvPr/>
        </p:nvSpPr>
        <p:spPr>
          <a:xfrm>
            <a:off x="11239500" y="632460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52616B"/>
                </a:solidFill>
              </a:defRPr>
            </a:defPPr>
            <a:lvl1pPr>
              <a:defRPr sz="1200" b="1">
                <a:solidFill>
                  <a:srgbClr val="52616B"/>
                </a:solidFill>
              </a:defRPr>
            </a:lvl1pPr>
            <a:lvl2pPr>
              <a:defRPr sz="1200" b="1">
                <a:solidFill>
                  <a:srgbClr val="52616B"/>
                </a:solidFill>
              </a:defRPr>
            </a:lvl2pPr>
            <a:lvl3pPr>
              <a:defRPr sz="1200" b="1">
                <a:solidFill>
                  <a:srgbClr val="52616B"/>
                </a:solidFill>
              </a:defRPr>
            </a:lvl3pPr>
            <a:lvl4pPr>
              <a:defRPr sz="1200" b="1">
                <a:solidFill>
                  <a:srgbClr val="52616B"/>
                </a:solidFill>
              </a:defRPr>
            </a:lvl4pPr>
            <a:lvl5pPr>
              <a:defRPr sz="1200" b="1">
                <a:solidFill>
                  <a:srgbClr val="52616B"/>
                </a:solidFill>
              </a:defRPr>
            </a:lvl5pPr>
            <a:lvl6pPr>
              <a:defRPr sz="1200" b="1">
                <a:solidFill>
                  <a:srgbClr val="52616B"/>
                </a:solidFill>
              </a:defRPr>
            </a:lvl6pPr>
            <a:lvl7pPr>
              <a:defRPr sz="1200" b="1">
                <a:solidFill>
                  <a:srgbClr val="52616B"/>
                </a:solidFill>
              </a:defRPr>
            </a:lvl7pPr>
            <a:lvl8pPr>
              <a:defRPr sz="1200" b="1">
                <a:solidFill>
                  <a:srgbClr val="52616B"/>
                </a:solidFill>
              </a:defRPr>
            </a:lvl8pPr>
            <a:lvl9pPr>
              <a:defRPr sz="1200" b="1">
                <a:solidFill>
                  <a:srgbClr val="52616B"/>
                </a:solidFill>
              </a:defRPr>
            </a:lvl9pPr>
          </a:lstStyle>
          <a:p>
            <a:pPr>
              <a:defRPr sz="1200" b="1">
                <a:solidFill>
                  <a:srgbClr val="52616B"/>
                </a:solidFill>
              </a:defRPr>
            </a:pPr>
            <a:r>
              <a:rPr sz="1200" b="1">
                <a:solidFill>
                  <a:srgbClr val="52616B"/>
                </a:solidFill>
              </a:rPr>
              <a:t>09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BC6636-C596-48AE-9A33-D8319CE57B5C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087E8B"/>
                </a:solidFill>
              </a:defRPr>
            </a:defPPr>
            <a:lvl1pPr>
              <a:defRPr sz="1725" b="1">
                <a:solidFill>
                  <a:srgbClr val="087E8B"/>
                </a:solidFill>
              </a:defRPr>
            </a:lvl1pPr>
            <a:lvl2pPr>
              <a:defRPr sz="1725" b="1">
                <a:solidFill>
                  <a:srgbClr val="087E8B"/>
                </a:solidFill>
              </a:defRPr>
            </a:lvl2pPr>
            <a:lvl3pPr>
              <a:defRPr sz="1725" b="1">
                <a:solidFill>
                  <a:srgbClr val="087E8B"/>
                </a:solidFill>
              </a:defRPr>
            </a:lvl3pPr>
            <a:lvl4pPr>
              <a:defRPr sz="1725" b="1">
                <a:solidFill>
                  <a:srgbClr val="087E8B"/>
                </a:solidFill>
              </a:defRPr>
            </a:lvl4pPr>
            <a:lvl5pPr>
              <a:defRPr sz="1725" b="1">
                <a:solidFill>
                  <a:srgbClr val="087E8B"/>
                </a:solidFill>
              </a:defRPr>
            </a:lvl5pPr>
            <a:lvl6pPr>
              <a:defRPr sz="1725" b="1">
                <a:solidFill>
                  <a:srgbClr val="087E8B"/>
                </a:solidFill>
              </a:defRPr>
            </a:lvl6pPr>
            <a:lvl7pPr>
              <a:defRPr sz="1725" b="1">
                <a:solidFill>
                  <a:srgbClr val="087E8B"/>
                </a:solidFill>
              </a:defRPr>
            </a:lvl7pPr>
            <a:lvl8pPr>
              <a:defRPr sz="1725" b="1">
                <a:solidFill>
                  <a:srgbClr val="087E8B"/>
                </a:solidFill>
              </a:defRPr>
            </a:lvl8pPr>
            <a:lvl9pPr>
              <a:defRPr sz="1725" b="1">
                <a:solidFill>
                  <a:srgbClr val="087E8B"/>
                </a:solidFill>
              </a:defRPr>
            </a:lvl9pPr>
          </a:lstStyle>
          <a:p>
            <a:pPr>
              <a:defRPr sz="1725" b="1">
                <a:solidFill>
                  <a:srgbClr val="087E8B"/>
                </a:solidFill>
              </a:defRPr>
            </a:pPr>
            <a:r>
              <a:rPr sz="1725" b="1">
                <a:solidFill>
                  <a:srgbClr val="087E8B"/>
                </a:solidFill>
              </a:rPr>
              <a:t>Run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1E5E46-BD8D-4798-B63C-4787CFB5741C}"/>
              </a:ext>
            </a:extLst>
          </p:cNvPr>
          <p:cNvSpPr>
            <a:spLocks noGrp="1"/>
          </p:cNvSpPr>
          <p:nvPr/>
        </p:nvSpPr>
        <p:spPr>
          <a:xfrm>
            <a:off x="685800" y="1933575"/>
            <a:ext cx="4953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00" b="1">
                <a:solidFill>
                  <a:srgbClr val="102A43"/>
                </a:solidFill>
              </a:defRPr>
            </a:defPPr>
            <a:lvl1pPr>
              <a:defRPr sz="2700" b="1">
                <a:solidFill>
                  <a:srgbClr val="102A43"/>
                </a:solidFill>
              </a:defRPr>
            </a:lvl1pPr>
            <a:lvl2pPr>
              <a:defRPr sz="2700" b="1">
                <a:solidFill>
                  <a:srgbClr val="102A43"/>
                </a:solidFill>
              </a:defRPr>
            </a:lvl2pPr>
            <a:lvl3pPr>
              <a:defRPr sz="2700" b="1">
                <a:solidFill>
                  <a:srgbClr val="102A43"/>
                </a:solidFill>
              </a:defRPr>
            </a:lvl3pPr>
            <a:lvl4pPr>
              <a:defRPr sz="2700" b="1">
                <a:solidFill>
                  <a:srgbClr val="102A43"/>
                </a:solidFill>
              </a:defRPr>
            </a:lvl4pPr>
            <a:lvl5pPr>
              <a:defRPr sz="2700" b="1">
                <a:solidFill>
                  <a:srgbClr val="102A43"/>
                </a:solidFill>
              </a:defRPr>
            </a:lvl5pPr>
            <a:lvl6pPr>
              <a:defRPr sz="2700" b="1">
                <a:solidFill>
                  <a:srgbClr val="102A43"/>
                </a:solidFill>
              </a:defRPr>
            </a:lvl6pPr>
            <a:lvl7pPr>
              <a:defRPr sz="2700" b="1">
                <a:solidFill>
                  <a:srgbClr val="102A43"/>
                </a:solidFill>
              </a:defRPr>
            </a:lvl7pPr>
            <a:lvl8pPr>
              <a:defRPr sz="2700" b="1">
                <a:solidFill>
                  <a:srgbClr val="102A43"/>
                </a:solidFill>
              </a:defRPr>
            </a:lvl8pPr>
            <a:lvl9pPr>
              <a:defRPr sz="2700" b="1">
                <a:solidFill>
                  <a:srgbClr val="102A43"/>
                </a:solidFill>
              </a:defRPr>
            </a:lvl9pPr>
          </a:lstStyle>
          <a:p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python run.py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703F99-78EF-47C0-82D6-B8CE8BDCBDA6}"/>
              </a:ext>
            </a:extLst>
          </p:cNvPr>
          <p:cNvSpPr>
            <a:spLocks noGrp="1"/>
          </p:cNvSpPr>
          <p:nvPr/>
        </p:nvSpPr>
        <p:spPr>
          <a:xfrm>
            <a:off x="6324600" y="15049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087E8B"/>
                </a:solidFill>
              </a:defRPr>
            </a:defPPr>
            <a:lvl1pPr>
              <a:defRPr sz="1725" b="1">
                <a:solidFill>
                  <a:srgbClr val="087E8B"/>
                </a:solidFill>
              </a:defRPr>
            </a:lvl1pPr>
            <a:lvl2pPr>
              <a:defRPr sz="1725" b="1">
                <a:solidFill>
                  <a:srgbClr val="087E8B"/>
                </a:solidFill>
              </a:defRPr>
            </a:lvl2pPr>
            <a:lvl3pPr>
              <a:defRPr sz="1725" b="1">
                <a:solidFill>
                  <a:srgbClr val="087E8B"/>
                </a:solidFill>
              </a:defRPr>
            </a:lvl3pPr>
            <a:lvl4pPr>
              <a:defRPr sz="1725" b="1">
                <a:solidFill>
                  <a:srgbClr val="087E8B"/>
                </a:solidFill>
              </a:defRPr>
            </a:lvl4pPr>
            <a:lvl5pPr>
              <a:defRPr sz="1725" b="1">
                <a:solidFill>
                  <a:srgbClr val="087E8B"/>
                </a:solidFill>
              </a:defRPr>
            </a:lvl5pPr>
            <a:lvl6pPr>
              <a:defRPr sz="1725" b="1">
                <a:solidFill>
                  <a:srgbClr val="087E8B"/>
                </a:solidFill>
              </a:defRPr>
            </a:lvl6pPr>
            <a:lvl7pPr>
              <a:defRPr sz="1725" b="1">
                <a:solidFill>
                  <a:srgbClr val="087E8B"/>
                </a:solidFill>
              </a:defRPr>
            </a:lvl7pPr>
            <a:lvl8pPr>
              <a:defRPr sz="1725" b="1">
                <a:solidFill>
                  <a:srgbClr val="087E8B"/>
                </a:solidFill>
              </a:defRPr>
            </a:lvl8pPr>
            <a:lvl9pPr>
              <a:defRPr sz="1725" b="1">
                <a:solidFill>
                  <a:srgbClr val="087E8B"/>
                </a:solidFill>
              </a:defRPr>
            </a:lvl9pPr>
          </a:lstStyle>
          <a:p>
            <a:pPr>
              <a:defRPr sz="1725" b="1">
                <a:solidFill>
                  <a:srgbClr val="087E8B"/>
                </a:solidFill>
              </a:defRPr>
            </a:pPr>
            <a:r>
              <a:rPr sz="1725" b="1">
                <a:solidFill>
                  <a:srgbClr val="087E8B"/>
                </a:solidFill>
              </a:rPr>
              <a:t>Outputs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851128-8AC4-4E0C-A151-B4D791678C17}"/>
              </a:ext>
            </a:extLst>
          </p:cNvPr>
          <p:cNvSpPr>
            <a:spLocks noGrp="1"/>
          </p:cNvSpPr>
          <p:nvPr/>
        </p:nvSpPr>
        <p:spPr>
          <a:xfrm>
            <a:off x="6324600" y="1933575"/>
            <a:ext cx="4953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102A43"/>
                </a:solidFill>
              </a:defRPr>
            </a:defPPr>
            <a:lvl1pPr>
              <a:defRPr sz="1800" b="1">
                <a:solidFill>
                  <a:srgbClr val="102A43"/>
                </a:solidFill>
              </a:defRPr>
            </a:lvl1pPr>
            <a:lvl2pPr>
              <a:defRPr sz="1800" b="1">
                <a:solidFill>
                  <a:srgbClr val="102A43"/>
                </a:solidFill>
              </a:defRPr>
            </a:lvl2pPr>
            <a:lvl3pPr>
              <a:defRPr sz="1800" b="1">
                <a:solidFill>
                  <a:srgbClr val="102A43"/>
                </a:solidFill>
              </a:defRPr>
            </a:lvl3pPr>
            <a:lvl4pPr>
              <a:defRPr sz="1800" b="1">
                <a:solidFill>
                  <a:srgbClr val="102A43"/>
                </a:solidFill>
              </a:defRPr>
            </a:lvl4pPr>
            <a:lvl5pPr>
              <a:defRPr sz="1800" b="1">
                <a:solidFill>
                  <a:srgbClr val="102A43"/>
                </a:solidFill>
              </a:defRPr>
            </a:lvl5pPr>
            <a:lvl6pPr>
              <a:defRPr sz="1800" b="1">
                <a:solidFill>
                  <a:srgbClr val="102A43"/>
                </a:solidFill>
              </a:defRPr>
            </a:lvl6pPr>
            <a:lvl7pPr>
              <a:defRPr sz="1800" b="1">
                <a:solidFill>
                  <a:srgbClr val="102A43"/>
                </a:solidFill>
              </a:defRPr>
            </a:lvl7pPr>
            <a:lvl8pPr>
              <a:defRPr sz="1800" b="1">
                <a:solidFill>
                  <a:srgbClr val="102A43"/>
                </a:solidFill>
              </a:defRPr>
            </a:lvl8pPr>
            <a:lvl9pPr>
              <a:defRPr sz="1800" b="1">
                <a:solidFill>
                  <a:srgbClr val="102A43"/>
                </a:solidFill>
              </a:defRPr>
            </a:lvl9pPr>
          </a:lstStyle>
          <a:p>
            <a:pPr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maps · figures · metrics · model · logs · report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10B6DE-DA96-4805-B7BA-47CA4B840AB5}"/>
              </a:ext>
            </a:extLst>
          </p:cNvPr>
          <p:cNvSpPr>
            <a:spLocks noGrp="1"/>
          </p:cNvSpPr>
          <p:nvPr/>
        </p:nvSpPr>
        <p:spPr>
          <a:xfrm>
            <a:off x="685800" y="3086100"/>
            <a:ext cx="10382250" cy="19050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CFF221-0343-494E-BD43-60C9457F5F91}"/>
              </a:ext>
            </a:extLst>
          </p:cNvPr>
          <p:cNvSpPr>
            <a:spLocks noGrp="1"/>
          </p:cNvSpPr>
          <p:nvPr/>
        </p:nvSpPr>
        <p:spPr>
          <a:xfrm>
            <a:off x="685800" y="3467100"/>
            <a:ext cx="4000500" cy="3693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spAutoFit/>
          </a:bodyPr>
          <a:lstStyle>
            <a:defPPr>
              <a:defRPr sz="1800" b="1">
                <a:solidFill>
                  <a:srgbClr val="087E8B"/>
                </a:solidFill>
              </a:defRPr>
            </a:defPPr>
            <a:lvl1pPr>
              <a:defRPr sz="1800" b="1">
                <a:solidFill>
                  <a:srgbClr val="087E8B"/>
                </a:solidFill>
              </a:defRPr>
            </a:lvl1pPr>
            <a:lvl2pPr>
              <a:defRPr sz="1800" b="1">
                <a:solidFill>
                  <a:srgbClr val="087E8B"/>
                </a:solidFill>
              </a:defRPr>
            </a:lvl2pPr>
            <a:lvl3pPr>
              <a:defRPr sz="1800" b="1">
                <a:solidFill>
                  <a:srgbClr val="087E8B"/>
                </a:solidFill>
              </a:defRPr>
            </a:lvl3pPr>
            <a:lvl4pPr>
              <a:defRPr sz="1800" b="1">
                <a:solidFill>
                  <a:srgbClr val="087E8B"/>
                </a:solidFill>
              </a:defRPr>
            </a:lvl4pPr>
            <a:lvl5pPr>
              <a:defRPr sz="1800" b="1">
                <a:solidFill>
                  <a:srgbClr val="087E8B"/>
                </a:solidFill>
              </a:defRPr>
            </a:lvl5pPr>
            <a:lvl6pPr>
              <a:defRPr sz="1800" b="1">
                <a:solidFill>
                  <a:srgbClr val="087E8B"/>
                </a:solidFill>
              </a:defRPr>
            </a:lvl6pPr>
            <a:lvl7pPr>
              <a:defRPr sz="1800" b="1">
                <a:solidFill>
                  <a:srgbClr val="087E8B"/>
                </a:solidFill>
              </a:defRPr>
            </a:lvl7pPr>
            <a:lvl8pPr>
              <a:defRPr sz="1800" b="1">
                <a:solidFill>
                  <a:srgbClr val="087E8B"/>
                </a:solidFill>
              </a:defRPr>
            </a:lvl8pPr>
            <a:lvl9pPr>
              <a:defRPr sz="1800" b="1">
                <a:solidFill>
                  <a:srgbClr val="087E8B"/>
                </a:solidFill>
              </a:defRPr>
            </a:lvl9pPr>
          </a:lstStyle>
          <a:p>
            <a:pPr>
              <a:defRPr sz="1800" b="1">
                <a:solidFill>
                  <a:srgbClr val="087E8B"/>
                </a:solidFill>
              </a:defRPr>
            </a:pPr>
            <a:r>
              <a:rPr lang="en-US" sz="1800" b="1">
                <a:solidFill>
                  <a:srgbClr val="087E8B"/>
                </a:solidFill>
              </a:rPr>
              <a:t>Next evaluation</a:t>
            </a:r>
            <a:endParaRPr sz="1800" b="1">
              <a:solidFill>
                <a:srgbClr val="087E8B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E21A9E-D419-44BA-A3BD-F481BCA6FCFE}"/>
              </a:ext>
            </a:extLst>
          </p:cNvPr>
          <p:cNvSpPr>
            <a:spLocks noGrp="1"/>
          </p:cNvSpPr>
          <p:nvPr/>
        </p:nvSpPr>
        <p:spPr>
          <a:xfrm>
            <a:off x="685800" y="3962400"/>
            <a:ext cx="10096500" cy="7386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noAutofit/>
          </a:bodyPr>
          <a:lstStyle>
            <a:defPPr>
              <a:defRPr sz="2100" b="0">
                <a:solidFill>
                  <a:srgbClr val="243B53"/>
                </a:solidFill>
              </a:defRPr>
            </a:defPPr>
            <a:lvl1pPr>
              <a:defRPr sz="2100" b="0">
                <a:solidFill>
                  <a:srgbClr val="243B53"/>
                </a:solidFill>
              </a:defRPr>
            </a:lvl1pPr>
            <a:lvl2pPr>
              <a:defRPr sz="2100" b="0">
                <a:solidFill>
                  <a:srgbClr val="243B53"/>
                </a:solidFill>
              </a:defRPr>
            </a:lvl2pPr>
            <a:lvl3pPr>
              <a:defRPr sz="2100" b="0">
                <a:solidFill>
                  <a:srgbClr val="243B53"/>
                </a:solidFill>
              </a:defRPr>
            </a:lvl3pPr>
            <a:lvl4pPr>
              <a:defRPr sz="2100" b="0">
                <a:solidFill>
                  <a:srgbClr val="243B53"/>
                </a:solidFill>
              </a:defRPr>
            </a:lvl4pPr>
            <a:lvl5pPr>
              <a:defRPr sz="2100" b="0">
                <a:solidFill>
                  <a:srgbClr val="243B53"/>
                </a:solidFill>
              </a:defRPr>
            </a:lvl5pPr>
            <a:lvl6pPr>
              <a:defRPr sz="2100" b="0">
                <a:solidFill>
                  <a:srgbClr val="243B53"/>
                </a:solidFill>
              </a:defRPr>
            </a:lvl6pPr>
            <a:lvl7pPr>
              <a:defRPr sz="2100" b="0">
                <a:solidFill>
                  <a:srgbClr val="243B53"/>
                </a:solidFill>
              </a:defRPr>
            </a:lvl7pPr>
            <a:lvl8pPr>
              <a:defRPr sz="2100" b="0">
                <a:solidFill>
                  <a:srgbClr val="243B53"/>
                </a:solidFill>
              </a:defRPr>
            </a:lvl8pPr>
            <a:lvl9pPr>
              <a:defRPr sz="2100" b="0">
                <a:solidFill>
                  <a:srgbClr val="243B53"/>
                </a:solidFill>
              </a:defRPr>
            </a:lvl9pPr>
          </a:lstStyle>
          <a:p>
            <a:pPr>
              <a:defRPr sz="2100" b="0">
                <a:solidFill>
                  <a:srgbClr val="243B53"/>
                </a:solidFill>
              </a:defRPr>
            </a:pPr>
            <a:r>
              <a:rPr lang="en-US" sz="2100" b="0">
                <a:solidFill>
                  <a:srgbClr val="243B53"/>
                </a:solidFill>
              </a:rPr>
              <a:t>2017–2024 VIIRS holdout: AUC 0.856, AP 0.894, Brier 0.396. Next: geocoded Lagos fire-service records.</a:t>
            </a:r>
            <a:endParaRPr sz="2100" b="0">
              <a:solidFill>
                <a:srgbClr val="243B53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767417-921A-477D-9DEC-E5CDBA291D18}"/>
              </a:ext>
            </a:extLst>
          </p:cNvPr>
          <p:cNvSpPr>
            <a:spLocks noGrp="1"/>
          </p:cNvSpPr>
          <p:nvPr/>
        </p:nvSpPr>
        <p:spPr>
          <a:xfrm>
            <a:off x="685800" y="5562600"/>
            <a:ext cx="10287000" cy="3116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spAutoFit/>
          </a:bodyPr>
          <a:lstStyle>
            <a:defPPr>
              <a:defRPr sz="1425" b="0">
                <a:solidFill>
                  <a:srgbClr val="52616B"/>
                </a:solidFill>
              </a:defRPr>
            </a:defPPr>
            <a:lvl1pPr>
              <a:defRPr sz="1425" b="0">
                <a:solidFill>
                  <a:srgbClr val="52616B"/>
                </a:solidFill>
              </a:defRPr>
            </a:lvl1pPr>
            <a:lvl2pPr>
              <a:defRPr sz="1425" b="0">
                <a:solidFill>
                  <a:srgbClr val="52616B"/>
                </a:solidFill>
              </a:defRPr>
            </a:lvl2pPr>
            <a:lvl3pPr>
              <a:defRPr sz="1425" b="0">
                <a:solidFill>
                  <a:srgbClr val="52616B"/>
                </a:solidFill>
              </a:defRPr>
            </a:lvl3pPr>
            <a:lvl4pPr>
              <a:defRPr sz="1425" b="0">
                <a:solidFill>
                  <a:srgbClr val="52616B"/>
                </a:solidFill>
              </a:defRPr>
            </a:lvl4pPr>
            <a:lvl5pPr>
              <a:defRPr sz="1425" b="0">
                <a:solidFill>
                  <a:srgbClr val="52616B"/>
                </a:solidFill>
              </a:defRPr>
            </a:lvl5pPr>
            <a:lvl6pPr>
              <a:defRPr sz="1425" b="0">
                <a:solidFill>
                  <a:srgbClr val="52616B"/>
                </a:solidFill>
              </a:defRPr>
            </a:lvl6pPr>
            <a:lvl7pPr>
              <a:defRPr sz="1425" b="0">
                <a:solidFill>
                  <a:srgbClr val="52616B"/>
                </a:solidFill>
              </a:defRPr>
            </a:lvl7pPr>
            <a:lvl8pPr>
              <a:defRPr sz="1425" b="0">
                <a:solidFill>
                  <a:srgbClr val="52616B"/>
                </a:solidFill>
              </a:defRPr>
            </a:lvl8pPr>
            <a:lvl9pPr>
              <a:defRPr sz="1425" b="0">
                <a:solidFill>
                  <a:srgbClr val="52616B"/>
                </a:solidFill>
              </a:defRPr>
            </a:lvl9pPr>
          </a:lstStyle>
          <a:p>
            <a:pPr>
              <a:defRPr sz="1425" b="0">
                <a:solidFill>
                  <a:srgbClr val="52616B"/>
                </a:solidFill>
              </a:defRPr>
            </a:pPr>
            <a:r>
              <a:rPr lang="en-US" sz="1425" b="0">
                <a:solidFill>
                  <a:srgbClr val="52616B"/>
                </a:solidFill>
              </a:rPr>
              <a:t>Saved: model · metrics · folds · VIIRS holdout · Lagos map · importance · report · app</a:t>
            </a:r>
            <a:endParaRPr sz="1425" b="0">
              <a:solidFill>
                <a:srgbClr val="5261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86971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1003</Words>
  <Application>Microsoft Office PowerPoint</Application>
  <DocSecurity>0</DocSecurity>
  <PresentationFormat>Widescreen</PresentationFormat>
  <Paragraphs>121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Aptos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Don-Taiwoij Don-Taiwo</cp:lastModifiedBy>
  <cp:revision>10</cp:revision>
  <dcterms:created xsi:type="dcterms:W3CDTF">2026-10-22T17:28:10Z</dcterms:created>
  <dcterms:modified xsi:type="dcterms:W3CDTF">2026-10-25T17:36:32Z</dcterms:modified>
</cp:coreProperties>
</file>